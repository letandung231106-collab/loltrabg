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và các bạn. Hôm nay nhóm em xin trình bày đồ án OOAD: Hệ thống Quản lý Vận hành và Đặt vé Rạp chiếu phim với đầy đủ 4 mô hình UML cốt lõi: Use Case, Hoạt động, Tuần tự và Sơ đồ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cốt lõi của đồ án là áp dụng triệt để phương pháp Phân tích Thiết kế Hướng Đối Tượng để giải quyết bài toán vận hành rạp và chống trùng ghế.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5 Actors được phân quyền theo mô hình Role-Based Access Control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tổng quan thể hiện rõ 5 Tác nhân tương tác với 4 phân hệ chính bên trong System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phân hệ Đặt vé thể hiện rõ luồng chính từ Chọn phim, Khóa ghế 10p, Thanh toán đến Nhận vé QR, kèm quan hệ include/extend.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Vận hành &amp; Kỹ thuật thể hiện vòng đời sự cố từ Daily Checklist phát hiện lỗi đến phân công sửa chữa và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Use Case Quản lý &amp; Quản trị mô tả các chức năng cốt lõi của Manager và Admin trong việc vận hành rạp và bảo vệ an ninh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đặc tả Use Case chuẩn hóa rõ ràng các luồng sự kiện chính, tác nhân, tiền điều kiện và hậu điều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hoạt động đặt vé làm rõ 5 bước cùng cơ chế giải phóng ghế tự động sau 10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3 làn (Swimlanes) thể hiện sự phối hợp nhịp nhàng giữa Nhân viên, Quản lý rạp và Kỹ thuật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lập lịch chiếu được bảo vệ nghiêm ngặt bởi 3 quy tắc nghiệp vụ BR01, BR02 và BR03.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bảo trì định kỳ đảm bảo thiết bị rạp luôn đạt trạng thái hoạt động tốt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Sequence chứng minh giải pháp chống trùng ghế bằng MySQL InnoDB Row-Level 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thanh toán và phát hành vé điện tử mã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quét ngầm 30 giây giải phóng ghế hết hạn giải quyết triệt để vấn đề giữ ghế 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tuần tự xử lý sự cố mô tả quy trình khép kín giữa Nhân viên, Quản lý và Kỹ thuật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Diagram gồm 22 lớp thực thể phân bố trong 3 gói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các thuộc tính và phương thức của các lớp nghiệp vụ trong gói Đặt vé và Thanh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các lớp và phương thức quản lý phòng chiếu, thiết bị, quy trình kiểm tra 9 tiêu chí và lưu vết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chuyển đổi chứng minh tính nhất quán giữa mô hình Class Diagram hướng đối tượng và CSDL quan hệ MySQL InnoDB.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Quy tắc nghiệp vụ từ BR01 đến BR16 là kim chỉ nam cho logic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CSDL gồm 22 bảng được thiết kế chuẩn hóa trên engine InnoDB.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tuân thủ kiến trúc 3 tầng chuẩn.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Workflow này dùng để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đánh giá 4 điểm sáng kỹ thuật nổi bật của đồ án và hiệu năng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mở rộng các tính năng nâng cao trải nghiệm khách hàng và tối ưu doanh thu rạp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mở rộng các công nghệ vận hành thông minh IoT, bảo trì dự đoán và trí tuệ nhân tạo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thành quả đạt được của đồ án và tiềm năng ứng dụng thực tế vào sản phẩm thương mại.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chân thành cảm ơn Quý Thầy/Cô và các bạn đã chú ý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0" cy="73152"/>
          </a:xfrm>
          <a:prstGeom prst="rect">
            <a:avLst/>
          </a:prstGeom>
          <a:solidFill>
            <a:srgbClr val="FF4757"/>
          </a:solidFill>
          <a:ln/>
        </p:spPr>
      </p:sp>
      <p:sp>
        <p:nvSpPr>
          <p:cNvPr id="3" name="Shape 1"/>
          <p:cNvSpPr/>
          <p:nvPr/>
        </p:nvSpPr>
        <p:spPr>
          <a:xfrm>
            <a:off x="2286000" y="0"/>
            <a:ext cx="2286000" cy="73152"/>
          </a:xfrm>
          <a:prstGeom prst="rect">
            <a:avLst/>
          </a:prstGeom>
          <a:solidFill>
            <a:srgbClr val="F59E0B"/>
          </a:solidFill>
          <a:ln/>
        </p:spPr>
      </p:sp>
      <p:sp>
        <p:nvSpPr>
          <p:cNvPr id="4" name="Shape 2"/>
          <p:cNvSpPr/>
          <p:nvPr/>
        </p:nvSpPr>
        <p:spPr>
          <a:xfrm>
            <a:off x="4572000" y="0"/>
            <a:ext cx="2286000" cy="73152"/>
          </a:xfrm>
          <a:prstGeom prst="rect">
            <a:avLst/>
          </a:prstGeom>
          <a:solidFill>
            <a:srgbClr val="10B981"/>
          </a:solidFill>
          <a:ln/>
        </p:spPr>
      </p:sp>
      <p:sp>
        <p:nvSpPr>
          <p:cNvPr id="5" name="Shape 3"/>
          <p:cNvSpPr/>
          <p:nvPr/>
        </p:nvSpPr>
        <p:spPr>
          <a:xfrm>
            <a:off x="6858000" y="0"/>
            <a:ext cx="2286000" cy="73152"/>
          </a:xfrm>
          <a:prstGeom prst="rect">
            <a:avLst/>
          </a:prstGeom>
          <a:solidFill>
            <a:srgbClr val="0EA5E9"/>
          </a:solidFill>
          <a:ln/>
        </p:spPr>
      </p:sp>
      <p:sp>
        <p:nvSpPr>
          <p:cNvPr id="6" name="Shape 4"/>
          <p:cNvSpPr/>
          <p:nvPr/>
        </p:nvSpPr>
        <p:spPr>
          <a:xfrm>
            <a:off x="457200" y="347472"/>
            <a:ext cx="8229600" cy="4434840"/>
          </a:xfrm>
          <a:prstGeom prst="roundRect">
            <a:avLst>
              <a:gd name="adj" fmla="val 4124"/>
            </a:avLst>
          </a:prstGeom>
          <a:solidFill>
            <a:srgbClr val="FFFFFF"/>
          </a:solidFill>
          <a:ln w="19050">
            <a:solidFill>
              <a:srgbClr val="E2E8F0"/>
            </a:solidFill>
            <a:prstDash val="solid"/>
          </a:ln>
        </p:spPr>
      </p:sp>
      <p:sp>
        <p:nvSpPr>
          <p:cNvPr id="7" name="Shape 5"/>
          <p:cNvSpPr/>
          <p:nvPr/>
        </p:nvSpPr>
        <p:spPr>
          <a:xfrm>
            <a:off x="2560320" y="502920"/>
            <a:ext cx="4023360" cy="347472"/>
          </a:xfrm>
          <a:prstGeom prst="roundRect">
            <a:avLst>
              <a:gd name="adj" fmla="val 50000"/>
            </a:avLst>
          </a:prstGeom>
          <a:solidFill>
            <a:srgbClr val="FFE4E6"/>
          </a:solidFill>
          <a:ln w="15240">
            <a:solidFill>
              <a:srgbClr val="FF4757"/>
            </a:solidFill>
            <a:prstDash val="solid"/>
          </a:ln>
        </p:spPr>
      </p:sp>
      <p:sp>
        <p:nvSpPr>
          <p:cNvPr id="8" name="Text 6"/>
          <p:cNvSpPr/>
          <p:nvPr/>
        </p:nvSpPr>
        <p:spPr>
          <a:xfrm>
            <a:off x="2560320" y="502920"/>
            <a:ext cx="4023360" cy="347472"/>
          </a:xfrm>
          <a:prstGeom prst="rect">
            <a:avLst/>
          </a:prstGeom>
          <a:noFill/>
          <a:ln/>
        </p:spPr>
        <p:txBody>
          <a:bodyPr wrap="square" rtlCol="0" anchor="ctr"/>
          <a:lstStyle/>
          <a:p>
            <a:pPr algn="ctr" indent="0" marL="0">
              <a:buNone/>
            </a:pPr>
            <a:r>
              <a:rPr lang="en-US" sz="950" b="1" dirty="0">
                <a:solidFill>
                  <a:srgbClr val="FF4757"/>
                </a:solidFill>
                <a:latin typeface="Arial" pitchFamily="34" charset="0"/>
                <a:ea typeface="Arial" pitchFamily="34" charset="-122"/>
                <a:cs typeface="Arial" pitchFamily="34" charset="-120"/>
              </a:rPr>
              <a:t>🍿 BÁO CÁO ĐỒ ÁN MÔN HỌC OOAD 🎬</a:t>
            </a:r>
            <a:endParaRPr lang="en-US" sz="950" dirty="0"/>
          </a:p>
        </p:txBody>
      </p:sp>
      <p:sp>
        <p:nvSpPr>
          <p:cNvPr id="9" name="Text 7"/>
          <p:cNvSpPr/>
          <p:nvPr/>
        </p:nvSpPr>
        <p:spPr>
          <a:xfrm>
            <a:off x="731520" y="932688"/>
            <a:ext cx="7680960" cy="960120"/>
          </a:xfrm>
          <a:prstGeom prst="rect">
            <a:avLst/>
          </a:prstGeom>
          <a:noFill/>
          <a:ln/>
        </p:spPr>
        <p:txBody>
          <a:bodyPr wrap="square" rtlCol="0" anchor="ctr"/>
          <a:lstStyle/>
          <a:p>
            <a:pPr algn="ctr" indent="0" marL="0">
              <a:lnSpc>
                <a:spcPct val="115000"/>
              </a:lnSpc>
              <a:buNone/>
            </a:pPr>
            <a:r>
              <a:rPr lang="en-US" sz="1950" b="1" dirty="0">
                <a:solidFill>
                  <a:srgbClr val="0F172A"/>
                </a:solidFill>
                <a:latin typeface="Arial" pitchFamily="34" charset="0"/>
                <a:ea typeface="Arial" pitchFamily="34" charset="-122"/>
                <a:cs typeface="Arial" pitchFamily="34" charset="-120"/>
              </a:rPr>
              <a:t>HỆ THỐNG QUẢN LÝ VẬN HÀNH</a:t>
            </a:r>
            <a:endParaRPr lang="en-US" sz="1950" dirty="0"/>
          </a:p>
          <a:p>
            <a:pPr algn="ctr" indent="0" marL="0">
              <a:lnSpc>
                <a:spcPct val="115000"/>
              </a:lnSpc>
              <a:buNone/>
            </a:pPr>
            <a:r>
              <a:rPr lang="en-US" sz="1950" b="1" dirty="0">
                <a:solidFill>
                  <a:srgbClr val="0F172A"/>
                </a:solidFill>
                <a:latin typeface="Arial" pitchFamily="34" charset="0"/>
                <a:ea typeface="Arial" pitchFamily="34" charset="-122"/>
                <a:cs typeface="Arial" pitchFamily="34" charset="-120"/>
              </a:rPr>
              <a:t>VÀ ĐẶT VÉ RẠP CHIẾU PHIM</a:t>
            </a:r>
            <a:endParaRPr lang="en-US" sz="1950" dirty="0"/>
          </a:p>
        </p:txBody>
      </p:sp>
      <p:sp>
        <p:nvSpPr>
          <p:cNvPr id="10" name="Text 8"/>
          <p:cNvSpPr/>
          <p:nvPr/>
        </p:nvSpPr>
        <p:spPr>
          <a:xfrm>
            <a:off x="731520" y="1965960"/>
            <a:ext cx="7680960" cy="29260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 Thiết Kế Hướng Đối Tượng Chuẩn UML 2.5 • Sơ Đồ Use Case, Hoạt Động, Tuần Tự &amp; Sơ Đồ Lớp ✨</a:t>
            </a:r>
            <a:endParaRPr lang="en-US" sz="850" dirty="0"/>
          </a:p>
        </p:txBody>
      </p:sp>
      <p:sp>
        <p:nvSpPr>
          <p:cNvPr id="11" name="Shape 9"/>
          <p:cNvSpPr/>
          <p:nvPr/>
        </p:nvSpPr>
        <p:spPr>
          <a:xfrm>
            <a:off x="731520" y="2331720"/>
            <a:ext cx="1783080" cy="329184"/>
          </a:xfrm>
          <a:prstGeom prst="roundRect">
            <a:avLst>
              <a:gd name="adj" fmla="val 41667"/>
            </a:avLst>
          </a:prstGeom>
          <a:solidFill>
            <a:srgbClr val="FFE4E6"/>
          </a:solidFill>
          <a:ln w="12700">
            <a:solidFill>
              <a:srgbClr val="FF4757"/>
            </a:solidFill>
            <a:prstDash val="solid"/>
          </a:ln>
        </p:spPr>
      </p:sp>
      <p:sp>
        <p:nvSpPr>
          <p:cNvPr id="12" name="Text 10"/>
          <p:cNvSpPr/>
          <p:nvPr/>
        </p:nvSpPr>
        <p:spPr>
          <a:xfrm>
            <a:off x="731520" y="2331720"/>
            <a:ext cx="1783080" cy="329184"/>
          </a:xfrm>
          <a:prstGeom prst="rect">
            <a:avLst/>
          </a:prstGeom>
          <a:noFill/>
          <a:ln/>
        </p:spPr>
        <p:txBody>
          <a:bodyPr wrap="square" rtlCol="0" anchor="ctr"/>
          <a:lstStyle/>
          <a:p>
            <a:pPr algn="ctr" indent="0" marL="0">
              <a:buNone/>
            </a:pPr>
            <a:r>
              <a:rPr lang="en-US" sz="750" b="1" dirty="0">
                <a:solidFill>
                  <a:srgbClr val="FF4757"/>
                </a:solidFill>
                <a:latin typeface="Arial" pitchFamily="34" charset="0"/>
                <a:ea typeface="Arial" pitchFamily="34" charset="-122"/>
                <a:cs typeface="Arial" pitchFamily="34" charset="-120"/>
              </a:rPr>
              <a:t>🎟️ Đặt Vé &amp; Giữ 10p</a:t>
            </a:r>
            <a:endParaRPr lang="en-US" sz="750" dirty="0"/>
          </a:p>
        </p:txBody>
      </p:sp>
      <p:sp>
        <p:nvSpPr>
          <p:cNvPr id="13" name="Shape 11"/>
          <p:cNvSpPr/>
          <p:nvPr/>
        </p:nvSpPr>
        <p:spPr>
          <a:xfrm>
            <a:off x="2697480" y="2331720"/>
            <a:ext cx="1783080" cy="329184"/>
          </a:xfrm>
          <a:prstGeom prst="roundRect">
            <a:avLst>
              <a:gd name="adj" fmla="val 41667"/>
            </a:avLst>
          </a:prstGeom>
          <a:solidFill>
            <a:srgbClr val="FEF9C3"/>
          </a:solidFill>
          <a:ln w="12700">
            <a:solidFill>
              <a:srgbClr val="F59E0B"/>
            </a:solidFill>
            <a:prstDash val="solid"/>
          </a:ln>
        </p:spPr>
      </p:sp>
      <p:sp>
        <p:nvSpPr>
          <p:cNvPr id="14" name="Text 12"/>
          <p:cNvSpPr/>
          <p:nvPr/>
        </p:nvSpPr>
        <p:spPr>
          <a:xfrm>
            <a:off x="2697480" y="2331720"/>
            <a:ext cx="1783080" cy="329184"/>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 Chống Trùng Ghế</a:t>
            </a:r>
            <a:endParaRPr lang="en-US" sz="750" dirty="0"/>
          </a:p>
        </p:txBody>
      </p:sp>
      <p:sp>
        <p:nvSpPr>
          <p:cNvPr id="15" name="Shape 13"/>
          <p:cNvSpPr/>
          <p:nvPr/>
        </p:nvSpPr>
        <p:spPr>
          <a:xfrm>
            <a:off x="4663440" y="2331720"/>
            <a:ext cx="1783080" cy="329184"/>
          </a:xfrm>
          <a:prstGeom prst="roundRect">
            <a:avLst>
              <a:gd name="adj" fmla="val 41667"/>
            </a:avLst>
          </a:prstGeom>
          <a:solidFill>
            <a:srgbClr val="DCFCE7"/>
          </a:solidFill>
          <a:ln w="12700">
            <a:solidFill>
              <a:srgbClr val="10B981"/>
            </a:solidFill>
            <a:prstDash val="solid"/>
          </a:ln>
        </p:spPr>
      </p:sp>
      <p:sp>
        <p:nvSpPr>
          <p:cNvPr id="16" name="Text 14"/>
          <p:cNvSpPr/>
          <p:nvPr/>
        </p:nvSpPr>
        <p:spPr>
          <a:xfrm>
            <a:off x="4663440" y="2331720"/>
            <a:ext cx="1783080" cy="329184"/>
          </a:xfrm>
          <a:prstGeom prst="rect">
            <a:avLst/>
          </a:prstGeom>
          <a:noFill/>
          <a:ln/>
        </p:spPr>
        <p:txBody>
          <a:bodyPr wrap="square" rtlCol="0" anchor="ctr"/>
          <a:lstStyle/>
          <a:p>
            <a:pPr algn="ctr" indent="0" marL="0">
              <a:buNone/>
            </a:pPr>
            <a:r>
              <a:rPr lang="en-US" sz="750" b="1" dirty="0">
                <a:solidFill>
                  <a:srgbClr val="10B981"/>
                </a:solidFill>
                <a:latin typeface="Arial" pitchFamily="34" charset="0"/>
                <a:ea typeface="Arial" pitchFamily="34" charset="-122"/>
                <a:cs typeface="Arial" pitchFamily="34" charset="-120"/>
              </a:rPr>
              <a:t>🔧 Xử Lý Sự Cố Rạp</a:t>
            </a:r>
            <a:endParaRPr lang="en-US" sz="750" dirty="0"/>
          </a:p>
        </p:txBody>
      </p:sp>
      <p:sp>
        <p:nvSpPr>
          <p:cNvPr id="17" name="Shape 15"/>
          <p:cNvSpPr/>
          <p:nvPr/>
        </p:nvSpPr>
        <p:spPr>
          <a:xfrm>
            <a:off x="6629400" y="2331720"/>
            <a:ext cx="1783080" cy="329184"/>
          </a:xfrm>
          <a:prstGeom prst="roundRect">
            <a:avLst>
              <a:gd name="adj" fmla="val 41667"/>
            </a:avLst>
          </a:prstGeom>
          <a:solidFill>
            <a:srgbClr val="F3E8FF"/>
          </a:solidFill>
          <a:ln w="12700">
            <a:solidFill>
              <a:srgbClr val="8B5CF6"/>
            </a:solidFill>
            <a:prstDash val="solid"/>
          </a:ln>
        </p:spPr>
      </p:sp>
      <p:sp>
        <p:nvSpPr>
          <p:cNvPr id="18" name="Text 16"/>
          <p:cNvSpPr/>
          <p:nvPr/>
        </p:nvSpPr>
        <p:spPr>
          <a:xfrm>
            <a:off x="6629400" y="2331720"/>
            <a:ext cx="1783080" cy="329184"/>
          </a:xfrm>
          <a:prstGeom prst="rect">
            <a:avLst/>
          </a:prstGeom>
          <a:noFill/>
          <a:ln/>
        </p:spPr>
        <p:txBody>
          <a:bodyPr wrap="square" rtlCol="0" anchor="ctr"/>
          <a:lstStyle/>
          <a:p>
            <a:pPr algn="ctr" indent="0" marL="0">
              <a:buNone/>
            </a:pPr>
            <a:r>
              <a:rPr lang="en-US" sz="750" b="1" dirty="0">
                <a:solidFill>
                  <a:srgbClr val="8B5CF6"/>
                </a:solidFill>
                <a:latin typeface="Arial" pitchFamily="34" charset="0"/>
                <a:ea typeface="Arial" pitchFamily="34" charset="-122"/>
                <a:cs typeface="Arial" pitchFamily="34" charset="-120"/>
              </a:rPr>
              <a:t>📋 Checklist 9 Tiêu Chí</a:t>
            </a:r>
            <a:endParaRPr lang="en-US" sz="750" dirty="0"/>
          </a:p>
        </p:txBody>
      </p:sp>
      <p:sp>
        <p:nvSpPr>
          <p:cNvPr id="19" name="Shape 17"/>
          <p:cNvSpPr/>
          <p:nvPr/>
        </p:nvSpPr>
        <p:spPr>
          <a:xfrm>
            <a:off x="731520" y="2788920"/>
            <a:ext cx="7680960" cy="0"/>
          </a:xfrm>
          <a:prstGeom prst="line">
            <a:avLst/>
          </a:prstGeom>
          <a:noFill/>
          <a:ln w="12700">
            <a:solidFill>
              <a:srgbClr val="E2E8F0"/>
            </a:solidFill>
            <a:prstDash val="solid"/>
          </a:ln>
        </p:spPr>
      </p:sp>
      <p:sp>
        <p:nvSpPr>
          <p:cNvPr id="20" name="Shape 18"/>
          <p:cNvSpPr/>
          <p:nvPr/>
        </p:nvSpPr>
        <p:spPr>
          <a:xfrm>
            <a:off x="731520" y="2907792"/>
            <a:ext cx="3749040" cy="1691640"/>
          </a:xfrm>
          <a:prstGeom prst="roundRect">
            <a:avLst>
              <a:gd name="adj" fmla="val 6486"/>
            </a:avLst>
          </a:prstGeom>
          <a:solidFill>
            <a:srgbClr val="F8FAFC"/>
          </a:solidFill>
          <a:ln w="12700">
            <a:solidFill>
              <a:srgbClr val="CBD5E1"/>
            </a:solidFill>
            <a:prstDash val="solid"/>
          </a:ln>
        </p:spPr>
      </p:sp>
      <p:sp>
        <p:nvSpPr>
          <p:cNvPr id="21" name="Text 19"/>
          <p:cNvSpPr/>
          <p:nvPr/>
        </p:nvSpPr>
        <p:spPr>
          <a:xfrm>
            <a:off x="868680" y="2999232"/>
            <a:ext cx="3474720" cy="228600"/>
          </a:xfrm>
          <a:prstGeom prst="rect">
            <a:avLst/>
          </a:prstGeom>
          <a:noFill/>
          <a:ln/>
        </p:spPr>
        <p:txBody>
          <a:bodyPr wrap="square" rtlCol="0" anchor="ctr"/>
          <a:lstStyle/>
          <a:p>
            <a:pPr indent="0" marL="0">
              <a:buNone/>
            </a:pPr>
            <a:r>
              <a:rPr lang="en-US" sz="880" b="1" dirty="0">
                <a:solidFill>
                  <a:srgbClr val="6366F1"/>
                </a:solidFill>
                <a:latin typeface="Arial" pitchFamily="34" charset="0"/>
                <a:ea typeface="Arial" pitchFamily="34" charset="-122"/>
                <a:cs typeface="Arial" pitchFamily="34" charset="-120"/>
              </a:rPr>
              <a:t>📚 THÔNG TIN HỌC PHẦN</a:t>
            </a:r>
            <a:endParaRPr lang="en-US" sz="880" dirty="0"/>
          </a:p>
        </p:txBody>
      </p:sp>
      <p:sp>
        <p:nvSpPr>
          <p:cNvPr id="22" name="Text 20"/>
          <p:cNvSpPr/>
          <p:nvPr/>
        </p:nvSpPr>
        <p:spPr>
          <a:xfrm>
            <a:off x="868680" y="3246120"/>
            <a:ext cx="3474720" cy="1261872"/>
          </a:xfrm>
          <a:prstGeom prst="rect">
            <a:avLst/>
          </a:prstGeom>
          <a:noFill/>
          <a:ln/>
        </p:spPr>
        <p:txBody>
          <a:bodyPr wrap="square" rtlCol="0" anchor="ctr"/>
          <a:lstStyle/>
          <a:p>
            <a:pPr indent="0" marL="0">
              <a:lnSpc>
                <a:spcPct val="115000"/>
              </a:lnSpc>
              <a:buNone/>
            </a:pPr>
            <a:r>
              <a:rPr lang="en-US" sz="750" b="1" dirty="0">
                <a:solidFill>
                  <a:srgbClr val="0F172A"/>
                </a:solidFill>
                <a:latin typeface="Arial" pitchFamily="34" charset="0"/>
                <a:ea typeface="Arial" pitchFamily="34" charset="-122"/>
                <a:cs typeface="Arial" pitchFamily="34" charset="-120"/>
              </a:rPr>
              <a:t>• Môn học: </a:t>
            </a:r>
            <a:pPr indent="0" marL="0">
              <a:lnSpc>
                <a:spcPct val="115000"/>
              </a:lnSpc>
              <a:buNone/>
            </a:pPr>
            <a:r>
              <a:rPr lang="en-US" sz="750" dirty="0">
                <a:solidFill>
                  <a:srgbClr val="334155"/>
                </a:solidFill>
                <a:latin typeface="Arial" pitchFamily="34" charset="0"/>
                <a:ea typeface="Arial" pitchFamily="34" charset="-122"/>
                <a:cs typeface="Arial" pitchFamily="34" charset="-120"/>
              </a:rPr>
              <a:t>Phân tích &amp; Thiết kế Hướng Đối Tượng (OOAD)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Bộ chuẩn thiết kế: </a:t>
            </a:r>
            <a:pPr indent="0" marL="0">
              <a:lnSpc>
                <a:spcPct val="115000"/>
              </a:lnSpc>
              <a:buNone/>
            </a:pPr>
            <a:r>
              <a:rPr lang="en-US" sz="750" dirty="0">
                <a:solidFill>
                  <a:srgbClr val="334155"/>
                </a:solidFill>
                <a:latin typeface="Arial" pitchFamily="34" charset="0"/>
                <a:ea typeface="Arial" pitchFamily="34" charset="-122"/>
                <a:cs typeface="Arial" pitchFamily="34" charset="-120"/>
              </a:rPr>
              <a:t>UML 2.5 (Use Case, Activity, Sequence, Class)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CSDL &amp; Công nghệ: </a:t>
            </a:r>
            <a:pPr indent="0" marL="0">
              <a:lnSpc>
                <a:spcPct val="115000"/>
              </a:lnSpc>
              <a:buNone/>
            </a:pPr>
            <a:r>
              <a:rPr lang="en-US" sz="750" dirty="0">
                <a:solidFill>
                  <a:srgbClr val="334155"/>
                </a:solidFill>
                <a:latin typeface="Arial" pitchFamily="34" charset="0"/>
                <a:ea typeface="Arial" pitchFamily="34" charset="-122"/>
                <a:cs typeface="Arial" pitchFamily="34" charset="-120"/>
              </a:rPr>
              <a:t>MySQL 8.0 InnoDB + Node.js Express + React 18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Giải pháp cốt lõi: </a:t>
            </a:r>
            <a:pPr indent="0" marL="0">
              <a:lnSpc>
                <a:spcPct val="115000"/>
              </a:lnSpc>
              <a:buNone/>
            </a:pPr>
            <a:r>
              <a:rPr lang="en-US" sz="750" b="1" dirty="0">
                <a:solidFill>
                  <a:srgbClr val="FF4757"/>
                </a:solidFill>
                <a:latin typeface="Arial" pitchFamily="34" charset="0"/>
                <a:ea typeface="Arial" pitchFamily="34" charset="-122"/>
                <a:cs typeface="Arial" pitchFamily="34" charset="-120"/>
              </a:rPr>
              <a:t>Khóa ghế 10p, SELECT FOR UPDATE chống Race Condition</a:t>
            </a:r>
            <a:endParaRPr lang="en-US" sz="750" dirty="0"/>
          </a:p>
        </p:txBody>
      </p:sp>
      <p:sp>
        <p:nvSpPr>
          <p:cNvPr id="23" name="Shape 21"/>
          <p:cNvSpPr/>
          <p:nvPr/>
        </p:nvSpPr>
        <p:spPr>
          <a:xfrm>
            <a:off x="4663440" y="2907792"/>
            <a:ext cx="3749040" cy="1691640"/>
          </a:xfrm>
          <a:prstGeom prst="roundRect">
            <a:avLst>
              <a:gd name="adj" fmla="val 6486"/>
            </a:avLst>
          </a:prstGeom>
          <a:solidFill>
            <a:srgbClr val="F8FAFC"/>
          </a:solidFill>
          <a:ln w="12700">
            <a:solidFill>
              <a:srgbClr val="CBD5E1"/>
            </a:solidFill>
            <a:prstDash val="solid"/>
          </a:ln>
        </p:spPr>
      </p:sp>
      <p:sp>
        <p:nvSpPr>
          <p:cNvPr id="24" name="Text 22"/>
          <p:cNvSpPr/>
          <p:nvPr/>
        </p:nvSpPr>
        <p:spPr>
          <a:xfrm>
            <a:off x="4800600" y="2999232"/>
            <a:ext cx="3474720" cy="228600"/>
          </a:xfrm>
          <a:prstGeom prst="rect">
            <a:avLst/>
          </a:prstGeom>
          <a:noFill/>
          <a:ln/>
        </p:spPr>
        <p:txBody>
          <a:bodyPr wrap="square" rtlCol="0" anchor="ctr"/>
          <a:lstStyle/>
          <a:p>
            <a:pPr indent="0" marL="0">
              <a:buNone/>
            </a:pPr>
            <a:r>
              <a:rPr lang="en-US" sz="880" b="1" dirty="0">
                <a:solidFill>
                  <a:srgbClr val="10B981"/>
                </a:solidFill>
                <a:latin typeface="Arial" pitchFamily="34" charset="0"/>
                <a:ea typeface="Arial" pitchFamily="34" charset="-122"/>
                <a:cs typeface="Arial" pitchFamily="34" charset="-120"/>
              </a:rPr>
              <a:t>👥 NHÓM TÁC GIẢ BÁO CÁO</a:t>
            </a:r>
            <a:endParaRPr lang="en-US" sz="880" dirty="0"/>
          </a:p>
        </p:txBody>
      </p:sp>
      <p:sp>
        <p:nvSpPr>
          <p:cNvPr id="25" name="Text 23"/>
          <p:cNvSpPr/>
          <p:nvPr/>
        </p:nvSpPr>
        <p:spPr>
          <a:xfrm>
            <a:off x="4800600" y="3246120"/>
            <a:ext cx="3474720" cy="1261872"/>
          </a:xfrm>
          <a:prstGeom prst="rect">
            <a:avLst/>
          </a:prstGeom>
          <a:noFill/>
          <a:ln/>
        </p:spPr>
        <p:txBody>
          <a:bodyPr wrap="square" rtlCol="0" anchor="ctr"/>
          <a:lstStyle/>
          <a:p>
            <a:pPr indent="0" marL="0">
              <a:lnSpc>
                <a:spcPct val="115000"/>
              </a:lnSpc>
              <a:buNone/>
            </a:pPr>
            <a:r>
              <a:rPr lang="en-US" sz="750" b="1" dirty="0">
                <a:solidFill>
                  <a:srgbClr val="0F172A"/>
                </a:solidFill>
                <a:latin typeface="Arial" pitchFamily="34" charset="0"/>
                <a:ea typeface="Arial" pitchFamily="34" charset="-122"/>
                <a:cs typeface="Arial" pitchFamily="34" charset="-120"/>
              </a:rPr>
              <a:t>• Giảng viên hướng dẫn: </a:t>
            </a:r>
            <a:pPr indent="0" marL="0">
              <a:lnSpc>
                <a:spcPct val="115000"/>
              </a:lnSpc>
              <a:buNone/>
            </a:pPr>
            <a:r>
              <a:rPr lang="en-US" sz="750" dirty="0">
                <a:solidFill>
                  <a:srgbClr val="334155"/>
                </a:solidFill>
                <a:latin typeface="Arial" pitchFamily="34" charset="0"/>
                <a:ea typeface="Arial" pitchFamily="34" charset="-122"/>
                <a:cs typeface="Arial" pitchFamily="34" charset="-120"/>
              </a:rPr>
              <a:t>Giảng viên bộ môn OOAD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Nhóm sinh viên thực hiện: </a:t>
            </a:r>
            <a:pPr indent="0" marL="0">
              <a:lnSpc>
                <a:spcPct val="115000"/>
              </a:lnSpc>
              <a:buNone/>
            </a:pPr>
            <a:r>
              <a:rPr lang="en-US" sz="750" dirty="0">
                <a:solidFill>
                  <a:srgbClr val="334155"/>
                </a:solidFill>
                <a:latin typeface="Arial" pitchFamily="34" charset="0"/>
                <a:ea typeface="Arial" pitchFamily="34" charset="-122"/>
                <a:cs typeface="Arial" pitchFamily="34" charset="-120"/>
              </a:rPr>
              <a:t>Nhóm tác giả Đồ án Cinema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Nội dung báo cáo: </a:t>
            </a:r>
            <a:pPr indent="0" marL="0">
              <a:lnSpc>
                <a:spcPct val="115000"/>
              </a:lnSpc>
              <a:buNone/>
            </a:pPr>
            <a:r>
              <a:rPr lang="en-US" sz="750" dirty="0">
                <a:solidFill>
                  <a:srgbClr val="334155"/>
                </a:solidFill>
                <a:latin typeface="Arial" pitchFamily="34" charset="0"/>
                <a:ea typeface="Arial" pitchFamily="34" charset="-122"/>
                <a:cs typeface="Arial" pitchFamily="34" charset="-120"/>
              </a:rPr>
              <a:t>Toàn bộ 4 mô hình UML + Cài đặt thực nghiệm
</a:t>
            </a:r>
            <a:pPr indent="0" marL="0">
              <a:lnSpc>
                <a:spcPct val="115000"/>
              </a:lnSpc>
              <a:buNone/>
            </a:pPr>
            <a:r>
              <a:rPr lang="en-US" sz="750" b="1" dirty="0">
                <a:solidFill>
                  <a:srgbClr val="0F172A"/>
                </a:solidFill>
                <a:latin typeface="Arial" pitchFamily="34" charset="0"/>
                <a:ea typeface="Arial" pitchFamily="34" charset="-122"/>
                <a:cs typeface="Arial" pitchFamily="34" charset="-120"/>
              </a:rPr>
              <a:t>• Tình trạng: </a:t>
            </a:r>
            <a:pPr indent="0" marL="0">
              <a:lnSpc>
                <a:spcPct val="115000"/>
              </a:lnSpc>
              <a:buNone/>
            </a:pPr>
            <a:r>
              <a:rPr lang="en-US" sz="750" b="1" dirty="0">
                <a:solidFill>
                  <a:srgbClr val="10B981"/>
                </a:solidFill>
                <a:latin typeface="Arial" pitchFamily="34" charset="0"/>
                <a:ea typeface="Arial" pitchFamily="34" charset="-122"/>
                <a:cs typeface="Arial" pitchFamily="34" charset="-120"/>
              </a:rPr>
              <a:t>✅ Hoàn chỉnh mã nguồn, sẵn sàng Demo Live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TỔNG QUAN HỆ THỐNG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 ĐẶT VẤN ĐỀ &amp; MỤC TIÊU CỦA ĐỒ ÁN</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3977640" cy="3611880"/>
          </a:xfrm>
          <a:prstGeom prst="roundRect">
            <a:avLst>
              <a:gd name="adj" fmla="val 3797"/>
            </a:avLst>
          </a:prstGeom>
          <a:solidFill>
            <a:srgbClr val="FFFFFF"/>
          </a:solidFill>
          <a:ln w="19050">
            <a:solidFill>
              <a:srgbClr val="FF4757"/>
            </a:solidFill>
            <a:prstDash val="solid"/>
          </a:ln>
        </p:spPr>
      </p:sp>
      <p:sp>
        <p:nvSpPr>
          <p:cNvPr id="15" name="Shape 13"/>
          <p:cNvSpPr/>
          <p:nvPr/>
        </p:nvSpPr>
        <p:spPr>
          <a:xfrm>
            <a:off x="640080" y="1188720"/>
            <a:ext cx="3611880" cy="320040"/>
          </a:xfrm>
          <a:prstGeom prst="roundRect">
            <a:avLst>
              <a:gd name="adj" fmla="val 28571"/>
            </a:avLst>
          </a:prstGeom>
          <a:solidFill>
            <a:srgbClr val="FFE4E6"/>
          </a:solidFill>
          <a:ln w="12700">
            <a:solidFill>
              <a:srgbClr val="FF4757"/>
            </a:solidFill>
            <a:prstDash val="solid"/>
          </a:ln>
        </p:spPr>
      </p:sp>
      <p:sp>
        <p:nvSpPr>
          <p:cNvPr id="16" name="Text 14"/>
          <p:cNvSpPr/>
          <p:nvPr/>
        </p:nvSpPr>
        <p:spPr>
          <a:xfrm>
            <a:off x="640080" y="1188720"/>
            <a:ext cx="3611880" cy="320040"/>
          </a:xfrm>
          <a:prstGeom prst="rect">
            <a:avLst/>
          </a:prstGeom>
          <a:noFill/>
          <a:ln/>
        </p:spPr>
        <p:txBody>
          <a:bodyPr wrap="square" rtlCol="0" anchor="ctr"/>
          <a:lstStyle/>
          <a:p>
            <a:pPr algn="ctr" indent="0" marL="0">
              <a:buNone/>
            </a:pPr>
            <a:r>
              <a:rPr lang="en-US" sz="880" b="1" dirty="0">
                <a:solidFill>
                  <a:srgbClr val="FF4757"/>
                </a:solidFill>
                <a:latin typeface="Arial" pitchFamily="34" charset="0"/>
                <a:ea typeface="Arial" pitchFamily="34" charset="-122"/>
                <a:cs typeface="Arial" pitchFamily="34" charset="-120"/>
              </a:rPr>
              <a:t>🚨 THÁCH THỨC Ở RẠP TRUYỀN THỐNG</a:t>
            </a:r>
            <a:endParaRPr lang="en-US" sz="880" dirty="0"/>
          </a:p>
        </p:txBody>
      </p:sp>
      <p:sp>
        <p:nvSpPr>
          <p:cNvPr id="17" name="Text 15"/>
          <p:cNvSpPr/>
          <p:nvPr/>
        </p:nvSpPr>
        <p:spPr>
          <a:xfrm>
            <a:off x="640080" y="1600200"/>
            <a:ext cx="3611880" cy="2926080"/>
          </a:xfrm>
          <a:prstGeom prst="rect">
            <a:avLst/>
          </a:prstGeom>
          <a:noFill/>
          <a:ln/>
        </p:spPr>
        <p:txBody>
          <a:bodyPr wrap="square" rtlCol="0" anchor="ctr"/>
          <a:lstStyle/>
          <a:p>
            <a:pPr indent="0" marL="0">
              <a:lnSpc>
                <a:spcPct val="112000"/>
              </a:lnSpc>
              <a:buNone/>
            </a:pPr>
            <a:r>
              <a:rPr lang="en-US" sz="780" b="1" dirty="0">
                <a:solidFill>
                  <a:srgbClr val="0F172A"/>
                </a:solidFill>
                <a:latin typeface="Arial" pitchFamily="34" charset="0"/>
                <a:ea typeface="Arial" pitchFamily="34" charset="-122"/>
                <a:cs typeface="Arial" pitchFamily="34" charset="-120"/>
              </a:rPr>
              <a:t>• Trùng ghế cao điểm (Race Condition): </a:t>
            </a:r>
            <a:pPr indent="0" marL="0">
              <a:lnSpc>
                <a:spcPct val="112000"/>
              </a:lnSpc>
              <a:buNone/>
            </a:pPr>
            <a:r>
              <a:rPr lang="en-US" sz="780" dirty="0">
                <a:solidFill>
                  <a:srgbClr val="334155"/>
                </a:solidFill>
                <a:latin typeface="Arial" pitchFamily="34" charset="0"/>
                <a:ea typeface="Arial" pitchFamily="34" charset="-122"/>
                <a:cs typeface="Arial" pitchFamily="34" charset="-120"/>
              </a:rPr>
              <a:t>Nhiều khách cùng bấm 1 ghế trong tích tắc gây lỗi bán trùng vé, mất uy tín rạp.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Thiết bị hỏng xử lý chậm trễ: </a:t>
            </a:r>
            <a:pPr indent="0" marL="0">
              <a:lnSpc>
                <a:spcPct val="112000"/>
              </a:lnSpc>
              <a:buNone/>
            </a:pPr>
            <a:r>
              <a:rPr lang="en-US" sz="780" dirty="0">
                <a:solidFill>
                  <a:srgbClr val="334155"/>
                </a:solidFill>
                <a:latin typeface="Arial" pitchFamily="34" charset="0"/>
                <a:ea typeface="Arial" pitchFamily="34" charset="-122"/>
                <a:cs typeface="Arial" pitchFamily="34" charset="-120"/>
              </a:rPr>
              <a:t>Máy chiếu, âm thanh hỏng nhưng báo cáo rời rạc qua Zalo/sổ tay, làm hủy suất chiếu.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Kiểm tra phòng thiếu chuẩn hóa: </a:t>
            </a:r>
            <a:pPr indent="0" marL="0">
              <a:lnSpc>
                <a:spcPct val="112000"/>
              </a:lnSpc>
              <a:buNone/>
            </a:pPr>
            <a:r>
              <a:rPr lang="en-US" sz="780" dirty="0">
                <a:solidFill>
                  <a:srgbClr val="334155"/>
                </a:solidFill>
                <a:latin typeface="Arial" pitchFamily="34" charset="0"/>
                <a:ea typeface="Arial" pitchFamily="34" charset="-122"/>
                <a:cs typeface="Arial" pitchFamily="34" charset="-120"/>
              </a:rPr>
              <a:t>Ghi chép sổ sách thủ công, khó quy trách nhiệm ca trực và không lưu vết lịch sử.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Lập lịch chiếu dễ xung đột: </a:t>
            </a:r>
            <a:pPr indent="0" marL="0">
              <a:lnSpc>
                <a:spcPct val="112000"/>
              </a:lnSpc>
              <a:buNone/>
            </a:pPr>
            <a:r>
              <a:rPr lang="en-US" sz="780" dirty="0">
                <a:solidFill>
                  <a:srgbClr val="334155"/>
                </a:solidFill>
                <a:latin typeface="Arial" pitchFamily="34" charset="0"/>
                <a:ea typeface="Arial" pitchFamily="34" charset="-122"/>
                <a:cs typeface="Arial" pitchFamily="34" charset="-120"/>
              </a:rPr>
              <a:t>Không tự động tính 15p dọn phòng hoặc phòng/thiết bị đang gặp sự cố kỹ thuật.</a:t>
            </a:r>
            <a:endParaRPr lang="en-US" sz="780" dirty="0"/>
          </a:p>
        </p:txBody>
      </p:sp>
      <p:sp>
        <p:nvSpPr>
          <p:cNvPr id="18" name="Shape 16"/>
          <p:cNvSpPr/>
          <p:nvPr/>
        </p:nvSpPr>
        <p:spPr>
          <a:xfrm>
            <a:off x="4709160" y="1051560"/>
            <a:ext cx="3977640" cy="3611880"/>
          </a:xfrm>
          <a:prstGeom prst="roundRect">
            <a:avLst>
              <a:gd name="adj" fmla="val 3797"/>
            </a:avLst>
          </a:prstGeom>
          <a:solidFill>
            <a:srgbClr val="FFFFFF"/>
          </a:solidFill>
          <a:ln w="19050">
            <a:solidFill>
              <a:srgbClr val="10B981"/>
            </a:solidFill>
            <a:prstDash val="solid"/>
          </a:ln>
        </p:spPr>
      </p:sp>
      <p:sp>
        <p:nvSpPr>
          <p:cNvPr id="19" name="Shape 17"/>
          <p:cNvSpPr/>
          <p:nvPr/>
        </p:nvSpPr>
        <p:spPr>
          <a:xfrm>
            <a:off x="4892040" y="1188720"/>
            <a:ext cx="3611880" cy="320040"/>
          </a:xfrm>
          <a:prstGeom prst="roundRect">
            <a:avLst>
              <a:gd name="adj" fmla="val 28571"/>
            </a:avLst>
          </a:prstGeom>
          <a:solidFill>
            <a:srgbClr val="DCFCE7"/>
          </a:solidFill>
          <a:ln w="12700">
            <a:solidFill>
              <a:srgbClr val="10B981"/>
            </a:solidFill>
            <a:prstDash val="solid"/>
          </a:ln>
        </p:spPr>
      </p:sp>
      <p:sp>
        <p:nvSpPr>
          <p:cNvPr id="20" name="Text 18"/>
          <p:cNvSpPr/>
          <p:nvPr/>
        </p:nvSpPr>
        <p:spPr>
          <a:xfrm>
            <a:off x="4892040" y="1188720"/>
            <a:ext cx="3611880" cy="320040"/>
          </a:xfrm>
          <a:prstGeom prst="rect">
            <a:avLst/>
          </a:prstGeom>
          <a:noFill/>
          <a:ln/>
        </p:spPr>
        <p:txBody>
          <a:bodyPr wrap="square" rtlCol="0" anchor="ctr"/>
          <a:lstStyle/>
          <a:p>
            <a:pPr algn="ctr" indent="0" marL="0">
              <a:buNone/>
            </a:pPr>
            <a:r>
              <a:rPr lang="en-US" sz="880" b="1" dirty="0">
                <a:solidFill>
                  <a:srgbClr val="10B981"/>
                </a:solidFill>
                <a:latin typeface="Arial" pitchFamily="34" charset="0"/>
                <a:ea typeface="Arial" pitchFamily="34" charset="-122"/>
                <a:cs typeface="Arial" pitchFamily="34" charset="-120"/>
              </a:rPr>
              <a:t>🌟 GIẢI PHÁP HƯỚNG ĐỐI TƯỢNG (OOAD)</a:t>
            </a:r>
            <a:endParaRPr lang="en-US" sz="880" dirty="0"/>
          </a:p>
        </p:txBody>
      </p:sp>
      <p:sp>
        <p:nvSpPr>
          <p:cNvPr id="21" name="Text 19"/>
          <p:cNvSpPr/>
          <p:nvPr/>
        </p:nvSpPr>
        <p:spPr>
          <a:xfrm>
            <a:off x="4892040" y="1600200"/>
            <a:ext cx="3611880" cy="2926080"/>
          </a:xfrm>
          <a:prstGeom prst="rect">
            <a:avLst/>
          </a:prstGeom>
          <a:noFill/>
          <a:ln/>
        </p:spPr>
        <p:txBody>
          <a:bodyPr wrap="square" rtlCol="0" anchor="ctr"/>
          <a:lstStyle/>
          <a:p>
            <a:pPr indent="0" marL="0">
              <a:lnSpc>
                <a:spcPct val="112000"/>
              </a:lnSpc>
              <a:buNone/>
            </a:pPr>
            <a:r>
              <a:rPr lang="en-US" sz="780" b="1" dirty="0">
                <a:solidFill>
                  <a:srgbClr val="0F172A"/>
                </a:solidFill>
                <a:latin typeface="Arial" pitchFamily="34" charset="0"/>
                <a:ea typeface="Arial" pitchFamily="34" charset="-122"/>
                <a:cs typeface="Arial" pitchFamily="34" charset="-120"/>
              </a:rPr>
              <a:t>• Mô hình hóa OOAD &amp; UML 2.5 toàn diện: </a:t>
            </a:r>
            <a:pPr indent="0" marL="0">
              <a:lnSpc>
                <a:spcPct val="112000"/>
              </a:lnSpc>
              <a:buNone/>
            </a:pPr>
            <a:r>
              <a:rPr lang="en-US" sz="780" dirty="0">
                <a:solidFill>
                  <a:srgbClr val="334155"/>
                </a:solidFill>
                <a:latin typeface="Arial" pitchFamily="34" charset="0"/>
                <a:ea typeface="Arial" pitchFamily="34" charset="-122"/>
                <a:cs typeface="Arial" pitchFamily="34" charset="-120"/>
              </a:rPr>
              <a:t>Thiết kế 5 Actors, 22 Classes với quan hệ Composition / Aggregation chặt chẽ.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Khóa ghế 10p &amp; Chống trùng ghế: </a:t>
            </a:r>
            <a:pPr indent="0" marL="0">
              <a:lnSpc>
                <a:spcPct val="112000"/>
              </a:lnSpc>
              <a:buNone/>
            </a:pPr>
            <a:r>
              <a:rPr lang="en-US" sz="780" dirty="0">
                <a:solidFill>
                  <a:srgbClr val="334155"/>
                </a:solidFill>
                <a:latin typeface="Arial" pitchFamily="34" charset="0"/>
                <a:ea typeface="Arial" pitchFamily="34" charset="-122"/>
                <a:cs typeface="Arial" pitchFamily="34" charset="-120"/>
              </a:rPr>
              <a:t>Dùng MySQL Transaction + Row-Level Locking (SELECT FOR UPDATE) an toàn tuyệt đối.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Tự động giải phóng ghế (Hold Timeout): </a:t>
            </a:r>
            <a:pPr indent="0" marL="0">
              <a:lnSpc>
                <a:spcPct val="112000"/>
              </a:lnSpc>
              <a:buNone/>
            </a:pPr>
            <a:r>
              <a:rPr lang="en-US" sz="780" dirty="0">
                <a:solidFill>
                  <a:srgbClr val="334155"/>
                </a:solidFill>
                <a:latin typeface="Arial" pitchFamily="34" charset="0"/>
                <a:ea typeface="Arial" pitchFamily="34" charset="-122"/>
                <a:cs typeface="Arial" pitchFamily="34" charset="-120"/>
              </a:rPr>
              <a:t>Worker chạy ngầm mỗi 30s tự động nhả ghế nếu quá 10 phút chưa thanh toán.
</a:t>
            </a:r>
            <a:pPr indent="0" marL="0">
              <a:lnSpc>
                <a:spcPct val="112000"/>
              </a:lnSpc>
              <a:buNone/>
            </a:pPr>
            <a:r>
              <a:rPr lang="en-US" sz="780" b="1" dirty="0">
                <a:solidFill>
                  <a:srgbClr val="0F172A"/>
                </a:solidFill>
                <a:latin typeface="Arial" pitchFamily="34" charset="0"/>
                <a:ea typeface="Arial" pitchFamily="34" charset="-122"/>
                <a:cs typeface="Arial" pitchFamily="34" charset="-120"/>
              </a:rPr>
              <a:t>• Vòng đời sự cố &amp; Checklist 9 tiêu chí: </a:t>
            </a:r>
            <a:pPr indent="0" marL="0">
              <a:lnSpc>
                <a:spcPct val="112000"/>
              </a:lnSpc>
              <a:buNone/>
            </a:pPr>
            <a:r>
              <a:rPr lang="en-US" sz="780" dirty="0">
                <a:solidFill>
                  <a:srgbClr val="334155"/>
                </a:solidFill>
                <a:latin typeface="Arial" pitchFamily="34" charset="0"/>
                <a:ea typeface="Arial" pitchFamily="34" charset="-122"/>
                <a:cs typeface="Arial" pitchFamily="34" charset="-120"/>
              </a:rPr>
              <a:t>Tự sinh sự cố khi kiểm tra phòng Fail, điều phối KTV và nghiệm thu minh bạch.</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PHÂN TÍCH YÊU CẦU</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 NĂM TÁC NHÂN HỆ THỐNG (5 ACTORS) &amp; PHÂN QUYỀN RBAC</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8229600" cy="621792"/>
          </a:xfrm>
          <a:prstGeom prst="roundRect">
            <a:avLst>
              <a:gd name="adj" fmla="val 17647"/>
            </a:avLst>
          </a:prstGeom>
          <a:solidFill>
            <a:srgbClr val="FFFFFF"/>
          </a:solidFill>
          <a:ln w="15240">
            <a:solidFill>
              <a:srgbClr val="FF4757"/>
            </a:solidFill>
            <a:prstDash val="solid"/>
          </a:ln>
        </p:spPr>
      </p:sp>
      <p:sp>
        <p:nvSpPr>
          <p:cNvPr id="15" name="Shape 13"/>
          <p:cNvSpPr/>
          <p:nvPr/>
        </p:nvSpPr>
        <p:spPr>
          <a:xfrm>
            <a:off x="594360" y="1143000"/>
            <a:ext cx="2468880" cy="438912"/>
          </a:xfrm>
          <a:prstGeom prst="roundRect">
            <a:avLst>
              <a:gd name="adj" fmla="val 20833"/>
            </a:avLst>
          </a:prstGeom>
          <a:solidFill>
            <a:srgbClr val="FFE4E6"/>
          </a:solidFill>
          <a:ln w="12700">
            <a:solidFill>
              <a:srgbClr val="FF4757"/>
            </a:solidFill>
            <a:prstDash val="solid"/>
          </a:ln>
        </p:spPr>
      </p:sp>
      <p:sp>
        <p:nvSpPr>
          <p:cNvPr id="16" name="Text 14"/>
          <p:cNvSpPr/>
          <p:nvPr/>
        </p:nvSpPr>
        <p:spPr>
          <a:xfrm>
            <a:off x="594360" y="1143000"/>
            <a:ext cx="2468880" cy="438912"/>
          </a:xfrm>
          <a:prstGeom prst="rect">
            <a:avLst/>
          </a:prstGeom>
          <a:noFill/>
          <a:ln/>
        </p:spPr>
        <p:txBody>
          <a:bodyPr wrap="square" rtlCol="0" anchor="ctr"/>
          <a:lstStyle/>
          <a:p>
            <a:pPr algn="ctr" indent="0" marL="0">
              <a:buNone/>
            </a:pPr>
            <a:r>
              <a:rPr lang="en-US" sz="850" b="1" dirty="0">
                <a:solidFill>
                  <a:srgbClr val="FF4757"/>
                </a:solidFill>
                <a:latin typeface="Arial" pitchFamily="34" charset="0"/>
                <a:ea typeface="Arial" pitchFamily="34" charset="-122"/>
                <a:cs typeface="Arial" pitchFamily="34" charset="-120"/>
              </a:rPr>
              <a:t>👑 Quản Trị Viên (Admin)</a:t>
            </a:r>
            <a:endParaRPr lang="en-US" sz="850" dirty="0"/>
          </a:p>
        </p:txBody>
      </p:sp>
      <p:sp>
        <p:nvSpPr>
          <p:cNvPr id="17" name="Text 15"/>
          <p:cNvSpPr/>
          <p:nvPr/>
        </p:nvSpPr>
        <p:spPr>
          <a:xfrm>
            <a:off x="3200400" y="1124712"/>
            <a:ext cx="5349240" cy="475488"/>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Toàn quyền quản trị: Quản lý Users, Phân quyền Role RBAC, Danh mục phim, Phòng chiếu, Lịch chiếu &amp; Báo cáo Dashboard.</a:t>
            </a:r>
            <a:endParaRPr lang="en-US" sz="780" dirty="0"/>
          </a:p>
        </p:txBody>
      </p:sp>
      <p:sp>
        <p:nvSpPr>
          <p:cNvPr id="18" name="Shape 16"/>
          <p:cNvSpPr/>
          <p:nvPr/>
        </p:nvSpPr>
        <p:spPr>
          <a:xfrm>
            <a:off x="457200" y="1764792"/>
            <a:ext cx="8229600" cy="621792"/>
          </a:xfrm>
          <a:prstGeom prst="roundRect">
            <a:avLst>
              <a:gd name="adj" fmla="val 17647"/>
            </a:avLst>
          </a:prstGeom>
          <a:solidFill>
            <a:srgbClr val="FFFFFF"/>
          </a:solidFill>
          <a:ln w="15240">
            <a:solidFill>
              <a:srgbClr val="F59E0B"/>
            </a:solidFill>
            <a:prstDash val="solid"/>
          </a:ln>
        </p:spPr>
      </p:sp>
      <p:sp>
        <p:nvSpPr>
          <p:cNvPr id="19" name="Shape 17"/>
          <p:cNvSpPr/>
          <p:nvPr/>
        </p:nvSpPr>
        <p:spPr>
          <a:xfrm>
            <a:off x="594360" y="1856232"/>
            <a:ext cx="2468880" cy="438912"/>
          </a:xfrm>
          <a:prstGeom prst="roundRect">
            <a:avLst>
              <a:gd name="adj" fmla="val 20833"/>
            </a:avLst>
          </a:prstGeom>
          <a:solidFill>
            <a:srgbClr val="FEF9C3"/>
          </a:solidFill>
          <a:ln w="12700">
            <a:solidFill>
              <a:srgbClr val="F59E0B"/>
            </a:solidFill>
            <a:prstDash val="solid"/>
          </a:ln>
        </p:spPr>
      </p:sp>
      <p:sp>
        <p:nvSpPr>
          <p:cNvPr id="20" name="Text 18"/>
          <p:cNvSpPr/>
          <p:nvPr/>
        </p:nvSpPr>
        <p:spPr>
          <a:xfrm>
            <a:off x="594360" y="1856232"/>
            <a:ext cx="2468880" cy="438912"/>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 Quản Lý Rạp (Manager)</a:t>
            </a:r>
            <a:endParaRPr lang="en-US" sz="850" dirty="0"/>
          </a:p>
        </p:txBody>
      </p:sp>
      <p:sp>
        <p:nvSpPr>
          <p:cNvPr id="21" name="Text 19"/>
          <p:cNvSpPr/>
          <p:nvPr/>
        </p:nvSpPr>
        <p:spPr>
          <a:xfrm>
            <a:off x="3200400" y="1837944"/>
            <a:ext cx="5349240" cy="475488"/>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Lập lịch chiếu (kiểm tra xung đột BR01), tiếp nhận sự cố, phân công Kỹ thuật viên, lập lịch bảo trì định kỳ &amp; nghiệm thu đóng phiếu.</a:t>
            </a:r>
            <a:endParaRPr lang="en-US" sz="780" dirty="0"/>
          </a:p>
        </p:txBody>
      </p:sp>
      <p:sp>
        <p:nvSpPr>
          <p:cNvPr id="22" name="Shape 20"/>
          <p:cNvSpPr/>
          <p:nvPr/>
        </p:nvSpPr>
        <p:spPr>
          <a:xfrm>
            <a:off x="457200" y="2478024"/>
            <a:ext cx="8229600" cy="621792"/>
          </a:xfrm>
          <a:prstGeom prst="roundRect">
            <a:avLst>
              <a:gd name="adj" fmla="val 17647"/>
            </a:avLst>
          </a:prstGeom>
          <a:solidFill>
            <a:srgbClr val="FFFFFF"/>
          </a:solidFill>
          <a:ln w="15240">
            <a:solidFill>
              <a:srgbClr val="0EA5E9"/>
            </a:solidFill>
            <a:prstDash val="solid"/>
          </a:ln>
        </p:spPr>
      </p:sp>
      <p:sp>
        <p:nvSpPr>
          <p:cNvPr id="23" name="Shape 21"/>
          <p:cNvSpPr/>
          <p:nvPr/>
        </p:nvSpPr>
        <p:spPr>
          <a:xfrm>
            <a:off x="594360" y="2569464"/>
            <a:ext cx="2468880" cy="438912"/>
          </a:xfrm>
          <a:prstGeom prst="roundRect">
            <a:avLst>
              <a:gd name="adj" fmla="val 20833"/>
            </a:avLst>
          </a:prstGeom>
          <a:solidFill>
            <a:srgbClr val="E0F2FE"/>
          </a:solidFill>
          <a:ln w="12700">
            <a:solidFill>
              <a:srgbClr val="0EA5E9"/>
            </a:solidFill>
            <a:prstDash val="solid"/>
          </a:ln>
        </p:spPr>
      </p:sp>
      <p:sp>
        <p:nvSpPr>
          <p:cNvPr id="24" name="Text 22"/>
          <p:cNvSpPr/>
          <p:nvPr/>
        </p:nvSpPr>
        <p:spPr>
          <a:xfrm>
            <a:off x="594360" y="2569464"/>
            <a:ext cx="2468880" cy="438912"/>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 Nhân Viên (Staff)</a:t>
            </a:r>
            <a:endParaRPr lang="en-US" sz="850" dirty="0"/>
          </a:p>
        </p:txBody>
      </p:sp>
      <p:sp>
        <p:nvSpPr>
          <p:cNvPr id="25" name="Text 23"/>
          <p:cNvSpPr/>
          <p:nvPr/>
        </p:nvSpPr>
        <p:spPr>
          <a:xfrm>
            <a:off x="3200400" y="2551176"/>
            <a:ext cx="5349240" cy="475488"/>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Kiểm tra phòng 9 tiêu chuẩn (Daily Checklist), phát hiện và tạo báo cáo sự cố, điểm danh ca làm việc, soát vé điện tử mã QR.</a:t>
            </a:r>
            <a:endParaRPr lang="en-US" sz="780" dirty="0"/>
          </a:p>
        </p:txBody>
      </p:sp>
      <p:sp>
        <p:nvSpPr>
          <p:cNvPr id="26" name="Shape 24"/>
          <p:cNvSpPr/>
          <p:nvPr/>
        </p:nvSpPr>
        <p:spPr>
          <a:xfrm>
            <a:off x="457200" y="3191256"/>
            <a:ext cx="8229600" cy="621792"/>
          </a:xfrm>
          <a:prstGeom prst="roundRect">
            <a:avLst>
              <a:gd name="adj" fmla="val 17647"/>
            </a:avLst>
          </a:prstGeom>
          <a:solidFill>
            <a:srgbClr val="FFFFFF"/>
          </a:solidFill>
          <a:ln w="15240">
            <a:solidFill>
              <a:srgbClr val="8B5CF6"/>
            </a:solidFill>
            <a:prstDash val="solid"/>
          </a:ln>
        </p:spPr>
      </p:sp>
      <p:sp>
        <p:nvSpPr>
          <p:cNvPr id="27" name="Shape 25"/>
          <p:cNvSpPr/>
          <p:nvPr/>
        </p:nvSpPr>
        <p:spPr>
          <a:xfrm>
            <a:off x="594360" y="3282696"/>
            <a:ext cx="2468880" cy="438912"/>
          </a:xfrm>
          <a:prstGeom prst="roundRect">
            <a:avLst>
              <a:gd name="adj" fmla="val 20833"/>
            </a:avLst>
          </a:prstGeom>
          <a:solidFill>
            <a:srgbClr val="F3E8FF"/>
          </a:solidFill>
          <a:ln w="12700">
            <a:solidFill>
              <a:srgbClr val="8B5CF6"/>
            </a:solidFill>
            <a:prstDash val="solid"/>
          </a:ln>
        </p:spPr>
      </p:sp>
      <p:sp>
        <p:nvSpPr>
          <p:cNvPr id="28" name="Text 26"/>
          <p:cNvSpPr/>
          <p:nvPr/>
        </p:nvSpPr>
        <p:spPr>
          <a:xfrm>
            <a:off x="594360" y="3282696"/>
            <a:ext cx="2468880" cy="438912"/>
          </a:xfrm>
          <a:prstGeom prst="rect">
            <a:avLst/>
          </a:prstGeom>
          <a:noFill/>
          <a:ln/>
        </p:spPr>
        <p:txBody>
          <a:bodyPr wrap="square" rtlCol="0" anchor="ctr"/>
          <a:lstStyle/>
          <a:p>
            <a:pPr algn="ctr" indent="0" marL="0">
              <a:buNone/>
            </a:pPr>
            <a:r>
              <a:rPr lang="en-US" sz="850" b="1" dirty="0">
                <a:solidFill>
                  <a:srgbClr val="8B5CF6"/>
                </a:solidFill>
                <a:latin typeface="Arial" pitchFamily="34" charset="0"/>
                <a:ea typeface="Arial" pitchFamily="34" charset="-122"/>
                <a:cs typeface="Arial" pitchFamily="34" charset="-120"/>
              </a:rPr>
              <a:t>🔧 Kỹ Thuật Viên (Technician)</a:t>
            </a:r>
            <a:endParaRPr lang="en-US" sz="850" dirty="0"/>
          </a:p>
        </p:txBody>
      </p:sp>
      <p:sp>
        <p:nvSpPr>
          <p:cNvPr id="29" name="Text 27"/>
          <p:cNvSpPr/>
          <p:nvPr/>
        </p:nvSpPr>
        <p:spPr>
          <a:xfrm>
            <a:off x="3200400" y="3264408"/>
            <a:ext cx="5349240" cy="475488"/>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Tiếp nhận phiếu sự cố &amp; bảo trì được giao, khảo sát hiện trường, sửa chữa thiết bị, ghi nhận linh kiện thay thế và chi phí thực tế.</a:t>
            </a:r>
            <a:endParaRPr lang="en-US" sz="780" dirty="0"/>
          </a:p>
        </p:txBody>
      </p:sp>
      <p:sp>
        <p:nvSpPr>
          <p:cNvPr id="30" name="Shape 28"/>
          <p:cNvSpPr/>
          <p:nvPr/>
        </p:nvSpPr>
        <p:spPr>
          <a:xfrm>
            <a:off x="457200" y="3904488"/>
            <a:ext cx="8229600" cy="621792"/>
          </a:xfrm>
          <a:prstGeom prst="roundRect">
            <a:avLst>
              <a:gd name="adj" fmla="val 17647"/>
            </a:avLst>
          </a:prstGeom>
          <a:solidFill>
            <a:srgbClr val="FFFFFF"/>
          </a:solidFill>
          <a:ln w="15240">
            <a:solidFill>
              <a:srgbClr val="10B981"/>
            </a:solidFill>
            <a:prstDash val="solid"/>
          </a:ln>
        </p:spPr>
      </p:sp>
      <p:sp>
        <p:nvSpPr>
          <p:cNvPr id="31" name="Shape 29"/>
          <p:cNvSpPr/>
          <p:nvPr/>
        </p:nvSpPr>
        <p:spPr>
          <a:xfrm>
            <a:off x="594360" y="3995928"/>
            <a:ext cx="2468880" cy="438912"/>
          </a:xfrm>
          <a:prstGeom prst="roundRect">
            <a:avLst>
              <a:gd name="adj" fmla="val 20833"/>
            </a:avLst>
          </a:prstGeom>
          <a:solidFill>
            <a:srgbClr val="DCFCE7"/>
          </a:solidFill>
          <a:ln w="12700">
            <a:solidFill>
              <a:srgbClr val="10B981"/>
            </a:solidFill>
            <a:prstDash val="solid"/>
          </a:ln>
        </p:spPr>
      </p:sp>
      <p:sp>
        <p:nvSpPr>
          <p:cNvPr id="32" name="Text 30"/>
          <p:cNvSpPr/>
          <p:nvPr/>
        </p:nvSpPr>
        <p:spPr>
          <a:xfrm>
            <a:off x="594360" y="3995928"/>
            <a:ext cx="2468880" cy="438912"/>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 Khách Hàng (Customer)</a:t>
            </a:r>
            <a:endParaRPr lang="en-US" sz="850" dirty="0"/>
          </a:p>
        </p:txBody>
      </p:sp>
      <p:sp>
        <p:nvSpPr>
          <p:cNvPr id="33" name="Text 31"/>
          <p:cNvSpPr/>
          <p:nvPr/>
        </p:nvSpPr>
        <p:spPr>
          <a:xfrm>
            <a:off x="3200400" y="3977640"/>
            <a:ext cx="5349240" cy="475488"/>
          </a:xfrm>
          <a:prstGeom prst="rect">
            <a:avLst/>
          </a:prstGeom>
          <a:noFill/>
          <a:ln/>
        </p:spPr>
        <p:txBody>
          <a:bodyPr wrap="square" rtlCol="0" anchor="ctr"/>
          <a:lstStyle/>
          <a:p>
            <a:pPr indent="0" marL="0">
              <a:buNone/>
            </a:pPr>
            <a:r>
              <a:rPr lang="en-US" sz="780" dirty="0">
                <a:solidFill>
                  <a:srgbClr val="334155"/>
                </a:solidFill>
                <a:latin typeface="Arial" pitchFamily="34" charset="0"/>
                <a:ea typeface="Arial" pitchFamily="34" charset="-122"/>
                <a:cs typeface="Arial" pitchFamily="34" charset="-120"/>
              </a:rPr>
              <a:t>Duyệt danh mục phim, chọn suất chiếu, xem sơ đồ ghế thời gian thực, giữ ghế 10 phút, thanh toán và nhận vé QR Code.</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USE CASE</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3. SƠ ĐỒ USE CASE TỔNG QUAN TOÀN HỆ THỐNG</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8229600" cy="3611880"/>
          </a:xfrm>
          <a:prstGeom prst="roundRect">
            <a:avLst>
              <a:gd name="adj" fmla="val 3797"/>
            </a:avLst>
          </a:prstGeom>
          <a:solidFill>
            <a:srgbClr val="FAFAFA"/>
          </a:solidFill>
          <a:ln w="19050">
            <a:solidFill>
              <a:srgbClr val="6366F1"/>
            </a:solidFill>
            <a:prstDash val="solid"/>
          </a:ln>
        </p:spPr>
      </p:sp>
      <p:sp>
        <p:nvSpPr>
          <p:cNvPr id="15" name="Shape 13"/>
          <p:cNvSpPr/>
          <p:nvPr/>
        </p:nvSpPr>
        <p:spPr>
          <a:xfrm>
            <a:off x="2011680" y="1097280"/>
            <a:ext cx="5120640" cy="274320"/>
          </a:xfrm>
          <a:prstGeom prst="roundRect">
            <a:avLst>
              <a:gd name="adj" fmla="val 33333"/>
            </a:avLst>
          </a:prstGeom>
          <a:solidFill>
            <a:srgbClr val="F3E8FF"/>
          </a:solidFill>
          <a:ln w="12700">
            <a:solidFill>
              <a:srgbClr val="6366F1"/>
            </a:solidFill>
            <a:prstDash val="solid"/>
          </a:ln>
        </p:spPr>
      </p:sp>
      <p:sp>
        <p:nvSpPr>
          <p:cNvPr id="16" name="Text 14"/>
          <p:cNvSpPr/>
          <p:nvPr/>
        </p:nvSpPr>
        <p:spPr>
          <a:xfrm>
            <a:off x="2011680" y="1097280"/>
            <a:ext cx="5120640" cy="274320"/>
          </a:xfrm>
          <a:prstGeom prst="rect">
            <a:avLst/>
          </a:prstGeom>
          <a:noFill/>
          <a:ln/>
        </p:spPr>
        <p:txBody>
          <a:bodyPr wrap="square" rtlCol="0" anchor="ctr"/>
          <a:lstStyle/>
          <a:p>
            <a:pPr algn="ctr" indent="0" marL="0">
              <a:buNone/>
            </a:pPr>
            <a:r>
              <a:rPr lang="en-US" sz="780" b="1" dirty="0">
                <a:solidFill>
                  <a:srgbClr val="6366F1"/>
                </a:solidFill>
                <a:latin typeface="Arial" pitchFamily="34" charset="0"/>
                <a:ea typeface="Arial" pitchFamily="34" charset="-122"/>
                <a:cs typeface="Arial" pitchFamily="34" charset="-120"/>
              </a:rPr>
              <a:t>🎬 HỆ THỐNG QUẢN LÝ VẬN HÀNH &amp; ĐẶT VÉ RẠP PHIM (SYSTEM BOUNDARY)</a:t>
            </a:r>
            <a:endParaRPr lang="en-US" sz="780" dirty="0"/>
          </a:p>
        </p:txBody>
      </p:sp>
      <p:sp>
        <p:nvSpPr>
          <p:cNvPr id="17" name="Shape 15"/>
          <p:cNvSpPr/>
          <p:nvPr/>
        </p:nvSpPr>
        <p:spPr>
          <a:xfrm>
            <a:off x="640080" y="1444752"/>
            <a:ext cx="3749040" cy="1508760"/>
          </a:xfrm>
          <a:prstGeom prst="roundRect">
            <a:avLst>
              <a:gd name="adj" fmla="val 6061"/>
            </a:avLst>
          </a:prstGeom>
          <a:solidFill>
            <a:srgbClr val="FFFFFF"/>
          </a:solidFill>
          <a:ln w="15240">
            <a:solidFill>
              <a:srgbClr val="FF4757"/>
            </a:solidFill>
            <a:prstDash val="solid"/>
          </a:ln>
        </p:spPr>
      </p:sp>
      <p:sp>
        <p:nvSpPr>
          <p:cNvPr id="18" name="Shape 16"/>
          <p:cNvSpPr/>
          <p:nvPr/>
        </p:nvSpPr>
        <p:spPr>
          <a:xfrm>
            <a:off x="731520" y="1517904"/>
            <a:ext cx="3566160" cy="256032"/>
          </a:xfrm>
          <a:prstGeom prst="roundRect">
            <a:avLst>
              <a:gd name="adj" fmla="val 21429"/>
            </a:avLst>
          </a:prstGeom>
          <a:solidFill>
            <a:srgbClr val="FFE4E6"/>
          </a:solidFill>
          <a:ln w="12700">
            <a:solidFill>
              <a:srgbClr val="FF4757"/>
            </a:solidFill>
            <a:prstDash val="solid"/>
          </a:ln>
        </p:spPr>
      </p:sp>
      <p:sp>
        <p:nvSpPr>
          <p:cNvPr id="19" name="Text 17"/>
          <p:cNvSpPr/>
          <p:nvPr/>
        </p:nvSpPr>
        <p:spPr>
          <a:xfrm>
            <a:off x="731520" y="1517904"/>
            <a:ext cx="3566160" cy="256032"/>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 PHÂN HỆ ĐẶT VÉ  |  👤 Khách Hàng (Customer)</a:t>
            </a:r>
            <a:endParaRPr lang="en-US" sz="720" dirty="0"/>
          </a:p>
        </p:txBody>
      </p:sp>
      <p:sp>
        <p:nvSpPr>
          <p:cNvPr id="20" name="Text 18"/>
          <p:cNvSpPr/>
          <p:nvPr/>
        </p:nvSpPr>
        <p:spPr>
          <a:xfrm>
            <a:off x="777240" y="1792224"/>
            <a:ext cx="3474720" cy="1124712"/>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UC01: Tra cứu phim &amp; Xem lịch chiếu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UC02: Chọn ghế sơ đồ động &amp; Khóa giữ 10p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UC03: Thanh toán đơn hàng &amp; Nhận vé QR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UC04: Quản lý lịch sử vé xem phim &amp; Phản hồi
</a:t>
            </a:r>
            <a:endParaRPr lang="en-US" sz="720" dirty="0"/>
          </a:p>
        </p:txBody>
      </p:sp>
      <p:sp>
        <p:nvSpPr>
          <p:cNvPr id="21" name="Shape 19"/>
          <p:cNvSpPr/>
          <p:nvPr/>
        </p:nvSpPr>
        <p:spPr>
          <a:xfrm>
            <a:off x="4754880" y="1444752"/>
            <a:ext cx="3749040" cy="1508760"/>
          </a:xfrm>
          <a:prstGeom prst="roundRect">
            <a:avLst>
              <a:gd name="adj" fmla="val 6061"/>
            </a:avLst>
          </a:prstGeom>
          <a:solidFill>
            <a:srgbClr val="FFFFFF"/>
          </a:solidFill>
          <a:ln w="15240">
            <a:solidFill>
              <a:srgbClr val="8B5CF6"/>
            </a:solidFill>
            <a:prstDash val="solid"/>
          </a:ln>
        </p:spPr>
      </p:sp>
      <p:sp>
        <p:nvSpPr>
          <p:cNvPr id="22" name="Shape 20"/>
          <p:cNvSpPr/>
          <p:nvPr/>
        </p:nvSpPr>
        <p:spPr>
          <a:xfrm>
            <a:off x="4846320" y="1517904"/>
            <a:ext cx="3566160" cy="256032"/>
          </a:xfrm>
          <a:prstGeom prst="roundRect">
            <a:avLst>
              <a:gd name="adj" fmla="val 21429"/>
            </a:avLst>
          </a:prstGeom>
          <a:solidFill>
            <a:srgbClr val="F3E8FF"/>
          </a:solidFill>
          <a:ln w="12700">
            <a:solidFill>
              <a:srgbClr val="8B5CF6"/>
            </a:solidFill>
            <a:prstDash val="solid"/>
          </a:ln>
        </p:spPr>
      </p:sp>
      <p:sp>
        <p:nvSpPr>
          <p:cNvPr id="23" name="Text 21"/>
          <p:cNvSpPr/>
          <p:nvPr/>
        </p:nvSpPr>
        <p:spPr>
          <a:xfrm>
            <a:off x="4846320" y="1517904"/>
            <a:ext cx="3566160" cy="256032"/>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 PHÂN HỆ VẬN HÀNH &amp; KỸ THUẬT  |  👔 Staff &amp; 🔧 Technician</a:t>
            </a:r>
            <a:endParaRPr lang="en-US" sz="720" dirty="0"/>
          </a:p>
        </p:txBody>
      </p:sp>
      <p:sp>
        <p:nvSpPr>
          <p:cNvPr id="24" name="Text 22"/>
          <p:cNvSpPr/>
          <p:nvPr/>
        </p:nvSpPr>
        <p:spPr>
          <a:xfrm>
            <a:off x="4892040" y="1792224"/>
            <a:ext cx="3474720" cy="1124712"/>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UC05: Kiểm tra phòng chiếu theo 9 tiêu chí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UC06: Báo cáo sự cố phòng &amp; thiết bị tức thì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UC07: Tiếp nhận phiếu sửa chữa &amp; Bảo trì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UC08: Cập nhật linh kiện thay thế &amp; Chi phí
</a:t>
            </a:r>
            <a:endParaRPr lang="en-US" sz="720" dirty="0"/>
          </a:p>
        </p:txBody>
      </p:sp>
      <p:sp>
        <p:nvSpPr>
          <p:cNvPr id="25" name="Shape 23"/>
          <p:cNvSpPr/>
          <p:nvPr/>
        </p:nvSpPr>
        <p:spPr>
          <a:xfrm>
            <a:off x="640080" y="3035808"/>
            <a:ext cx="3749040" cy="1508760"/>
          </a:xfrm>
          <a:prstGeom prst="roundRect">
            <a:avLst>
              <a:gd name="adj" fmla="val 6061"/>
            </a:avLst>
          </a:prstGeom>
          <a:solidFill>
            <a:srgbClr val="FFFFFF"/>
          </a:solidFill>
          <a:ln w="15240">
            <a:solidFill>
              <a:srgbClr val="F59E0B"/>
            </a:solidFill>
            <a:prstDash val="solid"/>
          </a:ln>
        </p:spPr>
      </p:sp>
      <p:sp>
        <p:nvSpPr>
          <p:cNvPr id="26" name="Shape 24"/>
          <p:cNvSpPr/>
          <p:nvPr/>
        </p:nvSpPr>
        <p:spPr>
          <a:xfrm>
            <a:off x="731520" y="3108960"/>
            <a:ext cx="3566160" cy="256032"/>
          </a:xfrm>
          <a:prstGeom prst="roundRect">
            <a:avLst>
              <a:gd name="adj" fmla="val 21429"/>
            </a:avLst>
          </a:prstGeom>
          <a:solidFill>
            <a:srgbClr val="FEF9C3"/>
          </a:solidFill>
          <a:ln w="12700">
            <a:solidFill>
              <a:srgbClr val="F59E0B"/>
            </a:solidFill>
            <a:prstDash val="solid"/>
          </a:ln>
        </p:spPr>
      </p:sp>
      <p:sp>
        <p:nvSpPr>
          <p:cNvPr id="27" name="Text 25"/>
          <p:cNvSpPr/>
          <p:nvPr/>
        </p:nvSpPr>
        <p:spPr>
          <a:xfrm>
            <a:off x="731520" y="3108960"/>
            <a:ext cx="3566160" cy="256032"/>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 PHÂN HỆ QUẢN LÝ RẠP  |  💼 Quản Lý Rạp (Manager)</a:t>
            </a:r>
            <a:endParaRPr lang="en-US" sz="720" dirty="0"/>
          </a:p>
        </p:txBody>
      </p:sp>
      <p:sp>
        <p:nvSpPr>
          <p:cNvPr id="28" name="Text 26"/>
          <p:cNvSpPr/>
          <p:nvPr/>
        </p:nvSpPr>
        <p:spPr>
          <a:xfrm>
            <a:off x="777240" y="3383280"/>
            <a:ext cx="3474720" cy="1124712"/>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UC09: Lập lịch chiếu &amp; Check xung đột (BR01)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UC10: Phân công Kỹ thuật viên xử lý sự cố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UC11: Lập kế hoạch bảo trì thiết bị định kỳ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UC12: Nghiệm thu kết quả &amp; Đóng phiếu sự cố
</a:t>
            </a:r>
            <a:endParaRPr lang="en-US" sz="720" dirty="0"/>
          </a:p>
        </p:txBody>
      </p:sp>
      <p:sp>
        <p:nvSpPr>
          <p:cNvPr id="29" name="Shape 27"/>
          <p:cNvSpPr/>
          <p:nvPr/>
        </p:nvSpPr>
        <p:spPr>
          <a:xfrm>
            <a:off x="4754880" y="3035808"/>
            <a:ext cx="3749040" cy="1508760"/>
          </a:xfrm>
          <a:prstGeom prst="roundRect">
            <a:avLst>
              <a:gd name="adj" fmla="val 6061"/>
            </a:avLst>
          </a:prstGeom>
          <a:solidFill>
            <a:srgbClr val="FFFFFF"/>
          </a:solidFill>
          <a:ln w="15240">
            <a:solidFill>
              <a:srgbClr val="0EA5E9"/>
            </a:solidFill>
            <a:prstDash val="solid"/>
          </a:ln>
        </p:spPr>
      </p:sp>
      <p:sp>
        <p:nvSpPr>
          <p:cNvPr id="30" name="Shape 28"/>
          <p:cNvSpPr/>
          <p:nvPr/>
        </p:nvSpPr>
        <p:spPr>
          <a:xfrm>
            <a:off x="4846320" y="3108960"/>
            <a:ext cx="3566160" cy="256032"/>
          </a:xfrm>
          <a:prstGeom prst="roundRect">
            <a:avLst>
              <a:gd name="adj" fmla="val 21429"/>
            </a:avLst>
          </a:prstGeom>
          <a:solidFill>
            <a:srgbClr val="E0F2FE"/>
          </a:solidFill>
          <a:ln w="12700">
            <a:solidFill>
              <a:srgbClr val="0EA5E9"/>
            </a:solidFill>
            <a:prstDash val="solid"/>
          </a:ln>
        </p:spPr>
      </p:sp>
      <p:sp>
        <p:nvSpPr>
          <p:cNvPr id="31" name="Text 29"/>
          <p:cNvSpPr/>
          <p:nvPr/>
        </p:nvSpPr>
        <p:spPr>
          <a:xfrm>
            <a:off x="4846320" y="3108960"/>
            <a:ext cx="3566160" cy="256032"/>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 PHÂN HỆ QUẢN TRỊ &amp; BẢO MẬT  |  👑 Quản Trị Viên (Admin)</a:t>
            </a:r>
            <a:endParaRPr lang="en-US" sz="720" dirty="0"/>
          </a:p>
        </p:txBody>
      </p:sp>
      <p:sp>
        <p:nvSpPr>
          <p:cNvPr id="32" name="Text 30"/>
          <p:cNvSpPr/>
          <p:nvPr/>
        </p:nvSpPr>
        <p:spPr>
          <a:xfrm>
            <a:off x="4892040" y="3383280"/>
            <a:ext cx="3474720" cy="1124712"/>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UC13: Đăng nhập &amp; Xác thực bảo mật JWT Token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UC14: Quản lý tài khoản User &amp; Phân quyền Role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UC15: Quản lý hạ tầng Phòng chiếu, Ghế, Thiết bị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UC16: Báo cáo thống kê Dashboard &amp; Doanh thu
</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USE CASE</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4. SƠ ĐỒ USE CASE: PHÂN HỆ ĐẶT VÉ &amp; KHÁCH HÀNG (CUSTOMER)</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011680" cy="3611880"/>
          </a:xfrm>
          <a:prstGeom prst="roundRect">
            <a:avLst>
              <a:gd name="adj" fmla="val 6818"/>
            </a:avLst>
          </a:prstGeom>
          <a:solidFill>
            <a:srgbClr val="FFFFFF"/>
          </a:solidFill>
          <a:ln w="19050">
            <a:solidFill>
              <a:srgbClr val="FF4757"/>
            </a:solidFill>
            <a:prstDash val="solid"/>
          </a:ln>
        </p:spPr>
      </p:sp>
      <p:sp>
        <p:nvSpPr>
          <p:cNvPr id="15" name="Shape 13"/>
          <p:cNvSpPr/>
          <p:nvPr/>
        </p:nvSpPr>
        <p:spPr>
          <a:xfrm>
            <a:off x="1143000" y="1280160"/>
            <a:ext cx="640080" cy="640080"/>
          </a:xfrm>
          <a:prstGeom prst="ellipse">
            <a:avLst/>
          </a:prstGeom>
          <a:solidFill>
            <a:srgbClr val="FFE4E6"/>
          </a:solidFill>
          <a:ln w="19050">
            <a:solidFill>
              <a:srgbClr val="FF4757"/>
            </a:solidFill>
            <a:prstDash val="solid"/>
          </a:ln>
        </p:spPr>
      </p:sp>
      <p:sp>
        <p:nvSpPr>
          <p:cNvPr id="16" name="Text 14"/>
          <p:cNvSpPr/>
          <p:nvPr/>
        </p:nvSpPr>
        <p:spPr>
          <a:xfrm>
            <a:off x="1143000" y="1280160"/>
            <a:ext cx="640080" cy="64008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548640" y="2011680"/>
            <a:ext cx="1828800" cy="640080"/>
          </a:xfrm>
          <a:prstGeom prst="rect">
            <a:avLst/>
          </a:prstGeom>
          <a:noFill/>
          <a:ln/>
        </p:spPr>
        <p:txBody>
          <a:bodyPr wrap="square" rtlCol="0" anchor="ctr"/>
          <a:lstStyle/>
          <a:p>
            <a:pPr algn="ctr" indent="0" marL="0">
              <a:buNone/>
            </a:pPr>
            <a:r>
              <a:rPr lang="en-US" sz="850" b="1" dirty="0">
                <a:solidFill>
                  <a:srgbClr val="FF4757"/>
                </a:solidFill>
                <a:latin typeface="Arial" pitchFamily="34" charset="0"/>
                <a:ea typeface="Arial" pitchFamily="34" charset="-122"/>
                <a:cs typeface="Arial" pitchFamily="34" charset="-120"/>
              </a:rPr>
              <a:t>ACTOR:</a:t>
            </a:r>
            <a:endParaRPr lang="en-US" sz="850" dirty="0"/>
          </a:p>
          <a:p>
            <a:pPr algn="ctr" indent="0" marL="0">
              <a:buNone/>
            </a:pPr>
            <a:r>
              <a:rPr lang="en-US" sz="850" b="1" dirty="0">
                <a:solidFill>
                  <a:srgbClr val="FF4757"/>
                </a:solidFill>
                <a:latin typeface="Arial" pitchFamily="34" charset="0"/>
                <a:ea typeface="Arial" pitchFamily="34" charset="-122"/>
                <a:cs typeface="Arial" pitchFamily="34" charset="-120"/>
              </a:rPr>
              <a:t>KHÁCH HÀNG</a:t>
            </a:r>
            <a:endParaRPr lang="en-US" sz="850" dirty="0"/>
          </a:p>
          <a:p>
            <a:pPr algn="ctr" indent="0" marL="0">
              <a:buNone/>
            </a:pPr>
            <a:r>
              <a:rPr lang="en-US" sz="850" b="1" dirty="0">
                <a:solidFill>
                  <a:srgbClr val="FF4757"/>
                </a:solidFill>
                <a:latin typeface="Arial" pitchFamily="34" charset="0"/>
                <a:ea typeface="Arial" pitchFamily="34" charset="-122"/>
                <a:cs typeface="Arial" pitchFamily="34" charset="-120"/>
              </a:rPr>
              <a:t>(Customer)</a:t>
            </a:r>
            <a:endParaRPr lang="en-US" sz="850" dirty="0"/>
          </a:p>
        </p:txBody>
      </p:sp>
      <p:sp>
        <p:nvSpPr>
          <p:cNvPr id="18" name="Text 16"/>
          <p:cNvSpPr/>
          <p:nvPr/>
        </p:nvSpPr>
        <p:spPr>
          <a:xfrm>
            <a:off x="548640" y="2743200"/>
            <a:ext cx="1828800" cy="1737360"/>
          </a:xfrm>
          <a:prstGeom prst="rect">
            <a:avLst/>
          </a:prstGeom>
          <a:noFill/>
          <a:ln/>
        </p:spPr>
        <p:txBody>
          <a:bodyPr wrap="square" rtlCol="0" anchor="ctr"/>
          <a:lstStyle/>
          <a:p>
            <a:pPr indent="0" marL="0">
              <a:lnSpc>
                <a:spcPct val="115000"/>
              </a:lnSpc>
              <a:buNone/>
            </a:pPr>
            <a:r>
              <a:rPr lang="en-US" sz="720" b="1" dirty="0">
                <a:solidFill>
                  <a:srgbClr val="0F172A"/>
                </a:solidFill>
                <a:latin typeface="Arial" pitchFamily="34" charset="0"/>
                <a:ea typeface="Arial" pitchFamily="34" charset="-122"/>
                <a:cs typeface="Arial" pitchFamily="34" charset="-120"/>
              </a:rPr>
              <a:t>Vai trò: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Khách vãng lai / Thành viên</a:t>
            </a:r>
            <a:endParaRPr lang="en-US" sz="720" dirty="0"/>
          </a:p>
          <a:p>
            <a:pPr indent="0" marL="0">
              <a:lnSpc>
                <a:spcPct val="115000"/>
              </a:lnSpc>
              <a:buNone/>
            </a:pPr>
            <a:r>
              <a:rPr lang="en-US" sz="720" dirty="0">
                <a:solidFill>
                  <a:srgbClr val="334155"/>
                </a:solidFill>
                <a:latin typeface="Arial" pitchFamily="34" charset="0"/>
                <a:ea typeface="Arial" pitchFamily="34" charset="-122"/>
                <a:cs typeface="Arial" pitchFamily="34" charset="-120"/>
              </a:rPr>
              <a:t>• Chọn phim, suất chiếu &amp; ghế</a:t>
            </a:r>
            <a:endParaRPr lang="en-US" sz="720" dirty="0"/>
          </a:p>
          <a:p>
            <a:pPr indent="0" marL="0">
              <a:lnSpc>
                <a:spcPct val="115000"/>
              </a:lnSpc>
              <a:buNone/>
            </a:pPr>
            <a:r>
              <a:rPr lang="en-US" sz="720" dirty="0">
                <a:solidFill>
                  <a:srgbClr val="334155"/>
                </a:solidFill>
                <a:latin typeface="Arial" pitchFamily="34" charset="0"/>
                <a:ea typeface="Arial" pitchFamily="34" charset="-122"/>
                <a:cs typeface="Arial" pitchFamily="34" charset="-120"/>
              </a:rPr>
              <a:t>• Thanh toán trực tuyến</a:t>
            </a:r>
            <a:endParaRPr lang="en-US" sz="720" dirty="0"/>
          </a:p>
          <a:p>
            <a:pPr indent="0" marL="0">
              <a:lnSpc>
                <a:spcPct val="115000"/>
              </a:lnSpc>
              <a:buNone/>
            </a:pPr>
            <a:r>
              <a:rPr lang="en-US" sz="720" dirty="0">
                <a:solidFill>
                  <a:srgbClr val="334155"/>
                </a:solidFill>
                <a:latin typeface="Arial" pitchFamily="34" charset="0"/>
                <a:ea typeface="Arial" pitchFamily="34" charset="-122"/>
                <a:cs typeface="Arial" pitchFamily="34" charset="-120"/>
              </a:rPr>
              <a:t>• Nhận vé mã QR xem phim</a:t>
            </a:r>
            <a:endParaRPr lang="en-US" sz="720" dirty="0"/>
          </a:p>
        </p:txBody>
      </p:sp>
      <p:sp>
        <p:nvSpPr>
          <p:cNvPr id="19" name="Shape 17"/>
          <p:cNvSpPr/>
          <p:nvPr/>
        </p:nvSpPr>
        <p:spPr>
          <a:xfrm>
            <a:off x="2651760" y="1051560"/>
            <a:ext cx="6035040" cy="3611880"/>
          </a:xfrm>
          <a:prstGeom prst="roundRect">
            <a:avLst>
              <a:gd name="adj" fmla="val 3797"/>
            </a:avLst>
          </a:prstGeom>
          <a:solidFill>
            <a:srgbClr val="FFFFFF"/>
          </a:solidFill>
          <a:ln w="19050">
            <a:solidFill>
              <a:srgbClr val="CBD5E1"/>
            </a:solidFill>
            <a:prstDash val="solid"/>
          </a:ln>
        </p:spPr>
      </p:sp>
      <p:sp>
        <p:nvSpPr>
          <p:cNvPr id="20" name="Shape 18"/>
          <p:cNvSpPr/>
          <p:nvPr/>
        </p:nvSpPr>
        <p:spPr>
          <a:xfrm>
            <a:off x="2788920" y="1143000"/>
            <a:ext cx="5760720" cy="274320"/>
          </a:xfrm>
          <a:prstGeom prst="roundRect">
            <a:avLst>
              <a:gd name="adj" fmla="val 26667"/>
            </a:avLst>
          </a:prstGeom>
          <a:solidFill>
            <a:srgbClr val="FFE4E6"/>
          </a:solidFill>
          <a:ln w="12700">
            <a:solidFill>
              <a:srgbClr val="FF4757"/>
            </a:solidFill>
            <a:prstDash val="solid"/>
          </a:ln>
        </p:spPr>
      </p:sp>
      <p:sp>
        <p:nvSpPr>
          <p:cNvPr id="21" name="Text 19"/>
          <p:cNvSpPr/>
          <p:nvPr/>
        </p:nvSpPr>
        <p:spPr>
          <a:xfrm>
            <a:off x="2788920" y="1143000"/>
            <a:ext cx="5760720" cy="274320"/>
          </a:xfrm>
          <a:prstGeom prst="rect">
            <a:avLst/>
          </a:prstGeom>
          <a:noFill/>
          <a:ln/>
        </p:spPr>
        <p:txBody>
          <a:bodyPr wrap="square" rtlCol="0" anchor="ctr"/>
          <a:lstStyle/>
          <a:p>
            <a:pPr algn="ctr" indent="0" marL="0">
              <a:buNone/>
            </a:pPr>
            <a:r>
              <a:rPr lang="en-US" sz="780" b="1" dirty="0">
                <a:solidFill>
                  <a:srgbClr val="FF4757"/>
                </a:solidFill>
                <a:latin typeface="Arial" pitchFamily="34" charset="0"/>
                <a:ea typeface="Arial" pitchFamily="34" charset="-122"/>
                <a:cs typeface="Arial" pitchFamily="34" charset="-120"/>
              </a:rPr>
              <a:t>🎟️ CÁC USE CASE KHÁCH HÀNG &amp; QUAN HỆ &lt;&lt;INCLUDE&gt;&gt; / &lt;&lt;EXTEND&gt;&gt;</a:t>
            </a:r>
            <a:endParaRPr lang="en-US" sz="780" dirty="0"/>
          </a:p>
        </p:txBody>
      </p:sp>
      <p:sp>
        <p:nvSpPr>
          <p:cNvPr id="22" name="Shape 20"/>
          <p:cNvSpPr/>
          <p:nvPr/>
        </p:nvSpPr>
        <p:spPr>
          <a:xfrm>
            <a:off x="2834640" y="1536192"/>
            <a:ext cx="2651760" cy="621792"/>
          </a:xfrm>
          <a:prstGeom prst="ellipse">
            <a:avLst/>
          </a:prstGeom>
          <a:solidFill>
            <a:srgbClr val="E0F2FE"/>
          </a:solidFill>
          <a:ln w="15240">
            <a:solidFill>
              <a:srgbClr val="0EA5E9"/>
            </a:solidFill>
            <a:prstDash val="solid"/>
          </a:ln>
        </p:spPr>
      </p:sp>
      <p:sp>
        <p:nvSpPr>
          <p:cNvPr id="23" name="Text 21"/>
          <p:cNvSpPr/>
          <p:nvPr/>
        </p:nvSpPr>
        <p:spPr>
          <a:xfrm>
            <a:off x="2926080" y="1536192"/>
            <a:ext cx="2468880" cy="621792"/>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UC01: Xem Phim &amp; Lịch Chiếu</a:t>
            </a:r>
            <a:endParaRPr lang="en-US" sz="720" dirty="0"/>
          </a:p>
        </p:txBody>
      </p:sp>
      <p:sp>
        <p:nvSpPr>
          <p:cNvPr id="24" name="Shape 22"/>
          <p:cNvSpPr/>
          <p:nvPr/>
        </p:nvSpPr>
        <p:spPr>
          <a:xfrm>
            <a:off x="2834640" y="2267712"/>
            <a:ext cx="2651760" cy="621792"/>
          </a:xfrm>
          <a:prstGeom prst="ellipse">
            <a:avLst/>
          </a:prstGeom>
          <a:solidFill>
            <a:srgbClr val="FFE4E6"/>
          </a:solidFill>
          <a:ln w="15240">
            <a:solidFill>
              <a:srgbClr val="FF4757"/>
            </a:solidFill>
            <a:prstDash val="solid"/>
          </a:ln>
        </p:spPr>
      </p:sp>
      <p:sp>
        <p:nvSpPr>
          <p:cNvPr id="25" name="Text 23"/>
          <p:cNvSpPr/>
          <p:nvPr/>
        </p:nvSpPr>
        <p:spPr>
          <a:xfrm>
            <a:off x="2926080" y="2267712"/>
            <a:ext cx="2468880" cy="621792"/>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UC02: Chọn &amp; Khóa Ghế 10 Phút</a:t>
            </a:r>
            <a:endParaRPr lang="en-US" sz="720" dirty="0"/>
          </a:p>
        </p:txBody>
      </p:sp>
      <p:sp>
        <p:nvSpPr>
          <p:cNvPr id="26" name="Shape 24"/>
          <p:cNvSpPr/>
          <p:nvPr/>
        </p:nvSpPr>
        <p:spPr>
          <a:xfrm>
            <a:off x="2834640" y="2999232"/>
            <a:ext cx="2651760" cy="621792"/>
          </a:xfrm>
          <a:prstGeom prst="ellipse">
            <a:avLst/>
          </a:prstGeom>
          <a:solidFill>
            <a:srgbClr val="FEF9C3"/>
          </a:solidFill>
          <a:ln w="15240">
            <a:solidFill>
              <a:srgbClr val="F59E0B"/>
            </a:solidFill>
            <a:prstDash val="solid"/>
          </a:ln>
        </p:spPr>
      </p:sp>
      <p:sp>
        <p:nvSpPr>
          <p:cNvPr id="27" name="Text 25"/>
          <p:cNvSpPr/>
          <p:nvPr/>
        </p:nvSpPr>
        <p:spPr>
          <a:xfrm>
            <a:off x="2926080" y="2999232"/>
            <a:ext cx="2468880" cy="621792"/>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UC03: Thanh Toán Đơn Hàng</a:t>
            </a:r>
            <a:endParaRPr lang="en-US" sz="720" dirty="0"/>
          </a:p>
        </p:txBody>
      </p:sp>
      <p:sp>
        <p:nvSpPr>
          <p:cNvPr id="28" name="Shape 26"/>
          <p:cNvSpPr/>
          <p:nvPr/>
        </p:nvSpPr>
        <p:spPr>
          <a:xfrm>
            <a:off x="5806440" y="1536192"/>
            <a:ext cx="2651760" cy="621792"/>
          </a:xfrm>
          <a:prstGeom prst="ellipse">
            <a:avLst/>
          </a:prstGeom>
          <a:solidFill>
            <a:srgbClr val="DCFCE7"/>
          </a:solidFill>
          <a:ln w="15240">
            <a:solidFill>
              <a:srgbClr val="10B981"/>
            </a:solidFill>
            <a:prstDash val="solid"/>
          </a:ln>
        </p:spPr>
      </p:sp>
      <p:sp>
        <p:nvSpPr>
          <p:cNvPr id="29" name="Text 27"/>
          <p:cNvSpPr/>
          <p:nvPr/>
        </p:nvSpPr>
        <p:spPr>
          <a:xfrm>
            <a:off x="5897880" y="1536192"/>
            <a:ext cx="2468880" cy="621792"/>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UC04: Xem &amp; Quản Lý Vé QR</a:t>
            </a:r>
            <a:endParaRPr lang="en-US" sz="720" dirty="0"/>
          </a:p>
        </p:txBody>
      </p:sp>
      <p:sp>
        <p:nvSpPr>
          <p:cNvPr id="30" name="Shape 28"/>
          <p:cNvSpPr/>
          <p:nvPr/>
        </p:nvSpPr>
        <p:spPr>
          <a:xfrm>
            <a:off x="5806440" y="2267712"/>
            <a:ext cx="2651760" cy="621792"/>
          </a:xfrm>
          <a:prstGeom prst="ellipse">
            <a:avLst/>
          </a:prstGeom>
          <a:solidFill>
            <a:srgbClr val="F3E8FF"/>
          </a:solidFill>
          <a:ln w="15240">
            <a:solidFill>
              <a:srgbClr val="6366F1"/>
            </a:solidFill>
            <a:prstDash val="solid"/>
          </a:ln>
        </p:spPr>
      </p:sp>
      <p:sp>
        <p:nvSpPr>
          <p:cNvPr id="31" name="Text 29"/>
          <p:cNvSpPr/>
          <p:nvPr/>
        </p:nvSpPr>
        <p:spPr>
          <a:xfrm>
            <a:off x="5897880" y="2267712"/>
            <a:ext cx="2468880" cy="621792"/>
          </a:xfrm>
          <a:prstGeom prst="rect">
            <a:avLst/>
          </a:prstGeom>
          <a:noFill/>
          <a:ln/>
        </p:spPr>
        <p:txBody>
          <a:bodyPr wrap="square" rtlCol="0" anchor="ctr"/>
          <a:lstStyle/>
          <a:p>
            <a:pPr algn="ctr" indent="0" marL="0">
              <a:buNone/>
            </a:pPr>
            <a:r>
              <a:rPr lang="en-US" sz="720" b="1" dirty="0">
                <a:solidFill>
                  <a:srgbClr val="6366F1"/>
                </a:solidFill>
                <a:latin typeface="Arial" pitchFamily="34" charset="0"/>
                <a:ea typeface="Arial" pitchFamily="34" charset="-122"/>
                <a:cs typeface="Arial" pitchFamily="34" charset="-120"/>
              </a:rPr>
              <a:t>&lt;&lt;include&gt;&gt; Xác Thực / Session</a:t>
            </a:r>
            <a:endParaRPr lang="en-US" sz="720" dirty="0"/>
          </a:p>
        </p:txBody>
      </p:sp>
      <p:sp>
        <p:nvSpPr>
          <p:cNvPr id="32" name="Shape 30"/>
          <p:cNvSpPr/>
          <p:nvPr/>
        </p:nvSpPr>
        <p:spPr>
          <a:xfrm>
            <a:off x="5806440" y="2999232"/>
            <a:ext cx="2651760" cy="621792"/>
          </a:xfrm>
          <a:prstGeom prst="ellipse">
            <a:avLst/>
          </a:prstGeom>
          <a:solidFill>
            <a:srgbClr val="F3E8FF"/>
          </a:solidFill>
          <a:ln w="15240">
            <a:solidFill>
              <a:srgbClr val="8B5CF6"/>
            </a:solidFill>
            <a:prstDash val="solid"/>
          </a:ln>
        </p:spPr>
      </p:sp>
      <p:sp>
        <p:nvSpPr>
          <p:cNvPr id="33" name="Text 31"/>
          <p:cNvSpPr/>
          <p:nvPr/>
        </p:nvSpPr>
        <p:spPr>
          <a:xfrm>
            <a:off x="5897880" y="2999232"/>
            <a:ext cx="2468880" cy="621792"/>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&lt;&lt;extend&gt;&gt; Áp Mã Giảm Giá</a:t>
            </a:r>
            <a:endParaRPr lang="en-US" sz="720" dirty="0"/>
          </a:p>
        </p:txBody>
      </p:sp>
      <p:sp>
        <p:nvSpPr>
          <p:cNvPr id="34" name="Shape 32"/>
          <p:cNvSpPr/>
          <p:nvPr/>
        </p:nvSpPr>
        <p:spPr>
          <a:xfrm>
            <a:off x="2834640" y="3730752"/>
            <a:ext cx="5669280" cy="804672"/>
          </a:xfrm>
          <a:prstGeom prst="roundRect">
            <a:avLst>
              <a:gd name="adj" fmla="val 9091"/>
            </a:avLst>
          </a:prstGeom>
          <a:solidFill>
            <a:srgbClr val="F8FAFC"/>
          </a:solidFill>
          <a:ln w="12700">
            <a:solidFill>
              <a:srgbClr val="CBD5E1"/>
            </a:solidFill>
            <a:prstDash val="solid"/>
          </a:ln>
        </p:spPr>
      </p:sp>
      <p:sp>
        <p:nvSpPr>
          <p:cNvPr id="35" name="Text 33"/>
          <p:cNvSpPr/>
          <p:nvPr/>
        </p:nvSpPr>
        <p:spPr>
          <a:xfrm>
            <a:off x="2971800" y="3767328"/>
            <a:ext cx="5394960" cy="731520"/>
          </a:xfrm>
          <a:prstGeom prst="rect">
            <a:avLst/>
          </a:prstGeom>
          <a:noFill/>
          <a:ln/>
        </p:spPr>
        <p:txBody>
          <a:bodyPr wrap="square" rtlCol="0" anchor="ctr"/>
          <a:lstStyle/>
          <a:p>
            <a:pPr indent="0" marL="0">
              <a:lnSpc>
                <a:spcPct val="110000"/>
              </a:lnSpc>
              <a:buNone/>
            </a:pPr>
            <a:r>
              <a:rPr lang="en-US" sz="680" b="1" dirty="0">
                <a:solidFill>
                  <a:srgbClr val="0F172A"/>
                </a:solidFill>
                <a:latin typeface="Arial" pitchFamily="34" charset="0"/>
                <a:ea typeface="Arial" pitchFamily="34" charset="-122"/>
                <a:cs typeface="Arial" pitchFamily="34" charset="-120"/>
              </a:rPr>
              <a:t>🔗 Mối quan hệ UML giữa các Use Case:
</a:t>
            </a:r>
            <a:pPr indent="0" marL="0">
              <a:lnSpc>
                <a:spcPct val="110000"/>
              </a:lnSpc>
              <a:buNone/>
            </a:pPr>
            <a:r>
              <a:rPr lang="en-US" sz="680" b="1" dirty="0">
                <a:solidFill>
                  <a:srgbClr val="FF4757"/>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UC03 (Thanh Toán) </a:t>
            </a:r>
            <a:pPr indent="0" marL="0">
              <a:lnSpc>
                <a:spcPct val="110000"/>
              </a:lnSpc>
              <a:buNone/>
            </a:pPr>
            <a:r>
              <a:rPr lang="en-US" sz="680" b="1" dirty="0">
                <a:solidFill>
                  <a:srgbClr val="6366F1"/>
                </a:solidFill>
                <a:latin typeface="Arial" pitchFamily="34" charset="0"/>
                <a:ea typeface="Arial" pitchFamily="34" charset="-122"/>
                <a:cs typeface="Arial" pitchFamily="34" charset="-120"/>
              </a:rPr>
              <a:t>--&lt;&lt;include&gt;&gt;--&gt; </a:t>
            </a:r>
            <a:pPr indent="0" marL="0">
              <a:lnSpc>
                <a:spcPct val="110000"/>
              </a:lnSpc>
              <a:buNone/>
            </a:pPr>
            <a:r>
              <a:rPr lang="en-US" sz="680" dirty="0">
                <a:solidFill>
                  <a:srgbClr val="334155"/>
                </a:solidFill>
                <a:latin typeface="Arial" pitchFamily="34" charset="0"/>
                <a:ea typeface="Arial" pitchFamily="34" charset="-122"/>
                <a:cs typeface="Arial" pitchFamily="34" charset="-120"/>
              </a:rPr>
              <a:t>UC02 (Khóa Ghế 10p): Bắt buộc phải khóa ghế trước khi tiến hành thanh toán.
</a:t>
            </a:r>
            <a:pPr indent="0" marL="0">
              <a:lnSpc>
                <a:spcPct val="110000"/>
              </a:lnSpc>
              <a:buNone/>
            </a:pPr>
            <a:r>
              <a:rPr lang="en-US" sz="680" b="1" dirty="0">
                <a:solidFill>
                  <a:srgbClr val="8B5CF6"/>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&lt;&lt;extend&gt;&gt; Áp Mã Giảm Giá </a:t>
            </a:r>
            <a:pPr indent="0" marL="0">
              <a:lnSpc>
                <a:spcPct val="110000"/>
              </a:lnSpc>
              <a:buNone/>
            </a:pPr>
            <a:r>
              <a:rPr lang="en-US" sz="680" b="1" dirty="0">
                <a:solidFill>
                  <a:srgbClr val="8B5CF6"/>
                </a:solidFill>
                <a:latin typeface="Arial" pitchFamily="34" charset="0"/>
                <a:ea typeface="Arial" pitchFamily="34" charset="-122"/>
                <a:cs typeface="Arial" pitchFamily="34" charset="-120"/>
              </a:rPr>
              <a:t>--&lt;&lt;extend&gt;&gt;--&gt; </a:t>
            </a:r>
            <a:pPr indent="0" marL="0">
              <a:lnSpc>
                <a:spcPct val="110000"/>
              </a:lnSpc>
              <a:buNone/>
            </a:pPr>
            <a:r>
              <a:rPr lang="en-US" sz="680" dirty="0">
                <a:solidFill>
                  <a:srgbClr val="334155"/>
                </a:solidFill>
                <a:latin typeface="Arial" pitchFamily="34" charset="0"/>
                <a:ea typeface="Arial" pitchFamily="34" charset="-122"/>
                <a:cs typeface="Arial" pitchFamily="34" charset="-120"/>
              </a:rPr>
              <a:t>UC03: Tùy chọn mở rộng khi khách hàng có Voucher/Mã khuyến mãi.</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USE CASE</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5. SƠ ĐỒ USE CASE: PHÂN HỆ VẬN HÀNH &amp; KỸ THUẬT (STAFF / TECH)</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011680" cy="1737360"/>
          </a:xfrm>
          <a:prstGeom prst="roundRect">
            <a:avLst>
              <a:gd name="adj" fmla="val 6316"/>
            </a:avLst>
          </a:prstGeom>
          <a:solidFill>
            <a:srgbClr val="FFFFFF"/>
          </a:solidFill>
          <a:ln w="19050">
            <a:solidFill>
              <a:srgbClr val="0EA5E9"/>
            </a:solidFill>
            <a:prstDash val="solid"/>
          </a:ln>
        </p:spPr>
      </p:sp>
      <p:sp>
        <p:nvSpPr>
          <p:cNvPr id="15" name="Shape 13"/>
          <p:cNvSpPr/>
          <p:nvPr/>
        </p:nvSpPr>
        <p:spPr>
          <a:xfrm>
            <a:off x="1234440" y="1143000"/>
            <a:ext cx="457200" cy="457200"/>
          </a:xfrm>
          <a:prstGeom prst="ellipse">
            <a:avLst/>
          </a:prstGeom>
          <a:solidFill>
            <a:srgbClr val="E0F2FE"/>
          </a:solidFill>
          <a:ln w="15240">
            <a:solidFill>
              <a:srgbClr val="0EA5E9"/>
            </a:solidFill>
            <a:prstDash val="solid"/>
          </a:ln>
        </p:spPr>
      </p:sp>
      <p:sp>
        <p:nvSpPr>
          <p:cNvPr id="16" name="Text 14"/>
          <p:cNvSpPr/>
          <p:nvPr/>
        </p:nvSpPr>
        <p:spPr>
          <a:xfrm>
            <a:off x="1234440" y="1143000"/>
            <a:ext cx="45720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7" name="Text 15"/>
          <p:cNvSpPr/>
          <p:nvPr/>
        </p:nvSpPr>
        <p:spPr>
          <a:xfrm>
            <a:off x="548640" y="1645920"/>
            <a:ext cx="1828800" cy="228600"/>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ACTOR: NHÂN VIÊN (Staff)</a:t>
            </a:r>
            <a:endParaRPr lang="en-US" sz="750" dirty="0"/>
          </a:p>
        </p:txBody>
      </p:sp>
      <p:sp>
        <p:nvSpPr>
          <p:cNvPr id="18" name="Text 16"/>
          <p:cNvSpPr/>
          <p:nvPr/>
        </p:nvSpPr>
        <p:spPr>
          <a:xfrm>
            <a:off x="548640" y="1901952"/>
            <a:ext cx="1828800" cy="822960"/>
          </a:xfrm>
          <a:prstGeom prst="rect">
            <a:avLst/>
          </a:prstGeom>
          <a:noFill/>
          <a:ln/>
        </p:spPr>
        <p:txBody>
          <a:bodyPr wrap="square" rtlCol="0" anchor="ctr"/>
          <a:lstStyle/>
          <a:p>
            <a:pPr indent="0" marL="0">
              <a:lnSpc>
                <a:spcPct val="110000"/>
              </a:lnSpc>
              <a:buNone/>
            </a:pPr>
            <a:r>
              <a:rPr lang="en-US" sz="680" dirty="0">
                <a:solidFill>
                  <a:srgbClr val="334155"/>
                </a:solidFill>
                <a:latin typeface="Arial" pitchFamily="34" charset="0"/>
                <a:ea typeface="Arial" pitchFamily="34" charset="-122"/>
                <a:cs typeface="Arial" pitchFamily="34" charset="-120"/>
              </a:rPr>
              <a:t>• Trực ca theo lịch phân công</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Kiểm tra phòng 9 tiêu chí</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Báo cáo sự cố phòng/thiết bị</a:t>
            </a:r>
            <a:endParaRPr lang="en-US" sz="680" dirty="0"/>
          </a:p>
        </p:txBody>
      </p:sp>
      <p:sp>
        <p:nvSpPr>
          <p:cNvPr id="19" name="Shape 17"/>
          <p:cNvSpPr/>
          <p:nvPr/>
        </p:nvSpPr>
        <p:spPr>
          <a:xfrm>
            <a:off x="457200" y="2907792"/>
            <a:ext cx="2011680" cy="1737360"/>
          </a:xfrm>
          <a:prstGeom prst="roundRect">
            <a:avLst>
              <a:gd name="adj" fmla="val 6316"/>
            </a:avLst>
          </a:prstGeom>
          <a:solidFill>
            <a:srgbClr val="FFFFFF"/>
          </a:solidFill>
          <a:ln w="19050">
            <a:solidFill>
              <a:srgbClr val="8B5CF6"/>
            </a:solidFill>
            <a:prstDash val="solid"/>
          </a:ln>
        </p:spPr>
      </p:sp>
      <p:sp>
        <p:nvSpPr>
          <p:cNvPr id="20" name="Shape 18"/>
          <p:cNvSpPr/>
          <p:nvPr/>
        </p:nvSpPr>
        <p:spPr>
          <a:xfrm>
            <a:off x="1234440" y="2999232"/>
            <a:ext cx="457200" cy="457200"/>
          </a:xfrm>
          <a:prstGeom prst="ellipse">
            <a:avLst/>
          </a:prstGeom>
          <a:solidFill>
            <a:srgbClr val="F3E8FF"/>
          </a:solidFill>
          <a:ln w="15240">
            <a:solidFill>
              <a:srgbClr val="8B5CF6"/>
            </a:solidFill>
            <a:prstDash val="solid"/>
          </a:ln>
        </p:spPr>
      </p:sp>
      <p:sp>
        <p:nvSpPr>
          <p:cNvPr id="21" name="Text 19"/>
          <p:cNvSpPr/>
          <p:nvPr/>
        </p:nvSpPr>
        <p:spPr>
          <a:xfrm>
            <a:off x="1234440" y="2999232"/>
            <a:ext cx="45720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2" name="Text 20"/>
          <p:cNvSpPr/>
          <p:nvPr/>
        </p:nvSpPr>
        <p:spPr>
          <a:xfrm>
            <a:off x="548640" y="3493008"/>
            <a:ext cx="1828800" cy="228600"/>
          </a:xfrm>
          <a:prstGeom prst="rect">
            <a:avLst/>
          </a:prstGeom>
          <a:noFill/>
          <a:ln/>
        </p:spPr>
        <p:txBody>
          <a:bodyPr wrap="square" rtlCol="0" anchor="ctr"/>
          <a:lstStyle/>
          <a:p>
            <a:pPr algn="ctr" indent="0" marL="0">
              <a:buNone/>
            </a:pPr>
            <a:r>
              <a:rPr lang="en-US" sz="750" b="1" dirty="0">
                <a:solidFill>
                  <a:srgbClr val="8B5CF6"/>
                </a:solidFill>
                <a:latin typeface="Arial" pitchFamily="34" charset="0"/>
                <a:ea typeface="Arial" pitchFamily="34" charset="-122"/>
                <a:cs typeface="Arial" pitchFamily="34" charset="-120"/>
              </a:rPr>
              <a:t>ACTOR: KỸ THUẬT VIÊN (Tech)</a:t>
            </a:r>
            <a:endParaRPr lang="en-US" sz="750" dirty="0"/>
          </a:p>
        </p:txBody>
      </p:sp>
      <p:sp>
        <p:nvSpPr>
          <p:cNvPr id="23" name="Text 21"/>
          <p:cNvSpPr/>
          <p:nvPr/>
        </p:nvSpPr>
        <p:spPr>
          <a:xfrm>
            <a:off x="548640" y="3749040"/>
            <a:ext cx="1828800" cy="822960"/>
          </a:xfrm>
          <a:prstGeom prst="rect">
            <a:avLst/>
          </a:prstGeom>
          <a:noFill/>
          <a:ln/>
        </p:spPr>
        <p:txBody>
          <a:bodyPr wrap="square" rtlCol="0" anchor="ctr"/>
          <a:lstStyle/>
          <a:p>
            <a:pPr indent="0" marL="0">
              <a:lnSpc>
                <a:spcPct val="110000"/>
              </a:lnSpc>
              <a:buNone/>
            </a:pPr>
            <a:r>
              <a:rPr lang="en-US" sz="680" dirty="0">
                <a:solidFill>
                  <a:srgbClr val="334155"/>
                </a:solidFill>
                <a:latin typeface="Arial" pitchFamily="34" charset="0"/>
                <a:ea typeface="Arial" pitchFamily="34" charset="-122"/>
                <a:cs typeface="Arial" pitchFamily="34" charset="-120"/>
              </a:rPr>
              <a:t>• Tiếp nhận phiếu sự cố được giao</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Sửa chữa &amp; Khảo sát thiết bị</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Ghi nhận linh kiện thay &amp; chi phí</a:t>
            </a:r>
            <a:endParaRPr lang="en-US" sz="680" dirty="0"/>
          </a:p>
        </p:txBody>
      </p:sp>
      <p:sp>
        <p:nvSpPr>
          <p:cNvPr id="24" name="Shape 22"/>
          <p:cNvSpPr/>
          <p:nvPr/>
        </p:nvSpPr>
        <p:spPr>
          <a:xfrm>
            <a:off x="2651760" y="1051560"/>
            <a:ext cx="6035040" cy="3611880"/>
          </a:xfrm>
          <a:prstGeom prst="roundRect">
            <a:avLst>
              <a:gd name="adj" fmla="val 3797"/>
            </a:avLst>
          </a:prstGeom>
          <a:solidFill>
            <a:srgbClr val="FFFFFF"/>
          </a:solidFill>
          <a:ln w="19050">
            <a:solidFill>
              <a:srgbClr val="CBD5E1"/>
            </a:solidFill>
            <a:prstDash val="solid"/>
          </a:ln>
        </p:spPr>
      </p:sp>
      <p:sp>
        <p:nvSpPr>
          <p:cNvPr id="25" name="Shape 23"/>
          <p:cNvSpPr/>
          <p:nvPr/>
        </p:nvSpPr>
        <p:spPr>
          <a:xfrm>
            <a:off x="2788920" y="1143000"/>
            <a:ext cx="5760720" cy="274320"/>
          </a:xfrm>
          <a:prstGeom prst="roundRect">
            <a:avLst>
              <a:gd name="adj" fmla="val 26667"/>
            </a:avLst>
          </a:prstGeom>
          <a:solidFill>
            <a:srgbClr val="F3E8FF"/>
          </a:solidFill>
          <a:ln w="12700">
            <a:solidFill>
              <a:srgbClr val="8B5CF6"/>
            </a:solidFill>
            <a:prstDash val="solid"/>
          </a:ln>
        </p:spPr>
      </p:sp>
      <p:sp>
        <p:nvSpPr>
          <p:cNvPr id="26" name="Text 24"/>
          <p:cNvSpPr/>
          <p:nvPr/>
        </p:nvSpPr>
        <p:spPr>
          <a:xfrm>
            <a:off x="2788920" y="1143000"/>
            <a:ext cx="5760720" cy="274320"/>
          </a:xfrm>
          <a:prstGeom prst="rect">
            <a:avLst/>
          </a:prstGeom>
          <a:noFill/>
          <a:ln/>
        </p:spPr>
        <p:txBody>
          <a:bodyPr wrap="square" rtlCol="0" anchor="ctr"/>
          <a:lstStyle/>
          <a:p>
            <a:pPr algn="ctr" indent="0" marL="0">
              <a:buNone/>
            </a:pPr>
            <a:r>
              <a:rPr lang="en-US" sz="780" b="1" dirty="0">
                <a:solidFill>
                  <a:srgbClr val="8B5CF6"/>
                </a:solidFill>
                <a:latin typeface="Arial" pitchFamily="34" charset="0"/>
                <a:ea typeface="Arial" pitchFamily="34" charset="-122"/>
                <a:cs typeface="Arial" pitchFamily="34" charset="-120"/>
              </a:rPr>
              <a:t>🔧 CÁC USE CASE VẬN HÀNH &amp; QUY TRÌNH XỬ LÝ SỰ CỐ KHÉP KÍN</a:t>
            </a:r>
            <a:endParaRPr lang="en-US" sz="780" dirty="0"/>
          </a:p>
        </p:txBody>
      </p:sp>
      <p:sp>
        <p:nvSpPr>
          <p:cNvPr id="27" name="Shape 25"/>
          <p:cNvSpPr/>
          <p:nvPr/>
        </p:nvSpPr>
        <p:spPr>
          <a:xfrm>
            <a:off x="2834640" y="1536192"/>
            <a:ext cx="2651760" cy="621792"/>
          </a:xfrm>
          <a:prstGeom prst="ellipse">
            <a:avLst/>
          </a:prstGeom>
          <a:solidFill>
            <a:srgbClr val="E0F2FE"/>
          </a:solidFill>
          <a:ln w="15240">
            <a:solidFill>
              <a:srgbClr val="0EA5E9"/>
            </a:solidFill>
            <a:prstDash val="solid"/>
          </a:ln>
        </p:spPr>
      </p:sp>
      <p:sp>
        <p:nvSpPr>
          <p:cNvPr id="28" name="Text 26"/>
          <p:cNvSpPr/>
          <p:nvPr/>
        </p:nvSpPr>
        <p:spPr>
          <a:xfrm>
            <a:off x="2926080" y="1536192"/>
            <a:ext cx="2468880" cy="621792"/>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UC05: Kiểm Tra Phòng 9 Tiêu Chí</a:t>
            </a:r>
            <a:endParaRPr lang="en-US" sz="720" dirty="0"/>
          </a:p>
        </p:txBody>
      </p:sp>
      <p:sp>
        <p:nvSpPr>
          <p:cNvPr id="29" name="Shape 27"/>
          <p:cNvSpPr/>
          <p:nvPr/>
        </p:nvSpPr>
        <p:spPr>
          <a:xfrm>
            <a:off x="2834640" y="2267712"/>
            <a:ext cx="2651760" cy="621792"/>
          </a:xfrm>
          <a:prstGeom prst="ellipse">
            <a:avLst/>
          </a:prstGeom>
          <a:solidFill>
            <a:srgbClr val="FFE4E6"/>
          </a:solidFill>
          <a:ln w="15240">
            <a:solidFill>
              <a:srgbClr val="FF4757"/>
            </a:solidFill>
            <a:prstDash val="solid"/>
          </a:ln>
        </p:spPr>
      </p:sp>
      <p:sp>
        <p:nvSpPr>
          <p:cNvPr id="30" name="Text 28"/>
          <p:cNvSpPr/>
          <p:nvPr/>
        </p:nvSpPr>
        <p:spPr>
          <a:xfrm>
            <a:off x="2926080" y="2267712"/>
            <a:ext cx="2468880" cy="621792"/>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UC06: Báo Cáo Sự Cố Tức Thì</a:t>
            </a:r>
            <a:endParaRPr lang="en-US" sz="720" dirty="0"/>
          </a:p>
        </p:txBody>
      </p:sp>
      <p:sp>
        <p:nvSpPr>
          <p:cNvPr id="31" name="Shape 29"/>
          <p:cNvSpPr/>
          <p:nvPr/>
        </p:nvSpPr>
        <p:spPr>
          <a:xfrm>
            <a:off x="2834640" y="2999232"/>
            <a:ext cx="2651760" cy="621792"/>
          </a:xfrm>
          <a:prstGeom prst="ellipse">
            <a:avLst/>
          </a:prstGeom>
          <a:solidFill>
            <a:srgbClr val="F3E8FF"/>
          </a:solidFill>
          <a:ln w="15240">
            <a:solidFill>
              <a:srgbClr val="8B5CF6"/>
            </a:solidFill>
            <a:prstDash val="solid"/>
          </a:ln>
        </p:spPr>
      </p:sp>
      <p:sp>
        <p:nvSpPr>
          <p:cNvPr id="32" name="Text 30"/>
          <p:cNvSpPr/>
          <p:nvPr/>
        </p:nvSpPr>
        <p:spPr>
          <a:xfrm>
            <a:off x="2926080" y="2999232"/>
            <a:ext cx="2468880" cy="621792"/>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UC07: Tiếp Nhận &amp; Sửa Chữa</a:t>
            </a:r>
            <a:endParaRPr lang="en-US" sz="720" dirty="0"/>
          </a:p>
        </p:txBody>
      </p:sp>
      <p:sp>
        <p:nvSpPr>
          <p:cNvPr id="33" name="Shape 31"/>
          <p:cNvSpPr/>
          <p:nvPr/>
        </p:nvSpPr>
        <p:spPr>
          <a:xfrm>
            <a:off x="5806440" y="1536192"/>
            <a:ext cx="2651760" cy="621792"/>
          </a:xfrm>
          <a:prstGeom prst="ellipse">
            <a:avLst/>
          </a:prstGeom>
          <a:solidFill>
            <a:srgbClr val="FFE4E6"/>
          </a:solidFill>
          <a:ln w="15240">
            <a:solidFill>
              <a:srgbClr val="FF4757"/>
            </a:solidFill>
            <a:prstDash val="solid"/>
          </a:ln>
        </p:spPr>
      </p:sp>
      <p:sp>
        <p:nvSpPr>
          <p:cNvPr id="34" name="Text 32"/>
          <p:cNvSpPr/>
          <p:nvPr/>
        </p:nvSpPr>
        <p:spPr>
          <a:xfrm>
            <a:off x="5897880" y="1536192"/>
            <a:ext cx="2468880" cy="621792"/>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&lt;&lt;extend&gt;&gt; Tự Sinh Incident khi Fail</a:t>
            </a:r>
            <a:endParaRPr lang="en-US" sz="720" dirty="0"/>
          </a:p>
        </p:txBody>
      </p:sp>
      <p:sp>
        <p:nvSpPr>
          <p:cNvPr id="35" name="Shape 33"/>
          <p:cNvSpPr/>
          <p:nvPr/>
        </p:nvSpPr>
        <p:spPr>
          <a:xfrm>
            <a:off x="5806440" y="2267712"/>
            <a:ext cx="2651760" cy="621792"/>
          </a:xfrm>
          <a:prstGeom prst="ellipse">
            <a:avLst/>
          </a:prstGeom>
          <a:solidFill>
            <a:srgbClr val="FEF9C3"/>
          </a:solidFill>
          <a:ln w="15240">
            <a:solidFill>
              <a:srgbClr val="F59E0B"/>
            </a:solidFill>
            <a:prstDash val="solid"/>
          </a:ln>
        </p:spPr>
      </p:sp>
      <p:sp>
        <p:nvSpPr>
          <p:cNvPr id="36" name="Text 34"/>
          <p:cNvSpPr/>
          <p:nvPr/>
        </p:nvSpPr>
        <p:spPr>
          <a:xfrm>
            <a:off x="5897880" y="2267712"/>
            <a:ext cx="2468880" cy="621792"/>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&lt;&lt;include&gt;&gt; Ghi Linh Kiện &amp; Chi Phí</a:t>
            </a:r>
            <a:endParaRPr lang="en-US" sz="720" dirty="0"/>
          </a:p>
        </p:txBody>
      </p:sp>
      <p:sp>
        <p:nvSpPr>
          <p:cNvPr id="37" name="Shape 35"/>
          <p:cNvSpPr/>
          <p:nvPr/>
        </p:nvSpPr>
        <p:spPr>
          <a:xfrm>
            <a:off x="5806440" y="2999232"/>
            <a:ext cx="2651760" cy="621792"/>
          </a:xfrm>
          <a:prstGeom prst="ellipse">
            <a:avLst/>
          </a:prstGeom>
          <a:solidFill>
            <a:srgbClr val="DCFCE7"/>
          </a:solidFill>
          <a:ln w="15240">
            <a:solidFill>
              <a:srgbClr val="10B981"/>
            </a:solidFill>
            <a:prstDash val="solid"/>
          </a:ln>
        </p:spPr>
      </p:sp>
      <p:sp>
        <p:nvSpPr>
          <p:cNvPr id="38" name="Text 36"/>
          <p:cNvSpPr/>
          <p:nvPr/>
        </p:nvSpPr>
        <p:spPr>
          <a:xfrm>
            <a:off x="5897880" y="2999232"/>
            <a:ext cx="2468880" cy="621792"/>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UC08: Bảo Trì Thiết Bị Định Kỳ</a:t>
            </a:r>
            <a:endParaRPr lang="en-US" sz="720" dirty="0"/>
          </a:p>
        </p:txBody>
      </p:sp>
      <p:sp>
        <p:nvSpPr>
          <p:cNvPr id="39" name="Shape 37"/>
          <p:cNvSpPr/>
          <p:nvPr/>
        </p:nvSpPr>
        <p:spPr>
          <a:xfrm>
            <a:off x="2834640" y="3730752"/>
            <a:ext cx="5669280" cy="804672"/>
          </a:xfrm>
          <a:prstGeom prst="roundRect">
            <a:avLst>
              <a:gd name="adj" fmla="val 9091"/>
            </a:avLst>
          </a:prstGeom>
          <a:solidFill>
            <a:srgbClr val="F8FAFC"/>
          </a:solidFill>
          <a:ln w="12700">
            <a:solidFill>
              <a:srgbClr val="CBD5E1"/>
            </a:solidFill>
            <a:prstDash val="solid"/>
          </a:ln>
        </p:spPr>
      </p:sp>
      <p:sp>
        <p:nvSpPr>
          <p:cNvPr id="40" name="Text 38"/>
          <p:cNvSpPr/>
          <p:nvPr/>
        </p:nvSpPr>
        <p:spPr>
          <a:xfrm>
            <a:off x="2971800" y="3767328"/>
            <a:ext cx="5394960" cy="731520"/>
          </a:xfrm>
          <a:prstGeom prst="rect">
            <a:avLst/>
          </a:prstGeom>
          <a:noFill/>
          <a:ln/>
        </p:spPr>
        <p:txBody>
          <a:bodyPr wrap="square" rtlCol="0" anchor="ctr"/>
          <a:lstStyle/>
          <a:p>
            <a:pPr indent="0" marL="0">
              <a:lnSpc>
                <a:spcPct val="110000"/>
              </a:lnSpc>
              <a:buNone/>
            </a:pPr>
            <a:r>
              <a:rPr lang="en-US" sz="680" b="1" dirty="0">
                <a:solidFill>
                  <a:srgbClr val="0F172A"/>
                </a:solidFill>
                <a:latin typeface="Arial" pitchFamily="34" charset="0"/>
                <a:ea typeface="Arial" pitchFamily="34" charset="-122"/>
                <a:cs typeface="Arial" pitchFamily="34" charset="-120"/>
              </a:rPr>
              <a:t>⚡ Điểm sáng thiết kế Vận hành rạp:
</a:t>
            </a:r>
            <a:pPr indent="0" marL="0">
              <a:lnSpc>
                <a:spcPct val="110000"/>
              </a:lnSpc>
              <a:buNone/>
            </a:pPr>
            <a:r>
              <a:rPr lang="en-US" sz="680" b="1" dirty="0">
                <a:solidFill>
                  <a:srgbClr val="FF4757"/>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Checklist 9 tiêu chuẩn: </a:t>
            </a:r>
            <a:pPr indent="0" marL="0">
              <a:lnSpc>
                <a:spcPct val="110000"/>
              </a:lnSpc>
              <a:buNone/>
            </a:pPr>
            <a:r>
              <a:rPr lang="en-US" sz="680" dirty="0">
                <a:solidFill>
                  <a:srgbClr val="334155"/>
                </a:solidFill>
                <a:latin typeface="Arial" pitchFamily="34" charset="0"/>
                <a:ea typeface="Arial" pitchFamily="34" charset="-122"/>
                <a:cs typeface="Arial" pitchFamily="34" charset="-120"/>
              </a:rPr>
              <a:t>Nếu có mục Fail (Máy chiếu, Âm thanh, PCCC) -&gt; Hệ thống tự động kích hoạt tạo 1 Incident mới (BR16).
</a:t>
            </a:r>
            <a:pPr indent="0" marL="0">
              <a:lnSpc>
                <a:spcPct val="110000"/>
              </a:lnSpc>
              <a:buNone/>
            </a:pPr>
            <a:r>
              <a:rPr lang="en-US" sz="680" b="1" dirty="0">
                <a:solidFill>
                  <a:srgbClr val="10B981"/>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Lưu vết Audit Log: </a:t>
            </a:r>
            <a:pPr indent="0" marL="0">
              <a:lnSpc>
                <a:spcPct val="110000"/>
              </a:lnSpc>
              <a:buNone/>
            </a:pPr>
            <a:r>
              <a:rPr lang="en-US" sz="680" dirty="0">
                <a:solidFill>
                  <a:srgbClr val="334155"/>
                </a:solidFill>
                <a:latin typeface="Arial" pitchFamily="34" charset="0"/>
                <a:ea typeface="Arial" pitchFamily="34" charset="-122"/>
                <a:cs typeface="Arial" pitchFamily="34" charset="-120"/>
              </a:rPr>
              <a:t>Mọi thay đổi linh kiện, chi phí và biên bản bàn giao đều lưu vào bảng incident_histories.</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USE CASE</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6. SƠ ĐỒ USE CASE: PHÂN HỆ QUẢN LÝ &amp; QUẢN TRỊ (MANAGER / ADMIN)</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011680" cy="1737360"/>
          </a:xfrm>
          <a:prstGeom prst="roundRect">
            <a:avLst>
              <a:gd name="adj" fmla="val 6316"/>
            </a:avLst>
          </a:prstGeom>
          <a:solidFill>
            <a:srgbClr val="FFFFFF"/>
          </a:solidFill>
          <a:ln w="19050">
            <a:solidFill>
              <a:srgbClr val="F59E0B"/>
            </a:solidFill>
            <a:prstDash val="solid"/>
          </a:ln>
        </p:spPr>
      </p:sp>
      <p:sp>
        <p:nvSpPr>
          <p:cNvPr id="15" name="Shape 13"/>
          <p:cNvSpPr/>
          <p:nvPr/>
        </p:nvSpPr>
        <p:spPr>
          <a:xfrm>
            <a:off x="1234440" y="1143000"/>
            <a:ext cx="457200" cy="457200"/>
          </a:xfrm>
          <a:prstGeom prst="ellipse">
            <a:avLst/>
          </a:prstGeom>
          <a:solidFill>
            <a:srgbClr val="FEF9C3"/>
          </a:solidFill>
          <a:ln w="15240">
            <a:solidFill>
              <a:srgbClr val="F59E0B"/>
            </a:solidFill>
            <a:prstDash val="solid"/>
          </a:ln>
        </p:spPr>
      </p:sp>
      <p:sp>
        <p:nvSpPr>
          <p:cNvPr id="16" name="Text 14"/>
          <p:cNvSpPr/>
          <p:nvPr/>
        </p:nvSpPr>
        <p:spPr>
          <a:xfrm>
            <a:off x="1234440" y="1143000"/>
            <a:ext cx="45720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7" name="Text 15"/>
          <p:cNvSpPr/>
          <p:nvPr/>
        </p:nvSpPr>
        <p:spPr>
          <a:xfrm>
            <a:off x="548640" y="1645920"/>
            <a:ext cx="1828800" cy="228600"/>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ACTOR: QUẢN LÝ RẠP (Manager)</a:t>
            </a:r>
            <a:endParaRPr lang="en-US" sz="750" dirty="0"/>
          </a:p>
        </p:txBody>
      </p:sp>
      <p:sp>
        <p:nvSpPr>
          <p:cNvPr id="18" name="Text 16"/>
          <p:cNvSpPr/>
          <p:nvPr/>
        </p:nvSpPr>
        <p:spPr>
          <a:xfrm>
            <a:off x="548640" y="1901952"/>
            <a:ext cx="1828800" cy="822960"/>
          </a:xfrm>
          <a:prstGeom prst="rect">
            <a:avLst/>
          </a:prstGeom>
          <a:noFill/>
          <a:ln/>
        </p:spPr>
        <p:txBody>
          <a:bodyPr wrap="square" rtlCol="0" anchor="ctr"/>
          <a:lstStyle/>
          <a:p>
            <a:pPr indent="0" marL="0">
              <a:lnSpc>
                <a:spcPct val="110000"/>
              </a:lnSpc>
              <a:buNone/>
            </a:pPr>
            <a:r>
              <a:rPr lang="en-US" sz="680" dirty="0">
                <a:solidFill>
                  <a:srgbClr val="334155"/>
                </a:solidFill>
                <a:latin typeface="Arial" pitchFamily="34" charset="0"/>
                <a:ea typeface="Arial" pitchFamily="34" charset="-122"/>
                <a:cs typeface="Arial" pitchFamily="34" charset="-120"/>
              </a:rPr>
              <a:t>• Lập lịch chiếu (Check xung đột)</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Phân công KTV xử lý sự cố</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Nghiệm thu &amp; Đóng phiếu</a:t>
            </a:r>
            <a:endParaRPr lang="en-US" sz="680" dirty="0"/>
          </a:p>
        </p:txBody>
      </p:sp>
      <p:sp>
        <p:nvSpPr>
          <p:cNvPr id="19" name="Shape 17"/>
          <p:cNvSpPr/>
          <p:nvPr/>
        </p:nvSpPr>
        <p:spPr>
          <a:xfrm>
            <a:off x="457200" y="2907792"/>
            <a:ext cx="2011680" cy="1737360"/>
          </a:xfrm>
          <a:prstGeom prst="roundRect">
            <a:avLst>
              <a:gd name="adj" fmla="val 6316"/>
            </a:avLst>
          </a:prstGeom>
          <a:solidFill>
            <a:srgbClr val="FFFFFF"/>
          </a:solidFill>
          <a:ln w="19050">
            <a:solidFill>
              <a:srgbClr val="FF4757"/>
            </a:solidFill>
            <a:prstDash val="solid"/>
          </a:ln>
        </p:spPr>
      </p:sp>
      <p:sp>
        <p:nvSpPr>
          <p:cNvPr id="20" name="Shape 18"/>
          <p:cNvSpPr/>
          <p:nvPr/>
        </p:nvSpPr>
        <p:spPr>
          <a:xfrm>
            <a:off x="1234440" y="2999232"/>
            <a:ext cx="457200" cy="457200"/>
          </a:xfrm>
          <a:prstGeom prst="ellipse">
            <a:avLst/>
          </a:prstGeom>
          <a:solidFill>
            <a:srgbClr val="FFE4E6"/>
          </a:solidFill>
          <a:ln w="15240">
            <a:solidFill>
              <a:srgbClr val="FF4757"/>
            </a:solidFill>
            <a:prstDash val="solid"/>
          </a:ln>
        </p:spPr>
      </p:sp>
      <p:sp>
        <p:nvSpPr>
          <p:cNvPr id="21" name="Text 19"/>
          <p:cNvSpPr/>
          <p:nvPr/>
        </p:nvSpPr>
        <p:spPr>
          <a:xfrm>
            <a:off x="1234440" y="2999232"/>
            <a:ext cx="45720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2" name="Text 20"/>
          <p:cNvSpPr/>
          <p:nvPr/>
        </p:nvSpPr>
        <p:spPr>
          <a:xfrm>
            <a:off x="548640" y="3493008"/>
            <a:ext cx="1828800" cy="228600"/>
          </a:xfrm>
          <a:prstGeom prst="rect">
            <a:avLst/>
          </a:prstGeom>
          <a:noFill/>
          <a:ln/>
        </p:spPr>
        <p:txBody>
          <a:bodyPr wrap="square" rtlCol="0" anchor="ctr"/>
          <a:lstStyle/>
          <a:p>
            <a:pPr algn="ctr" indent="0" marL="0">
              <a:buNone/>
            </a:pPr>
            <a:r>
              <a:rPr lang="en-US" sz="750" b="1" dirty="0">
                <a:solidFill>
                  <a:srgbClr val="FF4757"/>
                </a:solidFill>
                <a:latin typeface="Arial" pitchFamily="34" charset="0"/>
                <a:ea typeface="Arial" pitchFamily="34" charset="-122"/>
                <a:cs typeface="Arial" pitchFamily="34" charset="-120"/>
              </a:rPr>
              <a:t>ACTOR: QUẢN TRỊ VIÊN (Admin)</a:t>
            </a:r>
            <a:endParaRPr lang="en-US" sz="750" dirty="0"/>
          </a:p>
        </p:txBody>
      </p:sp>
      <p:sp>
        <p:nvSpPr>
          <p:cNvPr id="23" name="Text 21"/>
          <p:cNvSpPr/>
          <p:nvPr/>
        </p:nvSpPr>
        <p:spPr>
          <a:xfrm>
            <a:off x="548640" y="3749040"/>
            <a:ext cx="1828800" cy="822960"/>
          </a:xfrm>
          <a:prstGeom prst="rect">
            <a:avLst/>
          </a:prstGeom>
          <a:noFill/>
          <a:ln/>
        </p:spPr>
        <p:txBody>
          <a:bodyPr wrap="square" rtlCol="0" anchor="ctr"/>
          <a:lstStyle/>
          <a:p>
            <a:pPr indent="0" marL="0">
              <a:lnSpc>
                <a:spcPct val="110000"/>
              </a:lnSpc>
              <a:buNone/>
            </a:pPr>
            <a:r>
              <a:rPr lang="en-US" sz="680" dirty="0">
                <a:solidFill>
                  <a:srgbClr val="334155"/>
                </a:solidFill>
                <a:latin typeface="Arial" pitchFamily="34" charset="0"/>
                <a:ea typeface="Arial" pitchFamily="34" charset="-122"/>
                <a:cs typeface="Arial" pitchFamily="34" charset="-120"/>
              </a:rPr>
              <a:t>• Quản lý Users &amp; Phân quyền RBAC</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Quản lý hạ tầng Phòng &amp; Thiết bị</a:t>
            </a:r>
            <a:endParaRPr lang="en-US" sz="680" dirty="0"/>
          </a:p>
          <a:p>
            <a:pPr indent="0" marL="0">
              <a:lnSpc>
                <a:spcPct val="110000"/>
              </a:lnSpc>
              <a:buNone/>
            </a:pPr>
            <a:r>
              <a:rPr lang="en-US" sz="680" dirty="0">
                <a:solidFill>
                  <a:srgbClr val="334155"/>
                </a:solidFill>
                <a:latin typeface="Arial" pitchFamily="34" charset="0"/>
                <a:ea typeface="Arial" pitchFamily="34" charset="-122"/>
                <a:cs typeface="Arial" pitchFamily="34" charset="-120"/>
              </a:rPr>
              <a:t>• Xem Dashboard &amp; Báo cáo tài chính</a:t>
            </a:r>
            <a:endParaRPr lang="en-US" sz="680" dirty="0"/>
          </a:p>
        </p:txBody>
      </p:sp>
      <p:sp>
        <p:nvSpPr>
          <p:cNvPr id="24" name="Shape 22"/>
          <p:cNvSpPr/>
          <p:nvPr/>
        </p:nvSpPr>
        <p:spPr>
          <a:xfrm>
            <a:off x="2651760" y="1051560"/>
            <a:ext cx="6035040" cy="3611880"/>
          </a:xfrm>
          <a:prstGeom prst="roundRect">
            <a:avLst>
              <a:gd name="adj" fmla="val 3797"/>
            </a:avLst>
          </a:prstGeom>
          <a:solidFill>
            <a:srgbClr val="FFFFFF"/>
          </a:solidFill>
          <a:ln w="19050">
            <a:solidFill>
              <a:srgbClr val="CBD5E1"/>
            </a:solidFill>
            <a:prstDash val="solid"/>
          </a:ln>
        </p:spPr>
      </p:sp>
      <p:sp>
        <p:nvSpPr>
          <p:cNvPr id="25" name="Shape 23"/>
          <p:cNvSpPr/>
          <p:nvPr/>
        </p:nvSpPr>
        <p:spPr>
          <a:xfrm>
            <a:off x="2788920" y="1143000"/>
            <a:ext cx="5760720" cy="274320"/>
          </a:xfrm>
          <a:prstGeom prst="roundRect">
            <a:avLst>
              <a:gd name="adj" fmla="val 26667"/>
            </a:avLst>
          </a:prstGeom>
          <a:solidFill>
            <a:srgbClr val="FEF9C3"/>
          </a:solidFill>
          <a:ln w="12700">
            <a:solidFill>
              <a:srgbClr val="F59E0B"/>
            </a:solidFill>
            <a:prstDash val="solid"/>
          </a:ln>
        </p:spPr>
      </p:sp>
      <p:sp>
        <p:nvSpPr>
          <p:cNvPr id="26" name="Text 24"/>
          <p:cNvSpPr/>
          <p:nvPr/>
        </p:nvSpPr>
        <p:spPr>
          <a:xfrm>
            <a:off x="2788920" y="1143000"/>
            <a:ext cx="5760720" cy="274320"/>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 CÁC USE CASE QUẢN LÝ RẠP, ĐIỀU PHỐI &amp; QUẢN TRỊ HỆ THỐNG</a:t>
            </a:r>
            <a:endParaRPr lang="en-US" sz="780" dirty="0"/>
          </a:p>
        </p:txBody>
      </p:sp>
      <p:sp>
        <p:nvSpPr>
          <p:cNvPr id="27" name="Shape 25"/>
          <p:cNvSpPr/>
          <p:nvPr/>
        </p:nvSpPr>
        <p:spPr>
          <a:xfrm>
            <a:off x="2834640" y="1536192"/>
            <a:ext cx="2651760" cy="621792"/>
          </a:xfrm>
          <a:prstGeom prst="ellipse">
            <a:avLst/>
          </a:prstGeom>
          <a:solidFill>
            <a:srgbClr val="FEF9C3"/>
          </a:solidFill>
          <a:ln w="15240">
            <a:solidFill>
              <a:srgbClr val="F59E0B"/>
            </a:solidFill>
            <a:prstDash val="solid"/>
          </a:ln>
        </p:spPr>
      </p:sp>
      <p:sp>
        <p:nvSpPr>
          <p:cNvPr id="28" name="Text 26"/>
          <p:cNvSpPr/>
          <p:nvPr/>
        </p:nvSpPr>
        <p:spPr>
          <a:xfrm>
            <a:off x="2926080" y="1536192"/>
            <a:ext cx="2468880" cy="621792"/>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UC09: Lập Lịch Chiếu (Check BR01)</a:t>
            </a:r>
            <a:endParaRPr lang="en-US" sz="720" dirty="0"/>
          </a:p>
        </p:txBody>
      </p:sp>
      <p:sp>
        <p:nvSpPr>
          <p:cNvPr id="29" name="Shape 27"/>
          <p:cNvSpPr/>
          <p:nvPr/>
        </p:nvSpPr>
        <p:spPr>
          <a:xfrm>
            <a:off x="2834640" y="2267712"/>
            <a:ext cx="2651760" cy="621792"/>
          </a:xfrm>
          <a:prstGeom prst="ellipse">
            <a:avLst/>
          </a:prstGeom>
          <a:solidFill>
            <a:srgbClr val="F3E8FF"/>
          </a:solidFill>
          <a:ln w="15240">
            <a:solidFill>
              <a:srgbClr val="8B5CF6"/>
            </a:solidFill>
            <a:prstDash val="solid"/>
          </a:ln>
        </p:spPr>
      </p:sp>
      <p:sp>
        <p:nvSpPr>
          <p:cNvPr id="30" name="Text 28"/>
          <p:cNvSpPr/>
          <p:nvPr/>
        </p:nvSpPr>
        <p:spPr>
          <a:xfrm>
            <a:off x="2926080" y="2267712"/>
            <a:ext cx="2468880" cy="621792"/>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UC10: Phân Công KTV Sửa Chữa</a:t>
            </a:r>
            <a:endParaRPr lang="en-US" sz="720" dirty="0"/>
          </a:p>
        </p:txBody>
      </p:sp>
      <p:sp>
        <p:nvSpPr>
          <p:cNvPr id="31" name="Shape 29"/>
          <p:cNvSpPr/>
          <p:nvPr/>
        </p:nvSpPr>
        <p:spPr>
          <a:xfrm>
            <a:off x="2834640" y="2999232"/>
            <a:ext cx="2651760" cy="621792"/>
          </a:xfrm>
          <a:prstGeom prst="ellipse">
            <a:avLst/>
          </a:prstGeom>
          <a:solidFill>
            <a:srgbClr val="DCFCE7"/>
          </a:solidFill>
          <a:ln w="15240">
            <a:solidFill>
              <a:srgbClr val="10B981"/>
            </a:solidFill>
            <a:prstDash val="solid"/>
          </a:ln>
        </p:spPr>
      </p:sp>
      <p:sp>
        <p:nvSpPr>
          <p:cNvPr id="32" name="Text 30"/>
          <p:cNvSpPr/>
          <p:nvPr/>
        </p:nvSpPr>
        <p:spPr>
          <a:xfrm>
            <a:off x="2926080" y="2999232"/>
            <a:ext cx="2468880" cy="621792"/>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UC11: Nghiệm Thu &amp; Đóng Sự Cố</a:t>
            </a:r>
            <a:endParaRPr lang="en-US" sz="720" dirty="0"/>
          </a:p>
        </p:txBody>
      </p:sp>
      <p:sp>
        <p:nvSpPr>
          <p:cNvPr id="33" name="Shape 31"/>
          <p:cNvSpPr/>
          <p:nvPr/>
        </p:nvSpPr>
        <p:spPr>
          <a:xfrm>
            <a:off x="5806440" y="1536192"/>
            <a:ext cx="2651760" cy="621792"/>
          </a:xfrm>
          <a:prstGeom prst="ellipse">
            <a:avLst/>
          </a:prstGeom>
          <a:solidFill>
            <a:srgbClr val="FFE4E6"/>
          </a:solidFill>
          <a:ln w="15240">
            <a:solidFill>
              <a:srgbClr val="FF4757"/>
            </a:solidFill>
            <a:prstDash val="solid"/>
          </a:ln>
        </p:spPr>
      </p:sp>
      <p:sp>
        <p:nvSpPr>
          <p:cNvPr id="34" name="Text 32"/>
          <p:cNvSpPr/>
          <p:nvPr/>
        </p:nvSpPr>
        <p:spPr>
          <a:xfrm>
            <a:off x="5897880" y="1536192"/>
            <a:ext cx="2468880" cy="621792"/>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&lt;&lt;include&gt;&gt; Check Ràng Buộc BR02/03</a:t>
            </a:r>
            <a:endParaRPr lang="en-US" sz="720" dirty="0"/>
          </a:p>
        </p:txBody>
      </p:sp>
      <p:sp>
        <p:nvSpPr>
          <p:cNvPr id="35" name="Shape 33"/>
          <p:cNvSpPr/>
          <p:nvPr/>
        </p:nvSpPr>
        <p:spPr>
          <a:xfrm>
            <a:off x="5806440" y="2267712"/>
            <a:ext cx="2651760" cy="621792"/>
          </a:xfrm>
          <a:prstGeom prst="ellipse">
            <a:avLst/>
          </a:prstGeom>
          <a:solidFill>
            <a:srgbClr val="E0F2FE"/>
          </a:solidFill>
          <a:ln w="15240">
            <a:solidFill>
              <a:srgbClr val="0EA5E9"/>
            </a:solidFill>
            <a:prstDash val="solid"/>
          </a:ln>
        </p:spPr>
      </p:sp>
      <p:sp>
        <p:nvSpPr>
          <p:cNvPr id="36" name="Text 34"/>
          <p:cNvSpPr/>
          <p:nvPr/>
        </p:nvSpPr>
        <p:spPr>
          <a:xfrm>
            <a:off x="5897880" y="2267712"/>
            <a:ext cx="2468880" cy="621792"/>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UC14: Quản Lý Người Dùng &amp; RBAC</a:t>
            </a:r>
            <a:endParaRPr lang="en-US" sz="720" dirty="0"/>
          </a:p>
        </p:txBody>
      </p:sp>
      <p:sp>
        <p:nvSpPr>
          <p:cNvPr id="37" name="Shape 35"/>
          <p:cNvSpPr/>
          <p:nvPr/>
        </p:nvSpPr>
        <p:spPr>
          <a:xfrm>
            <a:off x="5806440" y="2999232"/>
            <a:ext cx="2651760" cy="621792"/>
          </a:xfrm>
          <a:prstGeom prst="ellipse">
            <a:avLst/>
          </a:prstGeom>
          <a:solidFill>
            <a:srgbClr val="F3E8FF"/>
          </a:solidFill>
          <a:ln w="15240">
            <a:solidFill>
              <a:srgbClr val="6366F1"/>
            </a:solidFill>
            <a:prstDash val="solid"/>
          </a:ln>
        </p:spPr>
      </p:sp>
      <p:sp>
        <p:nvSpPr>
          <p:cNvPr id="38" name="Text 36"/>
          <p:cNvSpPr/>
          <p:nvPr/>
        </p:nvSpPr>
        <p:spPr>
          <a:xfrm>
            <a:off x="5897880" y="2999232"/>
            <a:ext cx="2468880" cy="621792"/>
          </a:xfrm>
          <a:prstGeom prst="rect">
            <a:avLst/>
          </a:prstGeom>
          <a:noFill/>
          <a:ln/>
        </p:spPr>
        <p:txBody>
          <a:bodyPr wrap="square" rtlCol="0" anchor="ctr"/>
          <a:lstStyle/>
          <a:p>
            <a:pPr algn="ctr" indent="0" marL="0">
              <a:buNone/>
            </a:pPr>
            <a:r>
              <a:rPr lang="en-US" sz="720" b="1" dirty="0">
                <a:solidFill>
                  <a:srgbClr val="6366F1"/>
                </a:solidFill>
                <a:latin typeface="Arial" pitchFamily="34" charset="0"/>
                <a:ea typeface="Arial" pitchFamily="34" charset="-122"/>
                <a:cs typeface="Arial" pitchFamily="34" charset="-120"/>
              </a:rPr>
              <a:t>UC16: Dashboard Thống Kê &amp; Doanh Thu</a:t>
            </a:r>
            <a:endParaRPr lang="en-US" sz="720" dirty="0"/>
          </a:p>
        </p:txBody>
      </p:sp>
      <p:sp>
        <p:nvSpPr>
          <p:cNvPr id="39" name="Shape 37"/>
          <p:cNvSpPr/>
          <p:nvPr/>
        </p:nvSpPr>
        <p:spPr>
          <a:xfrm>
            <a:off x="2834640" y="3730752"/>
            <a:ext cx="5669280" cy="804672"/>
          </a:xfrm>
          <a:prstGeom prst="roundRect">
            <a:avLst>
              <a:gd name="adj" fmla="val 9091"/>
            </a:avLst>
          </a:prstGeom>
          <a:solidFill>
            <a:srgbClr val="F8FAFC"/>
          </a:solidFill>
          <a:ln w="12700">
            <a:solidFill>
              <a:srgbClr val="CBD5E1"/>
            </a:solidFill>
            <a:prstDash val="solid"/>
          </a:ln>
        </p:spPr>
      </p:sp>
      <p:sp>
        <p:nvSpPr>
          <p:cNvPr id="40" name="Text 38"/>
          <p:cNvSpPr/>
          <p:nvPr/>
        </p:nvSpPr>
        <p:spPr>
          <a:xfrm>
            <a:off x="2971800" y="3767328"/>
            <a:ext cx="5394960" cy="731520"/>
          </a:xfrm>
          <a:prstGeom prst="rect">
            <a:avLst/>
          </a:prstGeom>
          <a:noFill/>
          <a:ln/>
        </p:spPr>
        <p:txBody>
          <a:bodyPr wrap="square" rtlCol="0" anchor="ctr"/>
          <a:lstStyle/>
          <a:p>
            <a:pPr indent="0" marL="0">
              <a:lnSpc>
                <a:spcPct val="110000"/>
              </a:lnSpc>
              <a:buNone/>
            </a:pPr>
            <a:r>
              <a:rPr lang="en-US" sz="680" b="1" dirty="0">
                <a:solidFill>
                  <a:srgbClr val="0F172A"/>
                </a:solidFill>
                <a:latin typeface="Arial" pitchFamily="34" charset="0"/>
                <a:ea typeface="Arial" pitchFamily="34" charset="-122"/>
                <a:cs typeface="Arial" pitchFamily="34" charset="-120"/>
              </a:rPr>
              <a:t>🔒 Ràng buộc nghiệp vụ quản trị:
</a:t>
            </a:r>
            <a:pPr indent="0" marL="0">
              <a:lnSpc>
                <a:spcPct val="110000"/>
              </a:lnSpc>
              <a:buNone/>
            </a:pPr>
            <a:r>
              <a:rPr lang="en-US" sz="680" b="1" dirty="0">
                <a:solidFill>
                  <a:srgbClr val="F59E0B"/>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BR01 - Tránh trùng lịch: </a:t>
            </a:r>
            <a:pPr indent="0" marL="0">
              <a:lnSpc>
                <a:spcPct val="110000"/>
              </a:lnSpc>
              <a:buNone/>
            </a:pPr>
            <a:r>
              <a:rPr lang="en-US" sz="680" dirty="0">
                <a:solidFill>
                  <a:srgbClr val="334155"/>
                </a:solidFill>
                <a:latin typeface="Arial" pitchFamily="34" charset="0"/>
                <a:ea typeface="Arial" pitchFamily="34" charset="-122"/>
                <a:cs typeface="Arial" pitchFamily="34" charset="-120"/>
              </a:rPr>
              <a:t>Tự động cộng thêm 15 phút dọn phòng vệ sinh; chặn hoàn toàn xung đột khung giờ.
</a:t>
            </a:r>
            <a:pPr indent="0" marL="0">
              <a:lnSpc>
                <a:spcPct val="110000"/>
              </a:lnSpc>
              <a:buNone/>
            </a:pPr>
            <a:r>
              <a:rPr lang="en-US" sz="680" b="1" dirty="0">
                <a:solidFill>
                  <a:srgbClr val="FF4757"/>
                </a:solidFill>
                <a:latin typeface="Arial" pitchFamily="34" charset="0"/>
                <a:ea typeface="Arial" pitchFamily="34" charset="-122"/>
                <a:cs typeface="Arial" pitchFamily="34" charset="-120"/>
              </a:rPr>
              <a:t>• </a:t>
            </a:r>
            <a:pPr indent="0" marL="0">
              <a:lnSpc>
                <a:spcPct val="110000"/>
              </a:lnSpc>
              <a:buNone/>
            </a:pPr>
            <a:r>
              <a:rPr lang="en-US" sz="680" b="1" dirty="0">
                <a:solidFill>
                  <a:srgbClr val="0F172A"/>
                </a:solidFill>
                <a:latin typeface="Arial" pitchFamily="34" charset="0"/>
                <a:ea typeface="Arial" pitchFamily="34" charset="-122"/>
                <a:cs typeface="Arial" pitchFamily="34" charset="-120"/>
              </a:rPr>
              <a:t>BR14 - Thẩm quyền đóng phiếu: </a:t>
            </a:r>
            <a:pPr indent="0" marL="0">
              <a:lnSpc>
                <a:spcPct val="110000"/>
              </a:lnSpc>
              <a:buNone/>
            </a:pPr>
            <a:r>
              <a:rPr lang="en-US" sz="680" dirty="0">
                <a:solidFill>
                  <a:srgbClr val="334155"/>
                </a:solidFill>
                <a:latin typeface="Arial" pitchFamily="34" charset="0"/>
                <a:ea typeface="Arial" pitchFamily="34" charset="-122"/>
                <a:cs typeface="Arial" pitchFamily="34" charset="-120"/>
              </a:rPr>
              <a:t>Chỉ Manager/Admin mới có quyền nghiệm thu và đóng sự cố sang trạng thái 'closed'.</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USE CASE</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7. ĐẶC TẢ CHI TIẾT CÁC USE CASE CỐT LÕI (USE CASE SPECIFICATIONS)</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1188720"/>
                <a:gridCol w="1645920"/>
                <a:gridCol w="2286000"/>
                <a:gridCol w="1463040"/>
              </a:tblGrid>
              <a:tr h="0">
                <a:tc>
                  <a:txBody>
                    <a:bodyPr/>
                    <a:lstStyle/>
                    <a:p>
                      <a:pPr indent="0" marL="0">
                        <a:buNone/>
                      </a:pPr>
                      <a:r>
                        <a:rPr lang="en-US" sz="750" b="1" dirty="0">
                          <a:solidFill>
                            <a:srgbClr val="0F172A"/>
                          </a:solidFill>
                        </a:rPr>
                        <a:t>Mã &amp; Tên Use Case</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Tác Nhân</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Tiền Điều Kiện</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Luồng Sự Kiện Chính (Main Flow)</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Hậu Điều Kiện</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50" b="1" dirty="0">
                          <a:solidFill>
                            <a:srgbClr val="FF4757"/>
                          </a:solidFill>
                        </a:rPr>
                        <a:t>UC-HOLD</a:t>
                      </a:r>
                      <a:endParaRPr lang="en-US" sz="750" dirty="0"/>
                    </a:p>
                    <a:p>
                      <a:pPr indent="0" marL="0">
                        <a:buNone/>
                      </a:pPr>
                      <a:r>
                        <a:rPr lang="en-US" sz="750" b="1" dirty="0">
                          <a:solidFill>
                            <a:srgbClr val="FF4757"/>
                          </a:solidFill>
                        </a:rPr>
                        <a:t>Chọn &amp; Khóa Giữ Ghế 10 Phút</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FF4757"/>
                          </a:solidFill>
                        </a:rPr>
                        <a:t>🍿 Khách Hàng (Customer)</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Khách đã chọn phim &amp; suất chiếu hợp lệ trong tương lai.</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1. Khách click chọn ghế.</a:t>
                      </a:r>
                      <a:endParaRPr lang="en-US" sz="750" dirty="0"/>
                    </a:p>
                    <a:p>
                      <a:pPr indent="0" marL="0">
                        <a:buNone/>
                      </a:pPr>
                      <a:r>
                        <a:rPr lang="en-US" sz="750" dirty="0">
                          <a:solidFill>
                            <a:srgbClr val="334155"/>
                          </a:solidFill>
                        </a:rPr>
                        <a:t>2. Server mở Transaction &amp; Row Lock (SELECT FOR UPDATE).</a:t>
                      </a:r>
                      <a:endParaRPr lang="en-US" sz="750" dirty="0"/>
                    </a:p>
                    <a:p>
                      <a:pPr indent="0" marL="0">
                        <a:buNone/>
                      </a:pPr>
                      <a:r>
                        <a:rPr lang="en-US" sz="750" dirty="0">
                          <a:solidFill>
                            <a:srgbClr val="334155"/>
                          </a:solidFill>
                        </a:rPr>
                        <a:t>3. Ghi nhận 'holding' + hạn 10 phút.</a:t>
                      </a:r>
                      <a:endParaRPr lang="en-US" sz="750" dirty="0"/>
                    </a:p>
                    <a:p>
                      <a:pPr indent="0" marL="0">
                        <a:buNone/>
                      </a:pPr>
                      <a:r>
                        <a:rPr lang="en-US" sz="750" dirty="0">
                          <a:solidFill>
                            <a:srgbClr val="334155"/>
                          </a:solidFill>
                        </a:rPr>
                        <a:t>4. Client kích hoạt đếm ngược 10:00.</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0F172A"/>
                          </a:solidFill>
                        </a:rPr>
                        <a:t>Ghế bị khóa với người khác (🔵). Tự động nhả nếu quá 10 phút.</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50" b="1" dirty="0">
                          <a:solidFill>
                            <a:srgbClr val="0EA5E9"/>
                          </a:solidFill>
                        </a:rPr>
                        <a:t>UC-CHK</a:t>
                      </a:r>
                      <a:endParaRPr lang="en-US" sz="750" dirty="0"/>
                    </a:p>
                    <a:p>
                      <a:pPr indent="0" marL="0">
                        <a:buNone/>
                      </a:pPr>
                      <a:r>
                        <a:rPr lang="en-US" sz="750" b="1" dirty="0">
                          <a:solidFill>
                            <a:srgbClr val="0EA5E9"/>
                          </a:solidFill>
                        </a:rPr>
                        <a:t>Kiểm Tra Phòng 9 Tiêu Chí</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0EA5E9"/>
                          </a:solidFill>
                        </a:rPr>
                        <a:t>📋 Nhân Viên (Staff)</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Nhân viên nhận ca trực, kiểm tra phòng trước giờ mở cửa.</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1. Staff mở Checklist 9 hạng mục.</a:t>
                      </a:r>
                      <a:endParaRPr lang="en-US" sz="750" dirty="0"/>
                    </a:p>
                    <a:p>
                      <a:pPr indent="0" marL="0">
                        <a:buNone/>
                      </a:pPr>
                      <a:r>
                        <a:rPr lang="en-US" sz="750" dirty="0">
                          <a:solidFill>
                            <a:srgbClr val="334155"/>
                          </a:solidFill>
                        </a:rPr>
                        <a:t>2. Đánh giá Pass / Fail từng mục.</a:t>
                      </a:r>
                      <a:endParaRPr lang="en-US" sz="750" dirty="0"/>
                    </a:p>
                    <a:p>
                      <a:pPr indent="0" marL="0">
                        <a:buNone/>
                      </a:pPr>
                      <a:r>
                        <a:rPr lang="en-US" sz="750" dirty="0">
                          <a:solidFill>
                            <a:srgbClr val="334155"/>
                          </a:solidFill>
                        </a:rPr>
                        <a:t>3. Nếu có mục Fail -&gt; Tự động sinh Incident.</a:t>
                      </a:r>
                      <a:endParaRPr lang="en-US" sz="750" dirty="0"/>
                    </a:p>
                    <a:p>
                      <a:pPr indent="0" marL="0">
                        <a:buNone/>
                      </a:pPr>
                      <a:r>
                        <a:rPr lang="en-US" sz="750" dirty="0">
                          <a:solidFill>
                            <a:srgbClr val="334155"/>
                          </a:solidFill>
                        </a:rPr>
                        <a:t>4. Lưu phiếu kiểm tra phòng.</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0F172A"/>
                          </a:solidFill>
                        </a:rPr>
                        <a:t>Bản ghi lưu vết đầy đủ. Manager nhận thông báo tức thì.</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50" b="1" dirty="0">
                          <a:solidFill>
                            <a:srgbClr val="8B5CF6"/>
                          </a:solidFill>
                        </a:rPr>
                        <a:t>UC-INC</a:t>
                      </a:r>
                      <a:endParaRPr lang="en-US" sz="750" dirty="0"/>
                    </a:p>
                    <a:p>
                      <a:pPr indent="0" marL="0">
                        <a:buNone/>
                      </a:pPr>
                      <a:r>
                        <a:rPr lang="en-US" sz="750" b="1" dirty="0">
                          <a:solidFill>
                            <a:srgbClr val="8B5CF6"/>
                          </a:solidFill>
                        </a:rPr>
                        <a:t>Phân Công &amp; Xử Lý Sự Cố</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8B5CF6"/>
                          </a:solidFill>
                        </a:rPr>
                        <a:t>👔 Manager &amp;</a:t>
                      </a:r>
                      <a:endParaRPr lang="en-US" sz="750" dirty="0"/>
                    </a:p>
                    <a:p>
                      <a:pPr indent="0" marL="0">
                        <a:buNone/>
                      </a:pPr>
                      <a:r>
                        <a:rPr lang="en-US" sz="750" b="1" dirty="0">
                          <a:solidFill>
                            <a:srgbClr val="8B5CF6"/>
                          </a:solidFill>
                        </a:rPr>
                        <a:t>🔧 Technician</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Hệ thống ghi nhận sự cố mới (status = 'new').</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1. Manager gán KTV phụ trách.</a:t>
                      </a:r>
                      <a:endParaRPr lang="en-US" sz="750" dirty="0"/>
                    </a:p>
                    <a:p>
                      <a:pPr indent="0" marL="0">
                        <a:buNone/>
                      </a:pPr>
                      <a:r>
                        <a:rPr lang="en-US" sz="750" dirty="0">
                          <a:solidFill>
                            <a:srgbClr val="334155"/>
                          </a:solidFill>
                        </a:rPr>
                        <a:t>2. KTV khảo sát &amp; sửa chữa thiết bị.</a:t>
                      </a:r>
                      <a:endParaRPr lang="en-US" sz="750" dirty="0"/>
                    </a:p>
                    <a:p>
                      <a:pPr indent="0" marL="0">
                        <a:buNone/>
                      </a:pPr>
                      <a:r>
                        <a:rPr lang="en-US" sz="750" dirty="0">
                          <a:solidFill>
                            <a:srgbClr val="334155"/>
                          </a:solidFill>
                        </a:rPr>
                        <a:t>3. KTV cập nhật linh kiện và chi phí.</a:t>
                      </a:r>
                      <a:endParaRPr lang="en-US" sz="750" dirty="0"/>
                    </a:p>
                    <a:p>
                      <a:pPr indent="0" marL="0">
                        <a:buNone/>
                      </a:pPr>
                      <a:r>
                        <a:rPr lang="en-US" sz="750" dirty="0">
                          <a:solidFill>
                            <a:srgbClr val="334155"/>
                          </a:solidFill>
                        </a:rPr>
                        <a:t>4. Manager nghiệm thu &amp; đóng sự cố.</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0F172A"/>
                          </a:solidFill>
                        </a:rPr>
                        <a:t>Sự cố chuyển 'closed'. Phòng &amp; thiết bị trở lại 'active'.</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HOẠT ĐỘNG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8. ACTIVITY DIAGRAM: QUY TRÌNH ĐẶT VÉ &amp; KHÓA GIỮ GHẾ 10 PHÚT</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1536192" cy="2697480"/>
          </a:xfrm>
          <a:prstGeom prst="roundRect">
            <a:avLst>
              <a:gd name="adj" fmla="val 8929"/>
            </a:avLst>
          </a:prstGeom>
          <a:solidFill>
            <a:srgbClr val="FFFFFF"/>
          </a:solidFill>
          <a:ln w="19050">
            <a:solidFill>
              <a:srgbClr val="0EA5E9"/>
            </a:solidFill>
            <a:prstDash val="solid"/>
          </a:ln>
        </p:spPr>
      </p:sp>
      <p:sp>
        <p:nvSpPr>
          <p:cNvPr id="15" name="Shape 13"/>
          <p:cNvSpPr/>
          <p:nvPr/>
        </p:nvSpPr>
        <p:spPr>
          <a:xfrm>
            <a:off x="548640" y="1143000"/>
            <a:ext cx="1353312" cy="347472"/>
          </a:xfrm>
          <a:prstGeom prst="roundRect">
            <a:avLst>
              <a:gd name="adj" fmla="val 26316"/>
            </a:avLst>
          </a:prstGeom>
          <a:solidFill>
            <a:srgbClr val="E0F2FE"/>
          </a:solidFill>
          <a:ln w="12700">
            <a:solidFill>
              <a:srgbClr val="0EA5E9"/>
            </a:solidFill>
            <a:prstDash val="solid"/>
          </a:ln>
        </p:spPr>
      </p:sp>
      <p:sp>
        <p:nvSpPr>
          <p:cNvPr id="16" name="Text 14"/>
          <p:cNvSpPr/>
          <p:nvPr/>
        </p:nvSpPr>
        <p:spPr>
          <a:xfrm>
            <a:off x="548640" y="1143000"/>
            <a:ext cx="1353312" cy="347472"/>
          </a:xfrm>
          <a:prstGeom prst="rect">
            <a:avLst/>
          </a:prstGeom>
          <a:noFill/>
          <a:ln/>
        </p:spPr>
        <p:txBody>
          <a:bodyPr wrap="square"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BƯỚC 01</a:t>
            </a:r>
            <a:endParaRPr lang="en-US" sz="900" dirty="0"/>
          </a:p>
        </p:txBody>
      </p:sp>
      <p:sp>
        <p:nvSpPr>
          <p:cNvPr id="17" name="Text 15"/>
          <p:cNvSpPr/>
          <p:nvPr/>
        </p:nvSpPr>
        <p:spPr>
          <a:xfrm>
            <a:off x="530352" y="1554480"/>
            <a:ext cx="1389888" cy="41148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Duyệt &amp; Chọn Suất</a:t>
            </a:r>
            <a:endParaRPr lang="en-US" sz="850" dirty="0"/>
          </a:p>
        </p:txBody>
      </p:sp>
      <p:sp>
        <p:nvSpPr>
          <p:cNvPr id="18" name="Text 16"/>
          <p:cNvSpPr/>
          <p:nvPr/>
        </p:nvSpPr>
        <p:spPr>
          <a:xfrm>
            <a:off x="530352"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Khách chọn Phim, Rạp, Ngày &amp; Khung giờ phù hợp trên giao diện</a:t>
            </a:r>
            <a:endParaRPr lang="en-US" sz="720" dirty="0"/>
          </a:p>
        </p:txBody>
      </p:sp>
      <p:sp>
        <p:nvSpPr>
          <p:cNvPr id="19" name="Shape 17"/>
          <p:cNvSpPr/>
          <p:nvPr/>
        </p:nvSpPr>
        <p:spPr>
          <a:xfrm>
            <a:off x="2130552" y="1051560"/>
            <a:ext cx="1536192" cy="2697480"/>
          </a:xfrm>
          <a:prstGeom prst="roundRect">
            <a:avLst>
              <a:gd name="adj" fmla="val 8929"/>
            </a:avLst>
          </a:prstGeom>
          <a:solidFill>
            <a:srgbClr val="FFFFFF"/>
          </a:solidFill>
          <a:ln w="19050">
            <a:solidFill>
              <a:srgbClr val="0EA5E9"/>
            </a:solidFill>
            <a:prstDash val="solid"/>
          </a:ln>
        </p:spPr>
      </p:sp>
      <p:sp>
        <p:nvSpPr>
          <p:cNvPr id="20" name="Shape 18"/>
          <p:cNvSpPr/>
          <p:nvPr/>
        </p:nvSpPr>
        <p:spPr>
          <a:xfrm>
            <a:off x="2221992" y="1143000"/>
            <a:ext cx="1353312" cy="347472"/>
          </a:xfrm>
          <a:prstGeom prst="roundRect">
            <a:avLst>
              <a:gd name="adj" fmla="val 26316"/>
            </a:avLst>
          </a:prstGeom>
          <a:solidFill>
            <a:srgbClr val="E0F2FE"/>
          </a:solidFill>
          <a:ln w="12700">
            <a:solidFill>
              <a:srgbClr val="0EA5E9"/>
            </a:solidFill>
            <a:prstDash val="solid"/>
          </a:ln>
        </p:spPr>
      </p:sp>
      <p:sp>
        <p:nvSpPr>
          <p:cNvPr id="21" name="Text 19"/>
          <p:cNvSpPr/>
          <p:nvPr/>
        </p:nvSpPr>
        <p:spPr>
          <a:xfrm>
            <a:off x="2221992" y="1143000"/>
            <a:ext cx="1353312" cy="347472"/>
          </a:xfrm>
          <a:prstGeom prst="rect">
            <a:avLst/>
          </a:prstGeom>
          <a:noFill/>
          <a:ln/>
        </p:spPr>
        <p:txBody>
          <a:bodyPr wrap="square"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BƯỚC 02</a:t>
            </a:r>
            <a:endParaRPr lang="en-US" sz="900" dirty="0"/>
          </a:p>
        </p:txBody>
      </p:sp>
      <p:sp>
        <p:nvSpPr>
          <p:cNvPr id="22" name="Text 20"/>
          <p:cNvSpPr/>
          <p:nvPr/>
        </p:nvSpPr>
        <p:spPr>
          <a:xfrm>
            <a:off x="2203704" y="1554480"/>
            <a:ext cx="1389888" cy="41148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Tải Sơ Đồ Ghế</a:t>
            </a:r>
            <a:endParaRPr lang="en-US" sz="850" dirty="0"/>
          </a:p>
        </p:txBody>
      </p:sp>
      <p:sp>
        <p:nvSpPr>
          <p:cNvPr id="23" name="Text 21"/>
          <p:cNvSpPr/>
          <p:nvPr/>
        </p:nvSpPr>
        <p:spPr>
          <a:xfrm>
            <a:off x="2203704"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Tải sơ đồ ghế thời gian thực (🟢 Trống, 🔵 Đang giữ, 🔴 Đã bán)</a:t>
            </a:r>
            <a:endParaRPr lang="en-US" sz="720" dirty="0"/>
          </a:p>
        </p:txBody>
      </p:sp>
      <p:sp>
        <p:nvSpPr>
          <p:cNvPr id="24" name="Shape 22"/>
          <p:cNvSpPr/>
          <p:nvPr/>
        </p:nvSpPr>
        <p:spPr>
          <a:xfrm>
            <a:off x="3803904" y="1051560"/>
            <a:ext cx="1536192" cy="2697480"/>
          </a:xfrm>
          <a:prstGeom prst="roundRect">
            <a:avLst>
              <a:gd name="adj" fmla="val 8929"/>
            </a:avLst>
          </a:prstGeom>
          <a:solidFill>
            <a:srgbClr val="FFFFFF"/>
          </a:solidFill>
          <a:ln w="19050">
            <a:solidFill>
              <a:srgbClr val="F59E0B"/>
            </a:solidFill>
            <a:prstDash val="solid"/>
          </a:ln>
        </p:spPr>
      </p:sp>
      <p:sp>
        <p:nvSpPr>
          <p:cNvPr id="25" name="Shape 23"/>
          <p:cNvSpPr/>
          <p:nvPr/>
        </p:nvSpPr>
        <p:spPr>
          <a:xfrm>
            <a:off x="3895344" y="1143000"/>
            <a:ext cx="1353312" cy="347472"/>
          </a:xfrm>
          <a:prstGeom prst="roundRect">
            <a:avLst>
              <a:gd name="adj" fmla="val 26316"/>
            </a:avLst>
          </a:prstGeom>
          <a:solidFill>
            <a:srgbClr val="FEF9C3"/>
          </a:solidFill>
          <a:ln w="12700">
            <a:solidFill>
              <a:srgbClr val="F59E0B"/>
            </a:solidFill>
            <a:prstDash val="solid"/>
          </a:ln>
        </p:spPr>
      </p:sp>
      <p:sp>
        <p:nvSpPr>
          <p:cNvPr id="26" name="Text 24"/>
          <p:cNvSpPr/>
          <p:nvPr/>
        </p:nvSpPr>
        <p:spPr>
          <a:xfrm>
            <a:off x="3895344" y="1143000"/>
            <a:ext cx="1353312" cy="347472"/>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BƯỚC 03</a:t>
            </a:r>
            <a:endParaRPr lang="en-US" sz="900" dirty="0"/>
          </a:p>
        </p:txBody>
      </p:sp>
      <p:sp>
        <p:nvSpPr>
          <p:cNvPr id="27" name="Text 25"/>
          <p:cNvSpPr/>
          <p:nvPr/>
        </p:nvSpPr>
        <p:spPr>
          <a:xfrm>
            <a:off x="3877056" y="1554480"/>
            <a:ext cx="1389888" cy="41148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Khóa Ghế 10 Phút</a:t>
            </a:r>
            <a:endParaRPr lang="en-US" sz="850" dirty="0"/>
          </a:p>
        </p:txBody>
      </p:sp>
      <p:sp>
        <p:nvSpPr>
          <p:cNvPr id="28" name="Text 26"/>
          <p:cNvSpPr/>
          <p:nvPr/>
        </p:nvSpPr>
        <p:spPr>
          <a:xfrm>
            <a:off x="3877056"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Gửi API giữ ghế -&gt; Backend mở Transaction Lock -&gt; Ghi nhận 🔵 Đang Giữ</a:t>
            </a:r>
            <a:endParaRPr lang="en-US" sz="720" dirty="0"/>
          </a:p>
        </p:txBody>
      </p:sp>
      <p:sp>
        <p:nvSpPr>
          <p:cNvPr id="29" name="Shape 27"/>
          <p:cNvSpPr/>
          <p:nvPr/>
        </p:nvSpPr>
        <p:spPr>
          <a:xfrm>
            <a:off x="5477256" y="1051560"/>
            <a:ext cx="1536192" cy="2697480"/>
          </a:xfrm>
          <a:prstGeom prst="roundRect">
            <a:avLst>
              <a:gd name="adj" fmla="val 8929"/>
            </a:avLst>
          </a:prstGeom>
          <a:solidFill>
            <a:srgbClr val="FFFFFF"/>
          </a:solidFill>
          <a:ln w="19050">
            <a:solidFill>
              <a:srgbClr val="8B5CF6"/>
            </a:solidFill>
            <a:prstDash val="solid"/>
          </a:ln>
        </p:spPr>
      </p:sp>
      <p:sp>
        <p:nvSpPr>
          <p:cNvPr id="30" name="Shape 28"/>
          <p:cNvSpPr/>
          <p:nvPr/>
        </p:nvSpPr>
        <p:spPr>
          <a:xfrm>
            <a:off x="5568696" y="1143000"/>
            <a:ext cx="1353312" cy="347472"/>
          </a:xfrm>
          <a:prstGeom prst="roundRect">
            <a:avLst>
              <a:gd name="adj" fmla="val 26316"/>
            </a:avLst>
          </a:prstGeom>
          <a:solidFill>
            <a:srgbClr val="F3E8FF"/>
          </a:solidFill>
          <a:ln w="12700">
            <a:solidFill>
              <a:srgbClr val="8B5CF6"/>
            </a:solidFill>
            <a:prstDash val="solid"/>
          </a:ln>
        </p:spPr>
      </p:sp>
      <p:sp>
        <p:nvSpPr>
          <p:cNvPr id="31" name="Text 29"/>
          <p:cNvSpPr/>
          <p:nvPr/>
        </p:nvSpPr>
        <p:spPr>
          <a:xfrm>
            <a:off x="5568696" y="1143000"/>
            <a:ext cx="1353312" cy="347472"/>
          </a:xfrm>
          <a:prstGeom prst="rect">
            <a:avLst/>
          </a:prstGeom>
          <a:noFill/>
          <a:ln/>
        </p:spPr>
        <p:txBody>
          <a:bodyPr wrap="square" rtlCol="0" anchor="ctr"/>
          <a:lstStyle/>
          <a:p>
            <a:pPr algn="ctr" indent="0" marL="0">
              <a:buNone/>
            </a:pPr>
            <a:r>
              <a:rPr lang="en-US" sz="900" b="1" dirty="0">
                <a:solidFill>
                  <a:srgbClr val="8B5CF6"/>
                </a:solidFill>
                <a:latin typeface="Arial" pitchFamily="34" charset="0"/>
                <a:ea typeface="Arial" pitchFamily="34" charset="-122"/>
                <a:cs typeface="Arial" pitchFamily="34" charset="-120"/>
              </a:rPr>
              <a:t>BƯỚC 04</a:t>
            </a:r>
            <a:endParaRPr lang="en-US" sz="900" dirty="0"/>
          </a:p>
        </p:txBody>
      </p:sp>
      <p:sp>
        <p:nvSpPr>
          <p:cNvPr id="32" name="Text 30"/>
          <p:cNvSpPr/>
          <p:nvPr/>
        </p:nvSpPr>
        <p:spPr>
          <a:xfrm>
            <a:off x="5550408" y="1554480"/>
            <a:ext cx="1389888" cy="41148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Đếm Ngược 10:00</a:t>
            </a:r>
            <a:endParaRPr lang="en-US" sz="850" dirty="0"/>
          </a:p>
        </p:txBody>
      </p:sp>
      <p:sp>
        <p:nvSpPr>
          <p:cNvPr id="33" name="Text 31"/>
          <p:cNvSpPr/>
          <p:nvPr/>
        </p:nvSpPr>
        <p:spPr>
          <a:xfrm>
            <a:off x="5550408"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Đồng hồ đếm ngược 10:00 bật. Khách chọn hình thức thanh toán</a:t>
            </a:r>
            <a:endParaRPr lang="en-US" sz="720" dirty="0"/>
          </a:p>
        </p:txBody>
      </p:sp>
      <p:sp>
        <p:nvSpPr>
          <p:cNvPr id="34" name="Shape 32"/>
          <p:cNvSpPr/>
          <p:nvPr/>
        </p:nvSpPr>
        <p:spPr>
          <a:xfrm>
            <a:off x="7150608" y="1051560"/>
            <a:ext cx="1536192" cy="2697480"/>
          </a:xfrm>
          <a:prstGeom prst="roundRect">
            <a:avLst>
              <a:gd name="adj" fmla="val 8929"/>
            </a:avLst>
          </a:prstGeom>
          <a:solidFill>
            <a:srgbClr val="FFFFFF"/>
          </a:solidFill>
          <a:ln w="19050">
            <a:solidFill>
              <a:srgbClr val="10B981"/>
            </a:solidFill>
            <a:prstDash val="solid"/>
          </a:ln>
        </p:spPr>
      </p:sp>
      <p:sp>
        <p:nvSpPr>
          <p:cNvPr id="35" name="Shape 33"/>
          <p:cNvSpPr/>
          <p:nvPr/>
        </p:nvSpPr>
        <p:spPr>
          <a:xfrm>
            <a:off x="7242048" y="1143000"/>
            <a:ext cx="1353312" cy="347472"/>
          </a:xfrm>
          <a:prstGeom prst="roundRect">
            <a:avLst>
              <a:gd name="adj" fmla="val 26316"/>
            </a:avLst>
          </a:prstGeom>
          <a:solidFill>
            <a:srgbClr val="DCFCE7"/>
          </a:solidFill>
          <a:ln w="12700">
            <a:solidFill>
              <a:srgbClr val="10B981"/>
            </a:solidFill>
            <a:prstDash val="solid"/>
          </a:ln>
        </p:spPr>
      </p:sp>
      <p:sp>
        <p:nvSpPr>
          <p:cNvPr id="36" name="Text 34"/>
          <p:cNvSpPr/>
          <p:nvPr/>
        </p:nvSpPr>
        <p:spPr>
          <a:xfrm>
            <a:off x="7242048" y="1143000"/>
            <a:ext cx="1353312" cy="347472"/>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BƯỚC 05</a:t>
            </a:r>
            <a:endParaRPr lang="en-US" sz="900" dirty="0"/>
          </a:p>
        </p:txBody>
      </p:sp>
      <p:sp>
        <p:nvSpPr>
          <p:cNvPr id="37" name="Text 35"/>
          <p:cNvSpPr/>
          <p:nvPr/>
        </p:nvSpPr>
        <p:spPr>
          <a:xfrm>
            <a:off x="7223760" y="1554480"/>
            <a:ext cx="1389888" cy="411480"/>
          </a:xfrm>
          <a:prstGeom prst="rect">
            <a:avLst/>
          </a:prstGeom>
          <a:noFill/>
          <a:ln/>
        </p:spPr>
        <p:txBody>
          <a:bodyPr wrap="square" rtlCol="0" anchor="ctr"/>
          <a:lstStyle/>
          <a:p>
            <a:pPr algn="ctr" indent="0" marL="0">
              <a:buNone/>
            </a:pPr>
            <a:r>
              <a:rPr lang="en-US" sz="850" b="1" dirty="0">
                <a:solidFill>
                  <a:srgbClr val="0F172A"/>
                </a:solidFill>
                <a:latin typeface="Arial" pitchFamily="34" charset="0"/>
                <a:ea typeface="Arial" pitchFamily="34" charset="-122"/>
                <a:cs typeface="Arial" pitchFamily="34" charset="-120"/>
              </a:rPr>
              <a:t>Thanh Toán &amp; Vé QR</a:t>
            </a:r>
            <a:endParaRPr lang="en-US" sz="850" dirty="0"/>
          </a:p>
        </p:txBody>
      </p:sp>
      <p:sp>
        <p:nvSpPr>
          <p:cNvPr id="38" name="Text 36"/>
          <p:cNvSpPr/>
          <p:nvPr/>
        </p:nvSpPr>
        <p:spPr>
          <a:xfrm>
            <a:off x="7223760"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Thành công -&gt; Chuyển 🔴 Đã Đặt, sinh mã vé TCK &amp; hiển thị QR Code</a:t>
            </a:r>
            <a:endParaRPr lang="en-US" sz="720" dirty="0"/>
          </a:p>
        </p:txBody>
      </p:sp>
      <p:sp>
        <p:nvSpPr>
          <p:cNvPr id="39" name="Shape 37"/>
          <p:cNvSpPr/>
          <p:nvPr/>
        </p:nvSpPr>
        <p:spPr>
          <a:xfrm>
            <a:off x="457200" y="3886200"/>
            <a:ext cx="8229600" cy="777240"/>
          </a:xfrm>
          <a:prstGeom prst="roundRect">
            <a:avLst>
              <a:gd name="adj" fmla="val 14118"/>
            </a:avLst>
          </a:prstGeom>
          <a:solidFill>
            <a:srgbClr val="FFFFFF"/>
          </a:solidFill>
          <a:ln w="15240">
            <a:solidFill>
              <a:srgbClr val="FF4757"/>
            </a:solidFill>
            <a:prstDash val="solid"/>
          </a:ln>
        </p:spPr>
      </p:sp>
      <p:sp>
        <p:nvSpPr>
          <p:cNvPr id="40" name="Shape 38"/>
          <p:cNvSpPr/>
          <p:nvPr/>
        </p:nvSpPr>
        <p:spPr>
          <a:xfrm>
            <a:off x="594360" y="3959352"/>
            <a:ext cx="3200400" cy="228600"/>
          </a:xfrm>
          <a:prstGeom prst="roundRect">
            <a:avLst>
              <a:gd name="adj" fmla="val 32000"/>
            </a:avLst>
          </a:prstGeom>
          <a:solidFill>
            <a:srgbClr val="FFE4E6"/>
          </a:solidFill>
          <a:ln w="12700">
            <a:solidFill>
              <a:srgbClr val="FF4757"/>
            </a:solidFill>
            <a:prstDash val="solid"/>
          </a:ln>
        </p:spPr>
      </p:sp>
      <p:sp>
        <p:nvSpPr>
          <p:cNvPr id="41" name="Text 39"/>
          <p:cNvSpPr/>
          <p:nvPr/>
        </p:nvSpPr>
        <p:spPr>
          <a:xfrm>
            <a:off x="594360" y="3959352"/>
            <a:ext cx="3200400" cy="228600"/>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 NẾU QUÁ 10 PHÚT CHƯA THANH TOÁN THÌ SAO?</a:t>
            </a:r>
            <a:endParaRPr lang="en-US" sz="720" dirty="0"/>
          </a:p>
        </p:txBody>
      </p:sp>
      <p:sp>
        <p:nvSpPr>
          <p:cNvPr id="42" name="Text 40"/>
          <p:cNvSpPr/>
          <p:nvPr/>
        </p:nvSpPr>
        <p:spPr>
          <a:xfrm>
            <a:off x="594360" y="4224528"/>
            <a:ext cx="7955280" cy="38404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 Background Cleanup Worker quét ngầm mỗi 30s sẽ tự động đổi trạng thái ghế sang 'released' -&gt; Mở lại trạng thái Trống (🟢) cho các khách hàng khác đặt vé ngay tức khắc mà không bị kẹt ghế!</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HOẠT ĐỘNG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9. ACTIVITY DIAGRAM: KIỂM TRA PHÒNG &amp; VÒNG ĐỜI SỰ CỐ (3 LÀN)</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3611880"/>
          </a:xfrm>
          <a:prstGeom prst="roundRect">
            <a:avLst>
              <a:gd name="adj" fmla="val 5245"/>
            </a:avLst>
          </a:prstGeom>
          <a:solidFill>
            <a:srgbClr val="FFFFFF"/>
          </a:solidFill>
          <a:ln w="19050">
            <a:solidFill>
              <a:srgbClr val="0EA5E9"/>
            </a:solidFill>
            <a:prstDash val="solid"/>
          </a:ln>
        </p:spPr>
      </p:sp>
      <p:sp>
        <p:nvSpPr>
          <p:cNvPr id="15" name="Shape 13"/>
          <p:cNvSpPr/>
          <p:nvPr/>
        </p:nvSpPr>
        <p:spPr>
          <a:xfrm>
            <a:off x="548640" y="1143000"/>
            <a:ext cx="2432304" cy="292608"/>
          </a:xfrm>
          <a:prstGeom prst="roundRect">
            <a:avLst>
              <a:gd name="adj" fmla="val 25000"/>
            </a:avLst>
          </a:prstGeom>
          <a:solidFill>
            <a:srgbClr val="E0F2FE"/>
          </a:solidFill>
          <a:ln w="12700">
            <a:solidFill>
              <a:srgbClr val="0EA5E9"/>
            </a:solidFill>
            <a:prstDash val="solid"/>
          </a:ln>
        </p:spPr>
      </p:sp>
      <p:sp>
        <p:nvSpPr>
          <p:cNvPr id="16" name="Text 14"/>
          <p:cNvSpPr/>
          <p:nvPr/>
        </p:nvSpPr>
        <p:spPr>
          <a:xfrm>
            <a:off x="548640" y="1143000"/>
            <a:ext cx="2432304" cy="292608"/>
          </a:xfrm>
          <a:prstGeom prst="rect">
            <a:avLst/>
          </a:prstGeom>
          <a:noFill/>
          <a:ln/>
        </p:spPr>
        <p:txBody>
          <a:bodyPr wrap="square" rtlCol="0" anchor="ctr"/>
          <a:lstStyle/>
          <a:p>
            <a:pPr algn="ctr" indent="0" marL="0">
              <a:buNone/>
            </a:pPr>
            <a:r>
              <a:rPr lang="en-US" sz="800" b="1" dirty="0">
                <a:solidFill>
                  <a:srgbClr val="0EA5E9"/>
                </a:solidFill>
                <a:latin typeface="Arial" pitchFamily="34" charset="0"/>
                <a:ea typeface="Arial" pitchFamily="34" charset="-122"/>
                <a:cs typeface="Arial" pitchFamily="34" charset="-120"/>
              </a:rPr>
              <a:t>📋 LÀN 1: NHÂN VIÊN (STAFF)</a:t>
            </a:r>
            <a:endParaRPr lang="en-US" sz="800" dirty="0"/>
          </a:p>
        </p:txBody>
      </p:sp>
      <p:sp>
        <p:nvSpPr>
          <p:cNvPr id="17" name="Text 15"/>
          <p:cNvSpPr/>
          <p:nvPr/>
        </p:nvSpPr>
        <p:spPr>
          <a:xfrm>
            <a:off x="594360" y="1508760"/>
            <a:ext cx="2340864" cy="306324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1. Bắt đầu ca trực tại phòng chiếu
</a:t>
            </a:r>
            <a:pPr indent="0" marL="0">
              <a:lnSpc>
                <a:spcPct val="110000"/>
              </a:lnSpc>
              <a:buNone/>
            </a:pPr>
            <a:r>
              <a:rPr lang="en-US" sz="720" dirty="0">
                <a:solidFill>
                  <a:srgbClr val="334155"/>
                </a:solidFill>
                <a:latin typeface="Arial" pitchFamily="34" charset="0"/>
                <a:ea typeface="Arial" pitchFamily="34" charset="-122"/>
                <a:cs typeface="Arial" pitchFamily="34" charset="-120"/>
              </a:rPr>
              <a:t>2. Mở Daily Checklist 9 hạng mục:
  (Máy chiếu, Âm thanh, Điều hòa, Ghế ngồi, Đèn, Màn chiếu, Thoát hiểm, Vệ sinh, PCCC)
</a:t>
            </a:r>
            <a:pPr indent="0" marL="0">
              <a:lnSpc>
                <a:spcPct val="110000"/>
              </a:lnSpc>
              <a:buNone/>
            </a:pPr>
            <a:r>
              <a:rPr lang="en-US" sz="720" dirty="0">
                <a:solidFill>
                  <a:srgbClr val="334155"/>
                </a:solidFill>
                <a:latin typeface="Arial" pitchFamily="34" charset="0"/>
                <a:ea typeface="Arial" pitchFamily="34" charset="-122"/>
                <a:cs typeface="Arial" pitchFamily="34" charset="-120"/>
              </a:rPr>
              <a:t>3. Đánh giá từng mục: Pass / Fail
</a:t>
            </a:r>
            <a:pPr indent="0" marL="0">
              <a:lnSpc>
                <a:spcPct val="110000"/>
              </a:lnSpc>
              <a:buNone/>
            </a:pPr>
            <a:r>
              <a:rPr lang="en-US" sz="720" dirty="0">
                <a:solidFill>
                  <a:srgbClr val="334155"/>
                </a:solidFill>
                <a:latin typeface="Arial" pitchFamily="34" charset="0"/>
                <a:ea typeface="Arial" pitchFamily="34" charset="-122"/>
                <a:cs typeface="Arial" pitchFamily="34" charset="-120"/>
              </a:rPr>
              <a:t>4. Nếu có mục Fail -&gt; Tự động tạo Báo cáo sự cố (Incident)
</a:t>
            </a:r>
            <a:pPr indent="0" marL="0">
              <a:lnSpc>
                <a:spcPct val="110000"/>
              </a:lnSpc>
              <a:buNone/>
            </a:pPr>
            <a:r>
              <a:rPr lang="en-US" sz="720" dirty="0">
                <a:solidFill>
                  <a:srgbClr val="334155"/>
                </a:solidFill>
                <a:latin typeface="Arial" pitchFamily="34" charset="0"/>
                <a:ea typeface="Arial" pitchFamily="34" charset="-122"/>
                <a:cs typeface="Arial" pitchFamily="34" charset="-120"/>
              </a:rPr>
              <a:t>5. Lưu kết quả kiểm tra phòng
</a:t>
            </a:r>
            <a:endParaRPr lang="en-US" sz="720" dirty="0"/>
          </a:p>
        </p:txBody>
      </p:sp>
      <p:sp>
        <p:nvSpPr>
          <p:cNvPr id="18" name="Shape 16"/>
          <p:cNvSpPr/>
          <p:nvPr/>
        </p:nvSpPr>
        <p:spPr>
          <a:xfrm>
            <a:off x="3255264" y="1051560"/>
            <a:ext cx="2615184" cy="3611880"/>
          </a:xfrm>
          <a:prstGeom prst="roundRect">
            <a:avLst>
              <a:gd name="adj" fmla="val 5245"/>
            </a:avLst>
          </a:prstGeom>
          <a:solidFill>
            <a:srgbClr val="FFFFFF"/>
          </a:solidFill>
          <a:ln w="19050">
            <a:solidFill>
              <a:srgbClr val="F59E0B"/>
            </a:solidFill>
            <a:prstDash val="solid"/>
          </a:ln>
        </p:spPr>
      </p:sp>
      <p:sp>
        <p:nvSpPr>
          <p:cNvPr id="19" name="Shape 17"/>
          <p:cNvSpPr/>
          <p:nvPr/>
        </p:nvSpPr>
        <p:spPr>
          <a:xfrm>
            <a:off x="3346704" y="1143000"/>
            <a:ext cx="2432304" cy="292608"/>
          </a:xfrm>
          <a:prstGeom prst="roundRect">
            <a:avLst>
              <a:gd name="adj" fmla="val 25000"/>
            </a:avLst>
          </a:prstGeom>
          <a:solidFill>
            <a:srgbClr val="FEF9C3"/>
          </a:solidFill>
          <a:ln w="12700">
            <a:solidFill>
              <a:srgbClr val="F59E0B"/>
            </a:solidFill>
            <a:prstDash val="solid"/>
          </a:ln>
        </p:spPr>
      </p:sp>
      <p:sp>
        <p:nvSpPr>
          <p:cNvPr id="20" name="Text 18"/>
          <p:cNvSpPr/>
          <p:nvPr/>
        </p:nvSpPr>
        <p:spPr>
          <a:xfrm>
            <a:off x="3346704" y="1143000"/>
            <a:ext cx="2432304" cy="292608"/>
          </a:xfrm>
          <a:prstGeom prst="rect">
            <a:avLst/>
          </a:prstGeom>
          <a:noFill/>
          <a:ln/>
        </p:spPr>
        <p:txBody>
          <a:bodyPr wrap="square" rtlCol="0" anchor="ctr"/>
          <a:lstStyle/>
          <a:p>
            <a:pPr algn="ctr" indent="0" marL="0">
              <a:buNone/>
            </a:pPr>
            <a:r>
              <a:rPr lang="en-US" sz="800" b="1" dirty="0">
                <a:solidFill>
                  <a:srgbClr val="F59E0B"/>
                </a:solidFill>
                <a:latin typeface="Arial" pitchFamily="34" charset="0"/>
                <a:ea typeface="Arial" pitchFamily="34" charset="-122"/>
                <a:cs typeface="Arial" pitchFamily="34" charset="-120"/>
              </a:rPr>
              <a:t>👔 LÀN 2: QUẢN LÝ RẠP (MANAGER)</a:t>
            </a:r>
            <a:endParaRPr lang="en-US" sz="800" dirty="0"/>
          </a:p>
        </p:txBody>
      </p:sp>
      <p:sp>
        <p:nvSpPr>
          <p:cNvPr id="21" name="Text 19"/>
          <p:cNvSpPr/>
          <p:nvPr/>
        </p:nvSpPr>
        <p:spPr>
          <a:xfrm>
            <a:off x="3392424" y="1508760"/>
            <a:ext cx="2340864" cy="306324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1. Nhận thông báo sự cố mới trên Dashboard
</a:t>
            </a:r>
            <a:pPr indent="0" marL="0">
              <a:lnSpc>
                <a:spcPct val="110000"/>
              </a:lnSpc>
              <a:buNone/>
            </a:pPr>
            <a:r>
              <a:rPr lang="en-US" sz="720" dirty="0">
                <a:solidFill>
                  <a:srgbClr val="334155"/>
                </a:solidFill>
                <a:latin typeface="Arial" pitchFamily="34" charset="0"/>
                <a:ea typeface="Arial" pitchFamily="34" charset="-122"/>
                <a:cs typeface="Arial" pitchFamily="34" charset="-120"/>
              </a:rPr>
              <a:t>2. Đánh giá mức độ: Low / Med / High / Critical
</a:t>
            </a:r>
            <a:pPr indent="0" marL="0">
              <a:lnSpc>
                <a:spcPct val="110000"/>
              </a:lnSpc>
              <a:buNone/>
            </a:pPr>
            <a:r>
              <a:rPr lang="en-US" sz="720" dirty="0">
                <a:solidFill>
                  <a:srgbClr val="334155"/>
                </a:solidFill>
                <a:latin typeface="Arial" pitchFamily="34" charset="0"/>
                <a:ea typeface="Arial" pitchFamily="34" charset="-122"/>
                <a:cs typeface="Arial" pitchFamily="34" charset="-120"/>
              </a:rPr>
              <a:t>3. Tạm dừng mở bán suất chiếu nếu thiết bị trọng yếu hỏng (BR03)
</a:t>
            </a:r>
            <a:pPr indent="0" marL="0">
              <a:lnSpc>
                <a:spcPct val="110000"/>
              </a:lnSpc>
              <a:buNone/>
            </a:pPr>
            <a:r>
              <a:rPr lang="en-US" sz="720" dirty="0">
                <a:solidFill>
                  <a:srgbClr val="334155"/>
                </a:solidFill>
                <a:latin typeface="Arial" pitchFamily="34" charset="0"/>
                <a:ea typeface="Arial" pitchFamily="34" charset="-122"/>
                <a:cs typeface="Arial" pitchFamily="34" charset="-120"/>
              </a:rPr>
              <a:t>4. Phân công Kỹ thuật viên phụ trách
</a:t>
            </a:r>
            <a:pPr indent="0" marL="0">
              <a:lnSpc>
                <a:spcPct val="110000"/>
              </a:lnSpc>
              <a:buNone/>
            </a:pPr>
            <a:r>
              <a:rPr lang="en-US" sz="720" dirty="0">
                <a:solidFill>
                  <a:srgbClr val="334155"/>
                </a:solidFill>
                <a:latin typeface="Arial" pitchFamily="34" charset="0"/>
                <a:ea typeface="Arial" pitchFamily="34" charset="-122"/>
                <a:cs typeface="Arial" pitchFamily="34" charset="-120"/>
              </a:rPr>
              <a:t>5. Kiểm tra sau khi sửa -&gt; Nghiệm thu và Đóng sự cố (status = 'closed')
</a:t>
            </a:r>
            <a:endParaRPr lang="en-US" sz="720" dirty="0"/>
          </a:p>
        </p:txBody>
      </p:sp>
      <p:sp>
        <p:nvSpPr>
          <p:cNvPr id="22" name="Shape 20"/>
          <p:cNvSpPr/>
          <p:nvPr/>
        </p:nvSpPr>
        <p:spPr>
          <a:xfrm>
            <a:off x="6053328" y="1051560"/>
            <a:ext cx="2615184" cy="3611880"/>
          </a:xfrm>
          <a:prstGeom prst="roundRect">
            <a:avLst>
              <a:gd name="adj" fmla="val 5245"/>
            </a:avLst>
          </a:prstGeom>
          <a:solidFill>
            <a:srgbClr val="FFFFFF"/>
          </a:solidFill>
          <a:ln w="19050">
            <a:solidFill>
              <a:srgbClr val="8B5CF6"/>
            </a:solidFill>
            <a:prstDash val="solid"/>
          </a:ln>
        </p:spPr>
      </p:sp>
      <p:sp>
        <p:nvSpPr>
          <p:cNvPr id="23" name="Shape 21"/>
          <p:cNvSpPr/>
          <p:nvPr/>
        </p:nvSpPr>
        <p:spPr>
          <a:xfrm>
            <a:off x="6144768" y="1143000"/>
            <a:ext cx="2432304" cy="292608"/>
          </a:xfrm>
          <a:prstGeom prst="roundRect">
            <a:avLst>
              <a:gd name="adj" fmla="val 25000"/>
            </a:avLst>
          </a:prstGeom>
          <a:solidFill>
            <a:srgbClr val="F3E8FF"/>
          </a:solidFill>
          <a:ln w="12700">
            <a:solidFill>
              <a:srgbClr val="8B5CF6"/>
            </a:solidFill>
            <a:prstDash val="solid"/>
          </a:ln>
        </p:spPr>
      </p:sp>
      <p:sp>
        <p:nvSpPr>
          <p:cNvPr id="24" name="Text 22"/>
          <p:cNvSpPr/>
          <p:nvPr/>
        </p:nvSpPr>
        <p:spPr>
          <a:xfrm>
            <a:off x="6144768" y="1143000"/>
            <a:ext cx="2432304" cy="292608"/>
          </a:xfrm>
          <a:prstGeom prst="rect">
            <a:avLst/>
          </a:prstGeom>
          <a:noFill/>
          <a:ln/>
        </p:spPr>
        <p:txBody>
          <a:bodyPr wrap="square"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 LÀN 3: KỸ THUẬT VIÊN (TECH)</a:t>
            </a:r>
            <a:endParaRPr lang="en-US" sz="800" dirty="0"/>
          </a:p>
        </p:txBody>
      </p:sp>
      <p:sp>
        <p:nvSpPr>
          <p:cNvPr id="25" name="Text 23"/>
          <p:cNvSpPr/>
          <p:nvPr/>
        </p:nvSpPr>
        <p:spPr>
          <a:xfrm>
            <a:off x="6190488" y="1508760"/>
            <a:ext cx="2340864" cy="306324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1. Nhận thông báo nhiệm vụ sửa chữa
</a:t>
            </a:r>
            <a:pPr indent="0" marL="0">
              <a:lnSpc>
                <a:spcPct val="110000"/>
              </a:lnSpc>
              <a:buNone/>
            </a:pPr>
            <a:r>
              <a:rPr lang="en-US" sz="720" dirty="0">
                <a:solidFill>
                  <a:srgbClr val="334155"/>
                </a:solidFill>
                <a:latin typeface="Arial" pitchFamily="34" charset="0"/>
                <a:ea typeface="Arial" pitchFamily="34" charset="-122"/>
                <a:cs typeface="Arial" pitchFamily="34" charset="-120"/>
              </a:rPr>
              <a:t>2. Tiếp nhận phiếu (status = 'accepted')
</a:t>
            </a:r>
            <a:pPr indent="0" marL="0">
              <a:lnSpc>
                <a:spcPct val="110000"/>
              </a:lnSpc>
              <a:buNone/>
            </a:pPr>
            <a:r>
              <a:rPr lang="en-US" sz="720" dirty="0">
                <a:solidFill>
                  <a:srgbClr val="334155"/>
                </a:solidFill>
                <a:latin typeface="Arial" pitchFamily="34" charset="0"/>
                <a:ea typeface="Arial" pitchFamily="34" charset="-122"/>
                <a:cs typeface="Arial" pitchFamily="34" charset="-120"/>
              </a:rPr>
              <a:t>3. Khảo sát hiện trường &amp; Thiết bị
</a:t>
            </a:r>
            <a:pPr indent="0" marL="0">
              <a:lnSpc>
                <a:spcPct val="110000"/>
              </a:lnSpc>
              <a:buNone/>
            </a:pPr>
            <a:r>
              <a:rPr lang="en-US" sz="720" dirty="0">
                <a:solidFill>
                  <a:srgbClr val="334155"/>
                </a:solidFill>
                <a:latin typeface="Arial" pitchFamily="34" charset="0"/>
                <a:ea typeface="Arial" pitchFamily="34" charset="-122"/>
                <a:cs typeface="Arial" pitchFamily="34" charset="-120"/>
              </a:rPr>
              <a:t>4. Tiến hành sửa chữa / Thay linh kiện
</a:t>
            </a:r>
            <a:pPr indent="0" marL="0">
              <a:lnSpc>
                <a:spcPct val="110000"/>
              </a:lnSpc>
              <a:buNone/>
            </a:pPr>
            <a:r>
              <a:rPr lang="en-US" sz="720" dirty="0">
                <a:solidFill>
                  <a:srgbClr val="334155"/>
                </a:solidFill>
                <a:latin typeface="Arial" pitchFamily="34" charset="0"/>
                <a:ea typeface="Arial" pitchFamily="34" charset="-122"/>
                <a:cs typeface="Arial" pitchFamily="34" charset="-120"/>
              </a:rPr>
              <a:t>5. Cập nhật kết quả: Nguyên nhân, linh kiện thay thế, chi phí (cost)
</a:t>
            </a:r>
            <a:pPr indent="0" marL="0">
              <a:lnSpc>
                <a:spcPct val="110000"/>
              </a:lnSpc>
              <a:buNone/>
            </a:pPr>
            <a:r>
              <a:rPr lang="en-US" sz="720" dirty="0">
                <a:solidFill>
                  <a:srgbClr val="334155"/>
                </a:solidFill>
                <a:latin typeface="Arial" pitchFamily="34" charset="0"/>
                <a:ea typeface="Arial" pitchFamily="34" charset="-122"/>
                <a:cs typeface="Arial" pitchFamily="34" charset="-120"/>
              </a:rPr>
              <a:t>6. Báo cáo hoàn tất (status = 'resolved')
</a:t>
            </a:r>
            <a:endParaRPr lang="en-US" sz="7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HOẠT ĐỘNG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10. ACTIVITY DIAGRAM: LẬP LỊCH CHIẾU &amp; KIỂM TRA RÀNG BUỘC (BR01)</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1920240" cy="2103120"/>
          </a:xfrm>
          <a:prstGeom prst="roundRect">
            <a:avLst>
              <a:gd name="adj" fmla="val 5714"/>
            </a:avLst>
          </a:prstGeom>
          <a:solidFill>
            <a:srgbClr val="FFFFFF"/>
          </a:solidFill>
          <a:ln w="19050">
            <a:solidFill>
              <a:srgbClr val="0EA5E9"/>
            </a:solidFill>
            <a:prstDash val="solid"/>
          </a:ln>
        </p:spPr>
      </p:sp>
      <p:sp>
        <p:nvSpPr>
          <p:cNvPr id="15" name="Shape 13"/>
          <p:cNvSpPr/>
          <p:nvPr/>
        </p:nvSpPr>
        <p:spPr>
          <a:xfrm>
            <a:off x="548640" y="1143000"/>
            <a:ext cx="1737360" cy="320040"/>
          </a:xfrm>
          <a:prstGeom prst="roundRect">
            <a:avLst>
              <a:gd name="adj" fmla="val 22857"/>
            </a:avLst>
          </a:prstGeom>
          <a:solidFill>
            <a:srgbClr val="E0F2FE"/>
          </a:solidFill>
          <a:ln w="12700">
            <a:solidFill>
              <a:srgbClr val="0EA5E9"/>
            </a:solidFill>
            <a:prstDash val="solid"/>
          </a:ln>
        </p:spPr>
      </p:sp>
      <p:sp>
        <p:nvSpPr>
          <p:cNvPr id="16" name="Text 14"/>
          <p:cNvSpPr/>
          <p:nvPr/>
        </p:nvSpPr>
        <p:spPr>
          <a:xfrm>
            <a:off x="548640" y="1143000"/>
            <a:ext cx="1737360" cy="320040"/>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BƯỚC 01: CHỌN PHIM &amp; PHÒNG</a:t>
            </a:r>
            <a:endParaRPr lang="en-US" sz="720" dirty="0"/>
          </a:p>
        </p:txBody>
      </p:sp>
      <p:sp>
        <p:nvSpPr>
          <p:cNvPr id="17" name="Text 15"/>
          <p:cNvSpPr/>
          <p:nvPr/>
        </p:nvSpPr>
        <p:spPr>
          <a:xfrm>
            <a:off x="594360" y="1554480"/>
            <a:ext cx="1645920" cy="150876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Quản lý chọn Phim, Phòng chiếu, Ngày và Giờ bắt đầu (start_time).</a:t>
            </a:r>
            <a:endParaRPr lang="en-US" sz="750" dirty="0"/>
          </a:p>
        </p:txBody>
      </p:sp>
      <p:sp>
        <p:nvSpPr>
          <p:cNvPr id="18" name="Shape 16"/>
          <p:cNvSpPr/>
          <p:nvPr/>
        </p:nvSpPr>
        <p:spPr>
          <a:xfrm>
            <a:off x="2560320" y="1051560"/>
            <a:ext cx="1920240" cy="2103120"/>
          </a:xfrm>
          <a:prstGeom prst="roundRect">
            <a:avLst>
              <a:gd name="adj" fmla="val 5714"/>
            </a:avLst>
          </a:prstGeom>
          <a:solidFill>
            <a:srgbClr val="FFFFFF"/>
          </a:solidFill>
          <a:ln w="19050">
            <a:solidFill>
              <a:srgbClr val="F59E0B"/>
            </a:solidFill>
            <a:prstDash val="solid"/>
          </a:ln>
        </p:spPr>
      </p:sp>
      <p:sp>
        <p:nvSpPr>
          <p:cNvPr id="19" name="Shape 17"/>
          <p:cNvSpPr/>
          <p:nvPr/>
        </p:nvSpPr>
        <p:spPr>
          <a:xfrm>
            <a:off x="2651760" y="1143000"/>
            <a:ext cx="1737360" cy="320040"/>
          </a:xfrm>
          <a:prstGeom prst="roundRect">
            <a:avLst>
              <a:gd name="adj" fmla="val 22857"/>
            </a:avLst>
          </a:prstGeom>
          <a:solidFill>
            <a:srgbClr val="FEF9C3"/>
          </a:solidFill>
          <a:ln w="12700">
            <a:solidFill>
              <a:srgbClr val="F59E0B"/>
            </a:solidFill>
            <a:prstDash val="solid"/>
          </a:ln>
        </p:spPr>
      </p:sp>
      <p:sp>
        <p:nvSpPr>
          <p:cNvPr id="20" name="Text 18"/>
          <p:cNvSpPr/>
          <p:nvPr/>
        </p:nvSpPr>
        <p:spPr>
          <a:xfrm>
            <a:off x="2651760" y="1143000"/>
            <a:ext cx="1737360" cy="32004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BƯỚC 02: TÍNH END_TIME (+15P)</a:t>
            </a:r>
            <a:endParaRPr lang="en-US" sz="720" dirty="0"/>
          </a:p>
        </p:txBody>
      </p:sp>
      <p:sp>
        <p:nvSpPr>
          <p:cNvPr id="21" name="Text 19"/>
          <p:cNvSpPr/>
          <p:nvPr/>
        </p:nvSpPr>
        <p:spPr>
          <a:xfrm>
            <a:off x="2697480" y="1554480"/>
            <a:ext cx="1645920" cy="150876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Hệ thống tự động tính:</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end_time = start_time + duration + 15 phút dọn phòng.</a:t>
            </a:r>
            <a:endParaRPr lang="en-US" sz="750" dirty="0"/>
          </a:p>
        </p:txBody>
      </p:sp>
      <p:sp>
        <p:nvSpPr>
          <p:cNvPr id="22" name="Shape 20"/>
          <p:cNvSpPr/>
          <p:nvPr/>
        </p:nvSpPr>
        <p:spPr>
          <a:xfrm>
            <a:off x="4663440" y="1051560"/>
            <a:ext cx="1920240" cy="2103120"/>
          </a:xfrm>
          <a:prstGeom prst="roundRect">
            <a:avLst>
              <a:gd name="adj" fmla="val 5714"/>
            </a:avLst>
          </a:prstGeom>
          <a:solidFill>
            <a:srgbClr val="FFFFFF"/>
          </a:solidFill>
          <a:ln w="19050">
            <a:solidFill>
              <a:srgbClr val="FF4757"/>
            </a:solidFill>
            <a:prstDash val="solid"/>
          </a:ln>
        </p:spPr>
      </p:sp>
      <p:sp>
        <p:nvSpPr>
          <p:cNvPr id="23" name="Shape 21"/>
          <p:cNvSpPr/>
          <p:nvPr/>
        </p:nvSpPr>
        <p:spPr>
          <a:xfrm>
            <a:off x="4754880" y="1143000"/>
            <a:ext cx="1737360" cy="320040"/>
          </a:xfrm>
          <a:prstGeom prst="roundRect">
            <a:avLst>
              <a:gd name="adj" fmla="val 22857"/>
            </a:avLst>
          </a:prstGeom>
          <a:solidFill>
            <a:srgbClr val="FFE4E6"/>
          </a:solidFill>
          <a:ln w="12700">
            <a:solidFill>
              <a:srgbClr val="FF4757"/>
            </a:solidFill>
            <a:prstDash val="solid"/>
          </a:ln>
        </p:spPr>
      </p:sp>
      <p:sp>
        <p:nvSpPr>
          <p:cNvPr id="24" name="Text 22"/>
          <p:cNvSpPr/>
          <p:nvPr/>
        </p:nvSpPr>
        <p:spPr>
          <a:xfrm>
            <a:off x="4754880" y="1143000"/>
            <a:ext cx="1737360" cy="320040"/>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BƯỚC 03: KIỂM TRA 3 RÀNG BUỘC</a:t>
            </a:r>
            <a:endParaRPr lang="en-US" sz="720" dirty="0"/>
          </a:p>
        </p:txBody>
      </p:sp>
      <p:sp>
        <p:nvSpPr>
          <p:cNvPr id="25" name="Text 23"/>
          <p:cNvSpPr/>
          <p:nvPr/>
        </p:nvSpPr>
        <p:spPr>
          <a:xfrm>
            <a:off x="4800600" y="1554480"/>
            <a:ext cx="1645920" cy="150876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1. Phòng đang active?</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2. Máy chiếu/âm thanh Good?</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3. Không trùng giờ suất khác?</a:t>
            </a:r>
            <a:endParaRPr lang="en-US" sz="750" dirty="0"/>
          </a:p>
        </p:txBody>
      </p:sp>
      <p:sp>
        <p:nvSpPr>
          <p:cNvPr id="26" name="Shape 24"/>
          <p:cNvSpPr/>
          <p:nvPr/>
        </p:nvSpPr>
        <p:spPr>
          <a:xfrm>
            <a:off x="6766560" y="1051560"/>
            <a:ext cx="1920240" cy="2103120"/>
          </a:xfrm>
          <a:prstGeom prst="roundRect">
            <a:avLst>
              <a:gd name="adj" fmla="val 5714"/>
            </a:avLst>
          </a:prstGeom>
          <a:solidFill>
            <a:srgbClr val="FFFFFF"/>
          </a:solidFill>
          <a:ln w="19050">
            <a:solidFill>
              <a:srgbClr val="10B981"/>
            </a:solidFill>
            <a:prstDash val="solid"/>
          </a:ln>
        </p:spPr>
      </p:sp>
      <p:sp>
        <p:nvSpPr>
          <p:cNvPr id="27" name="Shape 25"/>
          <p:cNvSpPr/>
          <p:nvPr/>
        </p:nvSpPr>
        <p:spPr>
          <a:xfrm>
            <a:off x="6858000" y="1143000"/>
            <a:ext cx="1737360" cy="320040"/>
          </a:xfrm>
          <a:prstGeom prst="roundRect">
            <a:avLst>
              <a:gd name="adj" fmla="val 22857"/>
            </a:avLst>
          </a:prstGeom>
          <a:solidFill>
            <a:srgbClr val="DCFCE7"/>
          </a:solidFill>
          <a:ln w="12700">
            <a:solidFill>
              <a:srgbClr val="10B981"/>
            </a:solidFill>
            <a:prstDash val="solid"/>
          </a:ln>
        </p:spPr>
      </p:sp>
      <p:sp>
        <p:nvSpPr>
          <p:cNvPr id="28" name="Text 26"/>
          <p:cNvSpPr/>
          <p:nvPr/>
        </p:nvSpPr>
        <p:spPr>
          <a:xfrm>
            <a:off x="6858000" y="1143000"/>
            <a:ext cx="1737360" cy="320040"/>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BƯỚC 04: XÁC NHẬN / BÁO LỖI</a:t>
            </a:r>
            <a:endParaRPr lang="en-US" sz="720" dirty="0"/>
          </a:p>
        </p:txBody>
      </p:sp>
      <p:sp>
        <p:nvSpPr>
          <p:cNvPr id="29" name="Text 27"/>
          <p:cNvSpPr/>
          <p:nvPr/>
        </p:nvSpPr>
        <p:spPr>
          <a:xfrm>
            <a:off x="6903720" y="1554480"/>
            <a:ext cx="1645920" cy="150876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 Hợp lệ: Lưu Schedule (🟢)</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 Vi phạm: Báo lỗi 400 và từ chối lưu lịch (⛔).</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914400"/>
        </p:xfrm>
        <a:graphic>
          <a:graphicData uri="http://schemas.openxmlformats.org/drawingml/2006/table">
            <a:tbl>
              <a:tblPr/>
              <a:tblGrid>
                <a:gridCol w="2286000"/>
                <a:gridCol w="3474720"/>
                <a:gridCol w="2468880"/>
              </a:tblGrid>
              <a:tr h="0">
                <a:tc>
                  <a:txBody>
                    <a:bodyPr/>
                    <a:lstStyle/>
                    <a:p>
                      <a:pPr indent="0" marL="0">
                        <a:buNone/>
                      </a:pPr>
                      <a:r>
                        <a:rPr lang="en-US" sz="700" b="1" dirty="0">
                          <a:solidFill>
                            <a:srgbClr val="0F172A"/>
                          </a:solidFill>
                        </a:rPr>
                        <a:t>Ràng Buộc Nghiệp Vụ</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00" b="1" dirty="0">
                          <a:solidFill>
                            <a:srgbClr val="0F172A"/>
                          </a:solidFill>
                        </a:rPr>
                        <a:t>Điều Kiện Kiểm Tra Trong CSDL</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00" b="1" dirty="0">
                          <a:solidFill>
                            <a:srgbClr val="0F172A"/>
                          </a:solidFill>
                        </a:rPr>
                        <a:t>Hành Động Khi Vi Phạm</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00" b="1" dirty="0">
                          <a:solidFill>
                            <a:srgbClr val="FF4757"/>
                          </a:solidFill>
                        </a:rPr>
                        <a:t>BR01: Tránh Xung Đột Khung Giờ</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latin typeface="Consolas" pitchFamily="34" charset="0"/>
                          <a:ea typeface="Consolas" pitchFamily="34" charset="-122"/>
                          <a:cs typeface="Consolas" pitchFamily="34" charset="-120"/>
                        </a:rPr>
                        <a:t>WHERE room_id = ? AND (start_time &lt; new_end AND end_time &gt; new_start)</a:t>
                      </a:r>
                      <a:endParaRPr lang="en-US" sz="68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 Báo lỗi: 'Phòng đã có suất chiếu trong khung giờ này (+15p dọn phòng)'.</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00" b="1" dirty="0">
                          <a:solidFill>
                            <a:srgbClr val="F59E0B"/>
                          </a:solidFill>
                        </a:rPr>
                        <a:t>BR02: Phòng Đang Sửa Chữa</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F59E0B"/>
                          </a:solidFill>
                          <a:latin typeface="Consolas" pitchFamily="34" charset="0"/>
                          <a:ea typeface="Consolas" pitchFamily="34" charset="-122"/>
                          <a:cs typeface="Consolas" pitchFamily="34" charset="-120"/>
                        </a:rPr>
                        <a:t>SELECT status FROM cinema_rooms WHERE id = ? (status != 'active')</a:t>
                      </a:r>
                      <a:endParaRPr lang="en-US" sz="68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 Báo lỗi: 'Phòng chiếu đang bảo trì hoặc gặp sự cố kỹ thuật'.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00" b="1" dirty="0">
                          <a:solidFill>
                            <a:srgbClr val="8B5CF6"/>
                          </a:solidFill>
                        </a:rPr>
                        <a:t>BR03: Thiết Bị Trọng Yếu Hỏng</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8B5CF6"/>
                          </a:solidFill>
                          <a:latin typeface="Consolas" pitchFamily="34" charset="0"/>
                          <a:ea typeface="Consolas" pitchFamily="34" charset="-122"/>
                          <a:cs typeface="Consolas" pitchFamily="34" charset="-120"/>
                        </a:rPr>
                        <a:t>SELECT * FROM equipment WHERE room_id = ? AND status IN ('broken', 'repairing')</a:t>
                      </a:r>
                      <a:endParaRPr lang="en-US" sz="68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 Báo lỗi: 'Máy chiếu hoặc âm thanh phòng chiếu đang hỏng'.</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HOẠT ĐỘNG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11. ACTIVITY DIAGRAM: LẬP KẾ HOẠCH &amp; BẢO TRÌ THIẾT BỊ ĐỊNH KỲ</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1536192" cy="2697480"/>
          </a:xfrm>
          <a:prstGeom prst="roundRect">
            <a:avLst>
              <a:gd name="adj" fmla="val 8929"/>
            </a:avLst>
          </a:prstGeom>
          <a:solidFill>
            <a:srgbClr val="FFFFFF"/>
          </a:solidFill>
          <a:ln w="19050">
            <a:solidFill>
              <a:srgbClr val="0EA5E9"/>
            </a:solidFill>
            <a:prstDash val="solid"/>
          </a:ln>
        </p:spPr>
      </p:sp>
      <p:sp>
        <p:nvSpPr>
          <p:cNvPr id="15" name="Shape 13"/>
          <p:cNvSpPr/>
          <p:nvPr/>
        </p:nvSpPr>
        <p:spPr>
          <a:xfrm>
            <a:off x="548640" y="1143000"/>
            <a:ext cx="1353312" cy="347472"/>
          </a:xfrm>
          <a:prstGeom prst="roundRect">
            <a:avLst>
              <a:gd name="adj" fmla="val 26316"/>
            </a:avLst>
          </a:prstGeom>
          <a:solidFill>
            <a:srgbClr val="E0F2FE"/>
          </a:solidFill>
          <a:ln w="12700">
            <a:solidFill>
              <a:srgbClr val="0EA5E9"/>
            </a:solidFill>
            <a:prstDash val="solid"/>
          </a:ln>
        </p:spPr>
      </p:sp>
      <p:sp>
        <p:nvSpPr>
          <p:cNvPr id="16" name="Text 14"/>
          <p:cNvSpPr/>
          <p:nvPr/>
        </p:nvSpPr>
        <p:spPr>
          <a:xfrm>
            <a:off x="548640" y="1143000"/>
            <a:ext cx="1353312" cy="347472"/>
          </a:xfrm>
          <a:prstGeom prst="rect">
            <a:avLst/>
          </a:prstGeom>
          <a:noFill/>
          <a:ln/>
        </p:spPr>
        <p:txBody>
          <a:bodyPr wrap="square"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BƯỚC 01</a:t>
            </a:r>
            <a:endParaRPr lang="en-US" sz="900" dirty="0"/>
          </a:p>
        </p:txBody>
      </p:sp>
      <p:sp>
        <p:nvSpPr>
          <p:cNvPr id="17" name="Text 15"/>
          <p:cNvSpPr/>
          <p:nvPr/>
        </p:nvSpPr>
        <p:spPr>
          <a:xfrm>
            <a:off x="530352" y="1554480"/>
            <a:ext cx="1389888" cy="411480"/>
          </a:xfrm>
          <a:prstGeom prst="rect">
            <a:avLst/>
          </a:prstGeom>
          <a:noFill/>
          <a:ln/>
        </p:spPr>
        <p:txBody>
          <a:bodyPr wrap="square" rtlCol="0" anchor="ctr"/>
          <a:lstStyle/>
          <a:p>
            <a:pPr algn="ctr" indent="0" marL="0">
              <a:buNone/>
            </a:pPr>
            <a:r>
              <a:rPr lang="en-US" sz="820" b="1" dirty="0">
                <a:solidFill>
                  <a:srgbClr val="0F172A"/>
                </a:solidFill>
                <a:latin typeface="Arial" pitchFamily="34" charset="0"/>
                <a:ea typeface="Arial" pitchFamily="34" charset="-122"/>
                <a:cs typeface="Arial" pitchFamily="34" charset="-120"/>
              </a:rPr>
              <a:t>Lập Kế Hoạch Bảo Trì</a:t>
            </a:r>
            <a:endParaRPr lang="en-US" sz="820" dirty="0"/>
          </a:p>
        </p:txBody>
      </p:sp>
      <p:sp>
        <p:nvSpPr>
          <p:cNvPr id="18" name="Text 16"/>
          <p:cNvSpPr/>
          <p:nvPr/>
        </p:nvSpPr>
        <p:spPr>
          <a:xfrm>
            <a:off x="530352"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Tạo phiếu bảo trì (định kỳ/đột xuất), gán thiết bị, ngày dự kiến và KTV.</a:t>
            </a:r>
            <a:endParaRPr lang="en-US" sz="720" dirty="0"/>
          </a:p>
        </p:txBody>
      </p:sp>
      <p:sp>
        <p:nvSpPr>
          <p:cNvPr id="19" name="Shape 17"/>
          <p:cNvSpPr/>
          <p:nvPr/>
        </p:nvSpPr>
        <p:spPr>
          <a:xfrm>
            <a:off x="2130552" y="1051560"/>
            <a:ext cx="1536192" cy="2697480"/>
          </a:xfrm>
          <a:prstGeom prst="roundRect">
            <a:avLst>
              <a:gd name="adj" fmla="val 8929"/>
            </a:avLst>
          </a:prstGeom>
          <a:solidFill>
            <a:srgbClr val="FFFFFF"/>
          </a:solidFill>
          <a:ln w="19050">
            <a:solidFill>
              <a:srgbClr val="F59E0B"/>
            </a:solidFill>
            <a:prstDash val="solid"/>
          </a:ln>
        </p:spPr>
      </p:sp>
      <p:sp>
        <p:nvSpPr>
          <p:cNvPr id="20" name="Shape 18"/>
          <p:cNvSpPr/>
          <p:nvPr/>
        </p:nvSpPr>
        <p:spPr>
          <a:xfrm>
            <a:off x="2221992" y="1143000"/>
            <a:ext cx="1353312" cy="347472"/>
          </a:xfrm>
          <a:prstGeom prst="roundRect">
            <a:avLst>
              <a:gd name="adj" fmla="val 26316"/>
            </a:avLst>
          </a:prstGeom>
          <a:solidFill>
            <a:srgbClr val="FEF9C3"/>
          </a:solidFill>
          <a:ln w="12700">
            <a:solidFill>
              <a:srgbClr val="F59E0B"/>
            </a:solidFill>
            <a:prstDash val="solid"/>
          </a:ln>
        </p:spPr>
      </p:sp>
      <p:sp>
        <p:nvSpPr>
          <p:cNvPr id="21" name="Text 19"/>
          <p:cNvSpPr/>
          <p:nvPr/>
        </p:nvSpPr>
        <p:spPr>
          <a:xfrm>
            <a:off x="2221992" y="1143000"/>
            <a:ext cx="1353312" cy="347472"/>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BƯỚC 02</a:t>
            </a:r>
            <a:endParaRPr lang="en-US" sz="900" dirty="0"/>
          </a:p>
        </p:txBody>
      </p:sp>
      <p:sp>
        <p:nvSpPr>
          <p:cNvPr id="22" name="Text 20"/>
          <p:cNvSpPr/>
          <p:nvPr/>
        </p:nvSpPr>
        <p:spPr>
          <a:xfrm>
            <a:off x="2203704" y="1554480"/>
            <a:ext cx="1389888" cy="411480"/>
          </a:xfrm>
          <a:prstGeom prst="rect">
            <a:avLst/>
          </a:prstGeom>
          <a:noFill/>
          <a:ln/>
        </p:spPr>
        <p:txBody>
          <a:bodyPr wrap="square" rtlCol="0" anchor="ctr"/>
          <a:lstStyle/>
          <a:p>
            <a:pPr algn="ctr" indent="0" marL="0">
              <a:buNone/>
            </a:pPr>
            <a:r>
              <a:rPr lang="en-US" sz="820" b="1" dirty="0">
                <a:solidFill>
                  <a:srgbClr val="0F172A"/>
                </a:solidFill>
                <a:latin typeface="Arial" pitchFamily="34" charset="0"/>
                <a:ea typeface="Arial" pitchFamily="34" charset="-122"/>
                <a:cs typeface="Arial" pitchFamily="34" charset="-120"/>
              </a:rPr>
              <a:t>Lưu Trạng Thái 'Planned'</a:t>
            </a:r>
            <a:endParaRPr lang="en-US" sz="820" dirty="0"/>
          </a:p>
        </p:txBody>
      </p:sp>
      <p:sp>
        <p:nvSpPr>
          <p:cNvPr id="23" name="Text 21"/>
          <p:cNvSpPr/>
          <p:nvPr/>
        </p:nvSpPr>
        <p:spPr>
          <a:xfrm>
            <a:off x="2203704"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Ghi nhận vào bảng `maintenances`, bắn notification cho Kỹ thuật viên.</a:t>
            </a:r>
            <a:endParaRPr lang="en-US" sz="720" dirty="0"/>
          </a:p>
        </p:txBody>
      </p:sp>
      <p:sp>
        <p:nvSpPr>
          <p:cNvPr id="24" name="Shape 22"/>
          <p:cNvSpPr/>
          <p:nvPr/>
        </p:nvSpPr>
        <p:spPr>
          <a:xfrm>
            <a:off x="3803904" y="1051560"/>
            <a:ext cx="1536192" cy="2697480"/>
          </a:xfrm>
          <a:prstGeom prst="roundRect">
            <a:avLst>
              <a:gd name="adj" fmla="val 8929"/>
            </a:avLst>
          </a:prstGeom>
          <a:solidFill>
            <a:srgbClr val="FFFFFF"/>
          </a:solidFill>
          <a:ln w="19050">
            <a:solidFill>
              <a:srgbClr val="8B5CF6"/>
            </a:solidFill>
            <a:prstDash val="solid"/>
          </a:ln>
        </p:spPr>
      </p:sp>
      <p:sp>
        <p:nvSpPr>
          <p:cNvPr id="25" name="Shape 23"/>
          <p:cNvSpPr/>
          <p:nvPr/>
        </p:nvSpPr>
        <p:spPr>
          <a:xfrm>
            <a:off x="3895344" y="1143000"/>
            <a:ext cx="1353312" cy="347472"/>
          </a:xfrm>
          <a:prstGeom prst="roundRect">
            <a:avLst>
              <a:gd name="adj" fmla="val 26316"/>
            </a:avLst>
          </a:prstGeom>
          <a:solidFill>
            <a:srgbClr val="F3E8FF"/>
          </a:solidFill>
          <a:ln w="12700">
            <a:solidFill>
              <a:srgbClr val="8B5CF6"/>
            </a:solidFill>
            <a:prstDash val="solid"/>
          </a:ln>
        </p:spPr>
      </p:sp>
      <p:sp>
        <p:nvSpPr>
          <p:cNvPr id="26" name="Text 24"/>
          <p:cNvSpPr/>
          <p:nvPr/>
        </p:nvSpPr>
        <p:spPr>
          <a:xfrm>
            <a:off x="3895344" y="1143000"/>
            <a:ext cx="1353312" cy="347472"/>
          </a:xfrm>
          <a:prstGeom prst="rect">
            <a:avLst/>
          </a:prstGeom>
          <a:noFill/>
          <a:ln/>
        </p:spPr>
        <p:txBody>
          <a:bodyPr wrap="square" rtlCol="0" anchor="ctr"/>
          <a:lstStyle/>
          <a:p>
            <a:pPr algn="ctr" indent="0" marL="0">
              <a:buNone/>
            </a:pPr>
            <a:r>
              <a:rPr lang="en-US" sz="900" b="1" dirty="0">
                <a:solidFill>
                  <a:srgbClr val="8B5CF6"/>
                </a:solidFill>
                <a:latin typeface="Arial" pitchFamily="34" charset="0"/>
                <a:ea typeface="Arial" pitchFamily="34" charset="-122"/>
                <a:cs typeface="Arial" pitchFamily="34" charset="-120"/>
              </a:rPr>
              <a:t>BƯỚC 03</a:t>
            </a:r>
            <a:endParaRPr lang="en-US" sz="900" dirty="0"/>
          </a:p>
        </p:txBody>
      </p:sp>
      <p:sp>
        <p:nvSpPr>
          <p:cNvPr id="27" name="Text 25"/>
          <p:cNvSpPr/>
          <p:nvPr/>
        </p:nvSpPr>
        <p:spPr>
          <a:xfrm>
            <a:off x="3877056" y="1554480"/>
            <a:ext cx="1389888" cy="411480"/>
          </a:xfrm>
          <a:prstGeom prst="rect">
            <a:avLst/>
          </a:prstGeom>
          <a:noFill/>
          <a:ln/>
        </p:spPr>
        <p:txBody>
          <a:bodyPr wrap="square" rtlCol="0" anchor="ctr"/>
          <a:lstStyle/>
          <a:p>
            <a:pPr algn="ctr" indent="0" marL="0">
              <a:buNone/>
            </a:pPr>
            <a:r>
              <a:rPr lang="en-US" sz="820" b="1" dirty="0">
                <a:solidFill>
                  <a:srgbClr val="0F172A"/>
                </a:solidFill>
                <a:latin typeface="Arial" pitchFamily="34" charset="0"/>
                <a:ea typeface="Arial" pitchFamily="34" charset="-122"/>
                <a:cs typeface="Arial" pitchFamily="34" charset="-120"/>
              </a:rPr>
              <a:t>Tiến Hành Bảo Dưỡng</a:t>
            </a:r>
            <a:endParaRPr lang="en-US" sz="820" dirty="0"/>
          </a:p>
        </p:txBody>
      </p:sp>
      <p:sp>
        <p:nvSpPr>
          <p:cNvPr id="28" name="Text 26"/>
          <p:cNvSpPr/>
          <p:nvPr/>
        </p:nvSpPr>
        <p:spPr>
          <a:xfrm>
            <a:off x="3877056"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Chuyển 'in_progress', kiểm tra thiết bị: bóng đèn chiếu, lọc bụi, loa, âm li.</a:t>
            </a:r>
            <a:endParaRPr lang="en-US" sz="720" dirty="0"/>
          </a:p>
        </p:txBody>
      </p:sp>
      <p:sp>
        <p:nvSpPr>
          <p:cNvPr id="29" name="Shape 27"/>
          <p:cNvSpPr/>
          <p:nvPr/>
        </p:nvSpPr>
        <p:spPr>
          <a:xfrm>
            <a:off x="5477256" y="1051560"/>
            <a:ext cx="1536192" cy="2697480"/>
          </a:xfrm>
          <a:prstGeom prst="roundRect">
            <a:avLst>
              <a:gd name="adj" fmla="val 8929"/>
            </a:avLst>
          </a:prstGeom>
          <a:solidFill>
            <a:srgbClr val="FFFFFF"/>
          </a:solidFill>
          <a:ln w="19050">
            <a:solidFill>
              <a:srgbClr val="FF4757"/>
            </a:solidFill>
            <a:prstDash val="solid"/>
          </a:ln>
        </p:spPr>
      </p:sp>
      <p:sp>
        <p:nvSpPr>
          <p:cNvPr id="30" name="Shape 28"/>
          <p:cNvSpPr/>
          <p:nvPr/>
        </p:nvSpPr>
        <p:spPr>
          <a:xfrm>
            <a:off x="5568696" y="1143000"/>
            <a:ext cx="1353312" cy="347472"/>
          </a:xfrm>
          <a:prstGeom prst="roundRect">
            <a:avLst>
              <a:gd name="adj" fmla="val 26316"/>
            </a:avLst>
          </a:prstGeom>
          <a:solidFill>
            <a:srgbClr val="FFE4E6"/>
          </a:solidFill>
          <a:ln w="12700">
            <a:solidFill>
              <a:srgbClr val="FF4757"/>
            </a:solidFill>
            <a:prstDash val="solid"/>
          </a:ln>
        </p:spPr>
      </p:sp>
      <p:sp>
        <p:nvSpPr>
          <p:cNvPr id="31" name="Text 29"/>
          <p:cNvSpPr/>
          <p:nvPr/>
        </p:nvSpPr>
        <p:spPr>
          <a:xfrm>
            <a:off x="5568696" y="1143000"/>
            <a:ext cx="1353312" cy="347472"/>
          </a:xfrm>
          <a:prstGeom prst="rect">
            <a:avLst/>
          </a:prstGeom>
          <a:noFill/>
          <a:ln/>
        </p:spPr>
        <p:txBody>
          <a:bodyPr wrap="square" rtlCol="0" anchor="ctr"/>
          <a:lstStyle/>
          <a:p>
            <a:pPr algn="ctr" indent="0" marL="0">
              <a:buNone/>
            </a:pPr>
            <a:r>
              <a:rPr lang="en-US" sz="900" b="1" dirty="0">
                <a:solidFill>
                  <a:srgbClr val="FF4757"/>
                </a:solidFill>
                <a:latin typeface="Arial" pitchFamily="34" charset="0"/>
                <a:ea typeface="Arial" pitchFamily="34" charset="-122"/>
                <a:cs typeface="Arial" pitchFamily="34" charset="-120"/>
              </a:rPr>
              <a:t>BƯỚC 04</a:t>
            </a:r>
            <a:endParaRPr lang="en-US" sz="900" dirty="0"/>
          </a:p>
        </p:txBody>
      </p:sp>
      <p:sp>
        <p:nvSpPr>
          <p:cNvPr id="32" name="Text 30"/>
          <p:cNvSpPr/>
          <p:nvPr/>
        </p:nvSpPr>
        <p:spPr>
          <a:xfrm>
            <a:off x="5550408" y="1554480"/>
            <a:ext cx="1389888" cy="411480"/>
          </a:xfrm>
          <a:prstGeom prst="rect">
            <a:avLst/>
          </a:prstGeom>
          <a:noFill/>
          <a:ln/>
        </p:spPr>
        <p:txBody>
          <a:bodyPr wrap="square" rtlCol="0" anchor="ctr"/>
          <a:lstStyle/>
          <a:p>
            <a:pPr algn="ctr" indent="0" marL="0">
              <a:buNone/>
            </a:pPr>
            <a:r>
              <a:rPr lang="en-US" sz="820" b="1" dirty="0">
                <a:solidFill>
                  <a:srgbClr val="0F172A"/>
                </a:solidFill>
                <a:latin typeface="Arial" pitchFamily="34" charset="0"/>
                <a:ea typeface="Arial" pitchFamily="34" charset="-122"/>
                <a:cs typeface="Arial" pitchFamily="34" charset="-120"/>
              </a:rPr>
              <a:t>Ghi Nhận Kết Quả</a:t>
            </a:r>
            <a:endParaRPr lang="en-US" sz="820" dirty="0"/>
          </a:p>
        </p:txBody>
      </p:sp>
      <p:sp>
        <p:nvSpPr>
          <p:cNvPr id="33" name="Text 31"/>
          <p:cNvSpPr/>
          <p:nvPr/>
        </p:nvSpPr>
        <p:spPr>
          <a:xfrm>
            <a:off x="5550408"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Đánh giá Good/Fair/Broken, ghi chi phí thực tế và linh kiện thay thế.</a:t>
            </a:r>
            <a:endParaRPr lang="en-US" sz="720" dirty="0"/>
          </a:p>
        </p:txBody>
      </p:sp>
      <p:sp>
        <p:nvSpPr>
          <p:cNvPr id="34" name="Shape 32"/>
          <p:cNvSpPr/>
          <p:nvPr/>
        </p:nvSpPr>
        <p:spPr>
          <a:xfrm>
            <a:off x="7150608" y="1051560"/>
            <a:ext cx="1536192" cy="2697480"/>
          </a:xfrm>
          <a:prstGeom prst="roundRect">
            <a:avLst>
              <a:gd name="adj" fmla="val 8929"/>
            </a:avLst>
          </a:prstGeom>
          <a:solidFill>
            <a:srgbClr val="FFFFFF"/>
          </a:solidFill>
          <a:ln w="19050">
            <a:solidFill>
              <a:srgbClr val="10B981"/>
            </a:solidFill>
            <a:prstDash val="solid"/>
          </a:ln>
        </p:spPr>
      </p:sp>
      <p:sp>
        <p:nvSpPr>
          <p:cNvPr id="35" name="Shape 33"/>
          <p:cNvSpPr/>
          <p:nvPr/>
        </p:nvSpPr>
        <p:spPr>
          <a:xfrm>
            <a:off x="7242048" y="1143000"/>
            <a:ext cx="1353312" cy="347472"/>
          </a:xfrm>
          <a:prstGeom prst="roundRect">
            <a:avLst>
              <a:gd name="adj" fmla="val 26316"/>
            </a:avLst>
          </a:prstGeom>
          <a:solidFill>
            <a:srgbClr val="DCFCE7"/>
          </a:solidFill>
          <a:ln w="12700">
            <a:solidFill>
              <a:srgbClr val="10B981"/>
            </a:solidFill>
            <a:prstDash val="solid"/>
          </a:ln>
        </p:spPr>
      </p:sp>
      <p:sp>
        <p:nvSpPr>
          <p:cNvPr id="36" name="Text 34"/>
          <p:cNvSpPr/>
          <p:nvPr/>
        </p:nvSpPr>
        <p:spPr>
          <a:xfrm>
            <a:off x="7242048" y="1143000"/>
            <a:ext cx="1353312" cy="347472"/>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BƯỚC 05</a:t>
            </a:r>
            <a:endParaRPr lang="en-US" sz="900" dirty="0"/>
          </a:p>
        </p:txBody>
      </p:sp>
      <p:sp>
        <p:nvSpPr>
          <p:cNvPr id="37" name="Text 35"/>
          <p:cNvSpPr/>
          <p:nvPr/>
        </p:nvSpPr>
        <p:spPr>
          <a:xfrm>
            <a:off x="7223760" y="1554480"/>
            <a:ext cx="1389888" cy="411480"/>
          </a:xfrm>
          <a:prstGeom prst="rect">
            <a:avLst/>
          </a:prstGeom>
          <a:noFill/>
          <a:ln/>
        </p:spPr>
        <p:txBody>
          <a:bodyPr wrap="square" rtlCol="0" anchor="ctr"/>
          <a:lstStyle/>
          <a:p>
            <a:pPr algn="ctr" indent="0" marL="0">
              <a:buNone/>
            </a:pPr>
            <a:r>
              <a:rPr lang="en-US" sz="820" b="1" dirty="0">
                <a:solidFill>
                  <a:srgbClr val="0F172A"/>
                </a:solidFill>
                <a:latin typeface="Arial" pitchFamily="34" charset="0"/>
                <a:ea typeface="Arial" pitchFamily="34" charset="-122"/>
                <a:cs typeface="Arial" pitchFamily="34" charset="-120"/>
              </a:rPr>
              <a:t>Cập Nhật Next Date</a:t>
            </a:r>
            <a:endParaRPr lang="en-US" sz="820" dirty="0"/>
          </a:p>
        </p:txBody>
      </p:sp>
      <p:sp>
        <p:nvSpPr>
          <p:cNvPr id="38" name="Text 36"/>
          <p:cNvSpPr/>
          <p:nvPr/>
        </p:nvSpPr>
        <p:spPr>
          <a:xfrm>
            <a:off x="7223760" y="2011680"/>
            <a:ext cx="1389888" cy="1645920"/>
          </a:xfrm>
          <a:prstGeom prst="rect">
            <a:avLst/>
          </a:prstGeom>
          <a:noFill/>
          <a:ln/>
        </p:spPr>
        <p:txBody>
          <a:bodyPr wrap="square" rtlCol="0" anchor="ctr"/>
          <a:lstStyle/>
          <a:p>
            <a:pPr algn="ctr" indent="0" marL="0">
              <a:lnSpc>
                <a:spcPct val="115000"/>
              </a:lnSpc>
              <a:buNone/>
            </a:pPr>
            <a:r>
              <a:rPr lang="en-US" sz="720" dirty="0">
                <a:solidFill>
                  <a:srgbClr val="334155"/>
                </a:solidFill>
                <a:latin typeface="Arial" pitchFamily="34" charset="0"/>
                <a:ea typeface="Arial" pitchFamily="34" charset="-122"/>
                <a:cs typeface="Arial" pitchFamily="34" charset="-120"/>
              </a:rPr>
              <a:t>Chuyển 'completed', tự động cập nhật last_maintenance và next_maintenance.</a:t>
            </a:r>
            <a:endParaRPr lang="en-US" sz="720" dirty="0"/>
          </a:p>
        </p:txBody>
      </p:sp>
      <p:sp>
        <p:nvSpPr>
          <p:cNvPr id="39" name="Shape 37"/>
          <p:cNvSpPr/>
          <p:nvPr/>
        </p:nvSpPr>
        <p:spPr>
          <a:xfrm>
            <a:off x="457200" y="3886200"/>
            <a:ext cx="8229600" cy="777240"/>
          </a:xfrm>
          <a:prstGeom prst="roundRect">
            <a:avLst>
              <a:gd name="adj" fmla="val 14118"/>
            </a:avLst>
          </a:prstGeom>
          <a:solidFill>
            <a:srgbClr val="FFFFFF"/>
          </a:solidFill>
          <a:ln w="15240">
            <a:solidFill>
              <a:srgbClr val="10B981"/>
            </a:solidFill>
            <a:prstDash val="solid"/>
          </a:ln>
        </p:spPr>
      </p:sp>
      <p:sp>
        <p:nvSpPr>
          <p:cNvPr id="40" name="Shape 38"/>
          <p:cNvSpPr/>
          <p:nvPr/>
        </p:nvSpPr>
        <p:spPr>
          <a:xfrm>
            <a:off x="594360" y="3959352"/>
            <a:ext cx="3200400" cy="228600"/>
          </a:xfrm>
          <a:prstGeom prst="roundRect">
            <a:avLst>
              <a:gd name="adj" fmla="val 32000"/>
            </a:avLst>
          </a:prstGeom>
          <a:solidFill>
            <a:srgbClr val="DCFCE7"/>
          </a:solidFill>
          <a:ln w="12700">
            <a:solidFill>
              <a:srgbClr val="10B981"/>
            </a:solidFill>
            <a:prstDash val="solid"/>
          </a:ln>
        </p:spPr>
      </p:sp>
      <p:sp>
        <p:nvSpPr>
          <p:cNvPr id="41" name="Text 39"/>
          <p:cNvSpPr/>
          <p:nvPr/>
        </p:nvSpPr>
        <p:spPr>
          <a:xfrm>
            <a:off x="594360" y="3959352"/>
            <a:ext cx="3200400" cy="228600"/>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 HIỆU QUẢ QUẢN TRỊ THIẾT BỊ RẠP</a:t>
            </a:r>
            <a:endParaRPr lang="en-US" sz="720" dirty="0"/>
          </a:p>
        </p:txBody>
      </p:sp>
      <p:sp>
        <p:nvSpPr>
          <p:cNvPr id="42" name="Text 40"/>
          <p:cNvSpPr/>
          <p:nvPr/>
        </p:nvSpPr>
        <p:spPr>
          <a:xfrm>
            <a:off x="594360" y="4224528"/>
            <a:ext cx="7955280" cy="384048"/>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 Giúp kéo dài tuổi thọ máy chiếu laser &amp; hệ thống âm thanh vòm Dolby Atmos, giảm 90% sự cố đột xuất làm gián đoạn trải nghiệm của khán giả.</a:t>
            </a:r>
            <a:endParaRPr lang="en-US" sz="7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TƯƠNG TÁC</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12. SEQUENCE DIAGRAM: GIẢI THUẬT CHỐNG TRÙNG GHẾ ĐA LUỒNG</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3200400" cy="3611880"/>
          </a:xfrm>
          <a:prstGeom prst="roundRect">
            <a:avLst>
              <a:gd name="adj" fmla="val 4286"/>
            </a:avLst>
          </a:prstGeom>
          <a:solidFill>
            <a:srgbClr val="FFFFFF"/>
          </a:solidFill>
          <a:ln w="19050">
            <a:solidFill>
              <a:srgbClr val="FF4757"/>
            </a:solidFill>
            <a:prstDash val="solid"/>
          </a:ln>
        </p:spPr>
      </p:sp>
      <p:sp>
        <p:nvSpPr>
          <p:cNvPr id="15" name="Shape 13"/>
          <p:cNvSpPr/>
          <p:nvPr/>
        </p:nvSpPr>
        <p:spPr>
          <a:xfrm>
            <a:off x="594360" y="1143000"/>
            <a:ext cx="2926080" cy="292608"/>
          </a:xfrm>
          <a:prstGeom prst="roundRect">
            <a:avLst>
              <a:gd name="adj" fmla="val 25000"/>
            </a:avLst>
          </a:prstGeom>
          <a:solidFill>
            <a:srgbClr val="FFE4E6"/>
          </a:solidFill>
          <a:ln w="12700">
            <a:solidFill>
              <a:srgbClr val="FF4757"/>
            </a:solidFill>
            <a:prstDash val="solid"/>
          </a:ln>
        </p:spPr>
      </p:sp>
      <p:sp>
        <p:nvSpPr>
          <p:cNvPr id="16" name="Text 14"/>
          <p:cNvSpPr/>
          <p:nvPr/>
        </p:nvSpPr>
        <p:spPr>
          <a:xfrm>
            <a:off x="594360" y="1143000"/>
            <a:ext cx="2926080" cy="292608"/>
          </a:xfrm>
          <a:prstGeom prst="rect">
            <a:avLst/>
          </a:prstGeom>
          <a:noFill/>
          <a:ln/>
        </p:spPr>
        <p:txBody>
          <a:bodyPr wrap="square" rtlCol="0" anchor="ctr"/>
          <a:lstStyle/>
          <a:p>
            <a:pPr algn="ctr" indent="0" marL="0">
              <a:buNone/>
            </a:pPr>
            <a:r>
              <a:rPr lang="en-US" sz="820" b="1" dirty="0">
                <a:solidFill>
                  <a:srgbClr val="FF4757"/>
                </a:solidFill>
                <a:latin typeface="Arial" pitchFamily="34" charset="0"/>
                <a:ea typeface="Arial" pitchFamily="34" charset="-122"/>
                <a:cs typeface="Arial" pitchFamily="34" charset="-120"/>
              </a:rPr>
              <a:t>⚡ TÌNH HUỐNG TRANH CHẤP GHẾ</a:t>
            </a:r>
            <a:endParaRPr lang="en-US" sz="820" dirty="0"/>
          </a:p>
        </p:txBody>
      </p:sp>
      <p:sp>
        <p:nvSpPr>
          <p:cNvPr id="17" name="Text 15"/>
          <p:cNvSpPr/>
          <p:nvPr/>
        </p:nvSpPr>
        <p:spPr>
          <a:xfrm>
            <a:off x="594360" y="1508760"/>
            <a:ext cx="2926080" cy="301752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Hai bạn Khách A &amp; Khách B cùng click chọn ghế </a:t>
            </a:r>
            <a:pPr indent="0" marL="0">
              <a:lnSpc>
                <a:spcPct val="115000"/>
              </a:lnSpc>
              <a:buNone/>
            </a:pPr>
            <a:r>
              <a:rPr lang="en-US" sz="720" b="1" dirty="0">
                <a:solidFill>
                  <a:srgbClr val="FF4757"/>
                </a:solidFill>
                <a:latin typeface="Arial" pitchFamily="34" charset="0"/>
                <a:ea typeface="Arial" pitchFamily="34" charset="-122"/>
                <a:cs typeface="Arial" pitchFamily="34" charset="-120"/>
              </a:rPr>
              <a:t>C5</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trong cùng 1 mili-giây.
</a:t>
            </a:r>
            <a:pPr indent="0" marL="0">
              <a:lnSpc>
                <a:spcPct val="115000"/>
              </a:lnSpc>
              <a:buNone/>
            </a:pPr>
            <a:r>
              <a:rPr lang="en-US" sz="720" b="1" dirty="0">
                <a:solidFill>
                  <a:srgbClr val="0EA5E9"/>
                </a:solidFill>
                <a:latin typeface="Arial" pitchFamily="34" charset="0"/>
                <a:ea typeface="Arial" pitchFamily="34" charset="-122"/>
                <a:cs typeface="Arial" pitchFamily="34" charset="-120"/>
              </a:rPr>
              <a:t>🛡️ GIẢI PHÁP BACKEND:
</a:t>
            </a:r>
            <a:pPr indent="0" marL="0">
              <a:lnSpc>
                <a:spcPct val="115000"/>
              </a:lnSpc>
              <a:buNone/>
            </a:pPr>
            <a:r>
              <a:rPr lang="en-US" sz="720" dirty="0">
                <a:solidFill>
                  <a:srgbClr val="334155"/>
                </a:solidFill>
                <a:latin typeface="Arial" pitchFamily="34" charset="0"/>
                <a:ea typeface="Arial" pitchFamily="34" charset="-122"/>
                <a:cs typeface="Arial" pitchFamily="34" charset="-120"/>
              </a:rPr>
              <a:t>1. Mở MySQL Transaction.
</a:t>
            </a:r>
            <a:pPr indent="0" marL="0">
              <a:lnSpc>
                <a:spcPct val="115000"/>
              </a:lnSpc>
              <a:buNone/>
            </a:pPr>
            <a:r>
              <a:rPr lang="en-US" sz="720" dirty="0">
                <a:solidFill>
                  <a:srgbClr val="334155"/>
                </a:solidFill>
                <a:latin typeface="Arial" pitchFamily="34" charset="0"/>
                <a:ea typeface="Arial" pitchFamily="34" charset="-122"/>
                <a:cs typeface="Arial" pitchFamily="34" charset="-120"/>
              </a:rPr>
              <a:t>2. Khóa dòng dữ liệu (Row-Level Lock):
</a:t>
            </a:r>
            <a:pPr indent="0" marL="0">
              <a:lnSpc>
                <a:spcPct val="115000"/>
              </a:lnSpc>
              <a:buNone/>
            </a:pPr>
            <a:r>
              <a:rPr lang="en-US" sz="680" b="1" dirty="0">
                <a:solidFill>
                  <a:srgbClr val="10B981"/>
                </a:solidFill>
                <a:latin typeface="Consolas" pitchFamily="34" charset="0"/>
                <a:ea typeface="Consolas" pitchFamily="34" charset="-122"/>
                <a:cs typeface="Consolas" pitchFamily="34" charset="-120"/>
              </a:rPr>
              <a:t>   SELECT * FROM booking_seats
   WHERE seat_id = C5 FOR UPDATE;
</a:t>
            </a:r>
            <a:pPr indent="0" marL="0">
              <a:lnSpc>
                <a:spcPct val="115000"/>
              </a:lnSpc>
              <a:buNone/>
            </a:pPr>
            <a:r>
              <a:rPr lang="en-US" sz="720" dirty="0">
                <a:solidFill>
                  <a:srgbClr val="334155"/>
                </a:solidFill>
                <a:latin typeface="Arial" pitchFamily="34" charset="0"/>
                <a:ea typeface="Arial" pitchFamily="34" charset="-122"/>
                <a:cs typeface="Arial" pitchFamily="34" charset="-120"/>
              </a:rPr>
              <a:t>3. Khách A đến trước (0.01s): Giữ ghế thành công (200 OK).
</a:t>
            </a:r>
            <a:pPr indent="0" marL="0">
              <a:lnSpc>
                <a:spcPct val="115000"/>
              </a:lnSpc>
              <a:buNone/>
            </a:pPr>
            <a:r>
              <a:rPr lang="en-US" sz="720" dirty="0">
                <a:solidFill>
                  <a:srgbClr val="334155"/>
                </a:solidFill>
                <a:latin typeface="Arial" pitchFamily="34" charset="0"/>
                <a:ea typeface="Arial" pitchFamily="34" charset="-122"/>
                <a:cs typeface="Arial" pitchFamily="34" charset="-120"/>
              </a:rPr>
              <a:t>4. Khách B đến sau: Phát hiện C5 bị khóa -&gt; Rollback và báo 409 Conflict.</a:t>
            </a:r>
            <a:endParaRPr lang="en-US" sz="720" dirty="0"/>
          </a:p>
        </p:txBody>
      </p:sp>
      <p:sp>
        <p:nvSpPr>
          <p:cNvPr id="18" name="Shape 16"/>
          <p:cNvSpPr/>
          <p:nvPr/>
        </p:nvSpPr>
        <p:spPr>
          <a:xfrm>
            <a:off x="3840480" y="1051560"/>
            <a:ext cx="4846320" cy="3611880"/>
          </a:xfrm>
          <a:prstGeom prst="roundRect">
            <a:avLst>
              <a:gd name="adj" fmla="val 3797"/>
            </a:avLst>
          </a:prstGeom>
          <a:solidFill>
            <a:srgbClr val="FFFFFF"/>
          </a:solidFill>
          <a:ln w="19050">
            <a:solidFill>
              <a:srgbClr val="0EA5E9"/>
            </a:solidFill>
            <a:prstDash val="solid"/>
          </a:ln>
        </p:spPr>
      </p:sp>
      <p:sp>
        <p:nvSpPr>
          <p:cNvPr id="19" name="Shape 17"/>
          <p:cNvSpPr/>
          <p:nvPr/>
        </p:nvSpPr>
        <p:spPr>
          <a:xfrm>
            <a:off x="3977640" y="1143000"/>
            <a:ext cx="4572000" cy="292608"/>
          </a:xfrm>
          <a:prstGeom prst="roundRect">
            <a:avLst>
              <a:gd name="adj" fmla="val 25000"/>
            </a:avLst>
          </a:prstGeom>
          <a:solidFill>
            <a:srgbClr val="E0F2FE"/>
          </a:solidFill>
          <a:ln w="12700">
            <a:solidFill>
              <a:srgbClr val="0EA5E9"/>
            </a:solidFill>
            <a:prstDash val="solid"/>
          </a:ln>
        </p:spPr>
      </p:sp>
      <p:sp>
        <p:nvSpPr>
          <p:cNvPr id="20" name="Text 18"/>
          <p:cNvSpPr/>
          <p:nvPr/>
        </p:nvSpPr>
        <p:spPr>
          <a:xfrm>
            <a:off x="3977640" y="1143000"/>
            <a:ext cx="4572000" cy="292608"/>
          </a:xfrm>
          <a:prstGeom prst="rect">
            <a:avLst/>
          </a:prstGeom>
          <a:noFill/>
          <a:ln/>
        </p:spPr>
        <p:txBody>
          <a:bodyPr wrap="square" rtlCol="0" anchor="ctr"/>
          <a:lstStyle/>
          <a:p>
            <a:pPr algn="ctr" indent="0" marL="0">
              <a:buNone/>
            </a:pPr>
            <a:r>
              <a:rPr lang="en-US" sz="820" b="1" dirty="0">
                <a:solidFill>
                  <a:srgbClr val="0EA5E9"/>
                </a:solidFill>
                <a:latin typeface="Arial" pitchFamily="34" charset="0"/>
                <a:ea typeface="Arial" pitchFamily="34" charset="-122"/>
                <a:cs typeface="Arial" pitchFamily="34" charset="-120"/>
              </a:rPr>
              <a:t>📊 TRÌNH TỰ TƯƠNG TÁC (SEQUENCE FLOW)</a:t>
            </a:r>
            <a:endParaRPr lang="en-US" sz="82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977640" y="1508760"/>
          <a:ext cx="4572000" cy="914400"/>
        </p:xfrm>
        <a:graphic>
          <a:graphicData uri="http://schemas.openxmlformats.org/drawingml/2006/table">
            <a:tbl>
              <a:tblPr/>
              <a:tblGrid>
                <a:gridCol w="365760"/>
                <a:gridCol w="1280160"/>
                <a:gridCol w="2011680"/>
                <a:gridCol w="914400"/>
              </a:tblGrid>
              <a:tr h="0">
                <a:tc>
                  <a:txBody>
                    <a:bodyPr/>
                    <a:lstStyle/>
                    <a:p>
                      <a:pPr indent="0" marL="0">
                        <a:buNone/>
                      </a:pPr>
                      <a:r>
                        <a:rPr lang="en-US" sz="680" b="1" dirty="0">
                          <a:solidFill>
                            <a:srgbClr val="0F172A"/>
                          </a:solidFill>
                        </a:rPr>
                        <a:t>STT</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680" b="1" dirty="0">
                          <a:solidFill>
                            <a:srgbClr val="0F172A"/>
                          </a:solidFill>
                        </a:rPr>
                        <a:t>Từ -&gt; Đến</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680" b="1" dirty="0">
                          <a:solidFill>
                            <a:srgbClr val="0F172A"/>
                          </a:solidFill>
                        </a:rPr>
                        <a:t>Thông điệp (Message / SQL)</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680" b="1" dirty="0">
                          <a:solidFill>
                            <a:srgbClr val="0F172A"/>
                          </a:solidFill>
                        </a:rPr>
                        <a:t>Kết quả</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680" b="1" dirty="0">
                          <a:solidFill>
                            <a:srgbClr val="0F172A"/>
                          </a:solidFill>
                        </a:rPr>
                        <a:t>1</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Khách A -&gt; API</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POST /hold { seat: 'C5' }</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Request A</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2</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API -&gt; MySQL</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START TRANSACTION -&gt; SELECT FOR UPDATE</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Khóa C5</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3</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MySQL -&gt; API</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C5 trống -&gt; INSERT 'holding' 10p</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Commit</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4</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API -&gt; Khách A</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200 OK -&gt; Bắt đầu đếm ngược 10:00</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 Thành công</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5</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Khách B -&gt; API</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POST /hold { seat: 'C5' } (+0.05s)</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Request B</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6</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API -&gt; MySQL</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SELECT FOR UPDATE -&gt; Thấy C5 đang giữ</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10B981"/>
                          </a:solidFill>
                        </a:rPr>
                        <a:t>Rollback</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680" b="1" dirty="0">
                          <a:solidFill>
                            <a:srgbClr val="0F172A"/>
                          </a:solidFill>
                        </a:rPr>
                        <a:t>7</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0EA5E9"/>
                          </a:solidFill>
                        </a:rPr>
                        <a:t>API -&gt; Khách B</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dirty="0">
                          <a:solidFill>
                            <a:srgbClr val="334155"/>
                          </a:solidFill>
                        </a:rPr>
                        <a:t>409 Conflict: 'Ghế vừa có người giữ'</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680" b="1" dirty="0">
                          <a:solidFill>
                            <a:srgbClr val="FF4757"/>
                          </a:solidFill>
                        </a:rPr>
                        <a:t>⛔ Từ chối</a:t>
                      </a:r>
                      <a:endParaRPr lang="en-US" sz="68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TƯƠNG TÁC</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13. SEQUENCE DIAGRAM: THANH TOÁN &amp; XUẤT VÉ ĐIỆN TỬ QR</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1737360"/>
          </a:xfrm>
          <a:prstGeom prst="roundRect">
            <a:avLst>
              <a:gd name="adj" fmla="val 7895"/>
            </a:avLst>
          </a:prstGeom>
          <a:solidFill>
            <a:srgbClr val="FFFFFF"/>
          </a:solidFill>
          <a:ln w="19050">
            <a:solidFill>
              <a:srgbClr val="F59E0B"/>
            </a:solidFill>
            <a:prstDash val="solid"/>
          </a:ln>
        </p:spPr>
      </p:sp>
      <p:sp>
        <p:nvSpPr>
          <p:cNvPr id="15" name="Shape 13"/>
          <p:cNvSpPr/>
          <p:nvPr/>
        </p:nvSpPr>
        <p:spPr>
          <a:xfrm>
            <a:off x="548640" y="1143000"/>
            <a:ext cx="2432304" cy="292608"/>
          </a:xfrm>
          <a:prstGeom prst="roundRect">
            <a:avLst>
              <a:gd name="adj" fmla="val 25000"/>
            </a:avLst>
          </a:prstGeom>
          <a:solidFill>
            <a:srgbClr val="FEF9C3"/>
          </a:solidFill>
          <a:ln w="12700">
            <a:solidFill>
              <a:srgbClr val="F59E0B"/>
            </a:solidFill>
            <a:prstDash val="solid"/>
          </a:ln>
        </p:spPr>
      </p:sp>
      <p:sp>
        <p:nvSpPr>
          <p:cNvPr id="16" name="Text 14"/>
          <p:cNvSpPr/>
          <p:nvPr/>
        </p:nvSpPr>
        <p:spPr>
          <a:xfrm>
            <a:off x="548640" y="1143000"/>
            <a:ext cx="2432304" cy="292608"/>
          </a:xfrm>
          <a:prstGeom prst="rect">
            <a:avLst/>
          </a:prstGeom>
          <a:noFill/>
          <a:ln/>
        </p:spPr>
        <p:txBody>
          <a:bodyPr wrap="square" rtlCol="0" anchor="ctr"/>
          <a:lstStyle/>
          <a:p>
            <a:pPr algn="ctr" indent="0" marL="0">
              <a:buNone/>
            </a:pPr>
            <a:r>
              <a:rPr lang="en-US" sz="820" b="1" dirty="0">
                <a:solidFill>
                  <a:srgbClr val="F59E0B"/>
                </a:solidFill>
                <a:latin typeface="Arial" pitchFamily="34" charset="0"/>
                <a:ea typeface="Arial" pitchFamily="34" charset="-122"/>
                <a:cs typeface="Arial" pitchFamily="34" charset="-120"/>
              </a:rPr>
              <a:t>1. KIỂM TRA HẠN 10 PHÚT</a:t>
            </a:r>
            <a:endParaRPr lang="en-US" sz="820" dirty="0"/>
          </a:p>
        </p:txBody>
      </p:sp>
      <p:sp>
        <p:nvSpPr>
          <p:cNvPr id="17" name="Text 15"/>
          <p:cNvSpPr/>
          <p:nvPr/>
        </p:nvSpPr>
        <p:spPr>
          <a:xfrm>
            <a:off x="594360" y="1490472"/>
            <a:ext cx="2340864" cy="123444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Client gửi bookingId.</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Server kiểm tra: hold_expire &gt;= NOW().</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Nếu hết hạn: Báo lỗi &amp; hủy đơn.</a:t>
            </a:r>
            <a:endParaRPr lang="en-US" sz="750" dirty="0"/>
          </a:p>
        </p:txBody>
      </p:sp>
      <p:sp>
        <p:nvSpPr>
          <p:cNvPr id="18" name="Shape 16"/>
          <p:cNvSpPr/>
          <p:nvPr/>
        </p:nvSpPr>
        <p:spPr>
          <a:xfrm>
            <a:off x="3255264" y="1051560"/>
            <a:ext cx="2615184" cy="1737360"/>
          </a:xfrm>
          <a:prstGeom prst="roundRect">
            <a:avLst>
              <a:gd name="adj" fmla="val 7895"/>
            </a:avLst>
          </a:prstGeom>
          <a:solidFill>
            <a:srgbClr val="FFFFFF"/>
          </a:solidFill>
          <a:ln w="19050">
            <a:solidFill>
              <a:srgbClr val="0EA5E9"/>
            </a:solidFill>
            <a:prstDash val="solid"/>
          </a:ln>
        </p:spPr>
      </p:sp>
      <p:sp>
        <p:nvSpPr>
          <p:cNvPr id="19" name="Shape 17"/>
          <p:cNvSpPr/>
          <p:nvPr/>
        </p:nvSpPr>
        <p:spPr>
          <a:xfrm>
            <a:off x="3346704" y="1143000"/>
            <a:ext cx="2432304" cy="292608"/>
          </a:xfrm>
          <a:prstGeom prst="roundRect">
            <a:avLst>
              <a:gd name="adj" fmla="val 25000"/>
            </a:avLst>
          </a:prstGeom>
          <a:solidFill>
            <a:srgbClr val="E0F2FE"/>
          </a:solidFill>
          <a:ln w="12700">
            <a:solidFill>
              <a:srgbClr val="0EA5E9"/>
            </a:solidFill>
            <a:prstDash val="solid"/>
          </a:ln>
        </p:spPr>
      </p:sp>
      <p:sp>
        <p:nvSpPr>
          <p:cNvPr id="20" name="Text 18"/>
          <p:cNvSpPr/>
          <p:nvPr/>
        </p:nvSpPr>
        <p:spPr>
          <a:xfrm>
            <a:off x="3346704" y="1143000"/>
            <a:ext cx="2432304" cy="292608"/>
          </a:xfrm>
          <a:prstGeom prst="rect">
            <a:avLst/>
          </a:prstGeom>
          <a:noFill/>
          <a:ln/>
        </p:spPr>
        <p:txBody>
          <a:bodyPr wrap="square" rtlCol="0" anchor="ctr"/>
          <a:lstStyle/>
          <a:p>
            <a:pPr algn="ctr" indent="0" marL="0">
              <a:buNone/>
            </a:pPr>
            <a:r>
              <a:rPr lang="en-US" sz="820" b="1" dirty="0">
                <a:solidFill>
                  <a:srgbClr val="0EA5E9"/>
                </a:solidFill>
                <a:latin typeface="Arial" pitchFamily="34" charset="0"/>
                <a:ea typeface="Arial" pitchFamily="34" charset="-122"/>
                <a:cs typeface="Arial" pitchFamily="34" charset="-120"/>
              </a:rPr>
              <a:t>2. THANH TOÁN MÔ PHỎNG</a:t>
            </a:r>
            <a:endParaRPr lang="en-US" sz="820" dirty="0"/>
          </a:p>
        </p:txBody>
      </p:sp>
      <p:sp>
        <p:nvSpPr>
          <p:cNvPr id="21" name="Text 19"/>
          <p:cNvSpPr/>
          <p:nvPr/>
        </p:nvSpPr>
        <p:spPr>
          <a:xfrm>
            <a:off x="3392424" y="1490472"/>
            <a:ext cx="2340864" cy="123444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Mô phỏng VNPAY / MoMo / Thẻ.</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Ghi nhận vào `payments` với trạng thái 'success' và mã giao dịch.</a:t>
            </a:r>
            <a:endParaRPr lang="en-US" sz="750" dirty="0"/>
          </a:p>
        </p:txBody>
      </p:sp>
      <p:sp>
        <p:nvSpPr>
          <p:cNvPr id="22" name="Shape 20"/>
          <p:cNvSpPr/>
          <p:nvPr/>
        </p:nvSpPr>
        <p:spPr>
          <a:xfrm>
            <a:off x="6053328" y="1051560"/>
            <a:ext cx="2615184" cy="1737360"/>
          </a:xfrm>
          <a:prstGeom prst="roundRect">
            <a:avLst>
              <a:gd name="adj" fmla="val 7895"/>
            </a:avLst>
          </a:prstGeom>
          <a:solidFill>
            <a:srgbClr val="FFFFFF"/>
          </a:solidFill>
          <a:ln w="19050">
            <a:solidFill>
              <a:srgbClr val="8B5CF6"/>
            </a:solidFill>
            <a:prstDash val="solid"/>
          </a:ln>
        </p:spPr>
      </p:sp>
      <p:sp>
        <p:nvSpPr>
          <p:cNvPr id="23" name="Shape 21"/>
          <p:cNvSpPr/>
          <p:nvPr/>
        </p:nvSpPr>
        <p:spPr>
          <a:xfrm>
            <a:off x="6144768" y="1143000"/>
            <a:ext cx="2432304" cy="292608"/>
          </a:xfrm>
          <a:prstGeom prst="roundRect">
            <a:avLst>
              <a:gd name="adj" fmla="val 25000"/>
            </a:avLst>
          </a:prstGeom>
          <a:solidFill>
            <a:srgbClr val="F3E8FF"/>
          </a:solidFill>
          <a:ln w="12700">
            <a:solidFill>
              <a:srgbClr val="8B5CF6"/>
            </a:solidFill>
            <a:prstDash val="solid"/>
          </a:ln>
        </p:spPr>
      </p:sp>
      <p:sp>
        <p:nvSpPr>
          <p:cNvPr id="24" name="Text 22"/>
          <p:cNvSpPr/>
          <p:nvPr/>
        </p:nvSpPr>
        <p:spPr>
          <a:xfrm>
            <a:off x="6144768" y="1143000"/>
            <a:ext cx="2432304" cy="292608"/>
          </a:xfrm>
          <a:prstGeom prst="rect">
            <a:avLst/>
          </a:prstGeom>
          <a:noFill/>
          <a:ln/>
        </p:spPr>
        <p:txBody>
          <a:bodyPr wrap="square" rtlCol="0" anchor="ctr"/>
          <a:lstStyle/>
          <a:p>
            <a:pPr algn="ctr" indent="0" marL="0">
              <a:buNone/>
            </a:pPr>
            <a:r>
              <a:rPr lang="en-US" sz="820" b="1" dirty="0">
                <a:solidFill>
                  <a:srgbClr val="8B5CF6"/>
                </a:solidFill>
                <a:latin typeface="Arial" pitchFamily="34" charset="0"/>
                <a:ea typeface="Arial" pitchFamily="34" charset="-122"/>
                <a:cs typeface="Arial" pitchFamily="34" charset="-120"/>
              </a:rPr>
              <a:t>3. CHUYỂN TRẠNG THÁI 'BOOKED'</a:t>
            </a:r>
            <a:endParaRPr lang="en-US" sz="820" dirty="0"/>
          </a:p>
        </p:txBody>
      </p:sp>
      <p:sp>
        <p:nvSpPr>
          <p:cNvPr id="25" name="Text 23"/>
          <p:cNvSpPr/>
          <p:nvPr/>
        </p:nvSpPr>
        <p:spPr>
          <a:xfrm>
            <a:off x="6190488" y="1490472"/>
            <a:ext cx="2340864" cy="123444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Transaction cập nhật đồng thời:</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 `bookings.status` -&gt; 'paid'</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 `booking_seats.status` -&gt; 'booked'</a:t>
            </a:r>
            <a:endParaRPr lang="en-US" sz="750" dirty="0"/>
          </a:p>
        </p:txBody>
      </p:sp>
      <p:sp>
        <p:nvSpPr>
          <p:cNvPr id="26" name="Shape 24"/>
          <p:cNvSpPr/>
          <p:nvPr/>
        </p:nvSpPr>
        <p:spPr>
          <a:xfrm>
            <a:off x="457200" y="2926080"/>
            <a:ext cx="3977640" cy="1737360"/>
          </a:xfrm>
          <a:prstGeom prst="roundRect">
            <a:avLst>
              <a:gd name="adj" fmla="val 7895"/>
            </a:avLst>
          </a:prstGeom>
          <a:solidFill>
            <a:srgbClr val="FFFFFF"/>
          </a:solidFill>
          <a:ln w="19050">
            <a:solidFill>
              <a:srgbClr val="10B981"/>
            </a:solidFill>
            <a:prstDash val="solid"/>
          </a:ln>
        </p:spPr>
      </p:sp>
      <p:sp>
        <p:nvSpPr>
          <p:cNvPr id="27" name="Shape 25"/>
          <p:cNvSpPr/>
          <p:nvPr/>
        </p:nvSpPr>
        <p:spPr>
          <a:xfrm>
            <a:off x="548640" y="3017520"/>
            <a:ext cx="3794760" cy="292608"/>
          </a:xfrm>
          <a:prstGeom prst="roundRect">
            <a:avLst>
              <a:gd name="adj" fmla="val 25000"/>
            </a:avLst>
          </a:prstGeom>
          <a:solidFill>
            <a:srgbClr val="DCFCE7"/>
          </a:solidFill>
          <a:ln w="12700">
            <a:solidFill>
              <a:srgbClr val="10B981"/>
            </a:solidFill>
            <a:prstDash val="solid"/>
          </a:ln>
        </p:spPr>
      </p:sp>
      <p:sp>
        <p:nvSpPr>
          <p:cNvPr id="28" name="Text 26"/>
          <p:cNvSpPr/>
          <p:nvPr/>
        </p:nvSpPr>
        <p:spPr>
          <a:xfrm>
            <a:off x="548640" y="3017520"/>
            <a:ext cx="3794760" cy="292608"/>
          </a:xfrm>
          <a:prstGeom prst="rect">
            <a:avLst/>
          </a:prstGeom>
          <a:noFill/>
          <a:ln/>
        </p:spPr>
        <p:txBody>
          <a:bodyPr wrap="square" rtlCol="0" anchor="ctr"/>
          <a:lstStyle/>
          <a:p>
            <a:pPr algn="ctr" indent="0" marL="0">
              <a:buNone/>
            </a:pPr>
            <a:r>
              <a:rPr lang="en-US" sz="820" b="1" dirty="0">
                <a:solidFill>
                  <a:srgbClr val="10B981"/>
                </a:solidFill>
                <a:latin typeface="Arial" pitchFamily="34" charset="0"/>
                <a:ea typeface="Arial" pitchFamily="34" charset="-122"/>
                <a:cs typeface="Arial" pitchFamily="34" charset="-120"/>
              </a:rPr>
              <a:t>4. SINH MÃ VÉ TCK-xxx &amp; QR CODE</a:t>
            </a:r>
            <a:endParaRPr lang="en-US" sz="820" dirty="0"/>
          </a:p>
        </p:txBody>
      </p:sp>
      <p:sp>
        <p:nvSpPr>
          <p:cNvPr id="29" name="Text 27"/>
          <p:cNvSpPr/>
          <p:nvPr/>
        </p:nvSpPr>
        <p:spPr>
          <a:xfrm>
            <a:off x="594360" y="3364992"/>
            <a:ext cx="3703320" cy="123444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Tạo bản ghi `tickets` cho từng ghế.</a:t>
            </a:r>
            <a:endParaRPr lang="en-US" sz="750" dirty="0"/>
          </a:p>
          <a:p>
            <a:pPr indent="0" marL="0">
              <a:lnSpc>
                <a:spcPct val="115000"/>
              </a:lnSpc>
              <a:buNone/>
            </a:pPr>
            <a:r>
              <a:rPr lang="en-US" sz="750" dirty="0">
                <a:solidFill>
                  <a:srgbClr val="334155"/>
                </a:solidFill>
                <a:latin typeface="Arial" pitchFamily="34" charset="0"/>
                <a:ea typeface="Arial" pitchFamily="34" charset="-122"/>
                <a:cs typeface="Arial" pitchFamily="34" charset="-120"/>
              </a:rPr>
              <a:t>Sinh mã định danh TCK-YYYYMMDD-ID kèm chuỗi hash mã QR Code bảo mật.</a:t>
            </a:r>
            <a:endParaRPr lang="en-US" sz="750" dirty="0"/>
          </a:p>
        </p:txBody>
      </p:sp>
      <p:sp>
        <p:nvSpPr>
          <p:cNvPr id="30" name="Shape 28"/>
          <p:cNvSpPr/>
          <p:nvPr/>
        </p:nvSpPr>
        <p:spPr>
          <a:xfrm>
            <a:off x="4709160" y="2926080"/>
            <a:ext cx="3977640" cy="1737360"/>
          </a:xfrm>
          <a:prstGeom prst="roundRect">
            <a:avLst>
              <a:gd name="adj" fmla="val 7895"/>
            </a:avLst>
          </a:prstGeom>
          <a:solidFill>
            <a:srgbClr val="FFFFFF"/>
          </a:solidFill>
          <a:ln w="19050">
            <a:solidFill>
              <a:srgbClr val="FF4757"/>
            </a:solidFill>
            <a:prstDash val="solid"/>
          </a:ln>
        </p:spPr>
      </p:sp>
      <p:sp>
        <p:nvSpPr>
          <p:cNvPr id="31" name="Shape 29"/>
          <p:cNvSpPr/>
          <p:nvPr/>
        </p:nvSpPr>
        <p:spPr>
          <a:xfrm>
            <a:off x="4800600" y="3017520"/>
            <a:ext cx="3794760" cy="292608"/>
          </a:xfrm>
          <a:prstGeom prst="roundRect">
            <a:avLst>
              <a:gd name="adj" fmla="val 25000"/>
            </a:avLst>
          </a:prstGeom>
          <a:solidFill>
            <a:srgbClr val="FFE4E6"/>
          </a:solidFill>
          <a:ln w="12700">
            <a:solidFill>
              <a:srgbClr val="FF4757"/>
            </a:solidFill>
            <a:prstDash val="solid"/>
          </a:ln>
        </p:spPr>
      </p:sp>
      <p:sp>
        <p:nvSpPr>
          <p:cNvPr id="32" name="Text 30"/>
          <p:cNvSpPr/>
          <p:nvPr/>
        </p:nvSpPr>
        <p:spPr>
          <a:xfrm>
            <a:off x="4800600" y="3017520"/>
            <a:ext cx="3794760" cy="292608"/>
          </a:xfrm>
          <a:prstGeom prst="rect">
            <a:avLst/>
          </a:prstGeom>
          <a:noFill/>
          <a:ln/>
        </p:spPr>
        <p:txBody>
          <a:bodyPr wrap="square" rtlCol="0" anchor="ctr"/>
          <a:lstStyle/>
          <a:p>
            <a:pPr algn="ctr" indent="0" marL="0">
              <a:buNone/>
            </a:pPr>
            <a:r>
              <a:rPr lang="en-US" sz="820" b="1" dirty="0">
                <a:solidFill>
                  <a:srgbClr val="FF4757"/>
                </a:solidFill>
                <a:latin typeface="Arial" pitchFamily="34" charset="0"/>
                <a:ea typeface="Arial" pitchFamily="34" charset="-122"/>
                <a:cs typeface="Arial" pitchFamily="34" charset="-120"/>
              </a:rPr>
              <a:t>5. BẮN PHÁO HOA &amp; HIỂN THỊ VÉ ĐIỆN TỬ</a:t>
            </a:r>
            <a:endParaRPr lang="en-US" sz="820" dirty="0"/>
          </a:p>
        </p:txBody>
      </p:sp>
      <p:sp>
        <p:nvSpPr>
          <p:cNvPr id="33" name="Text 31"/>
          <p:cNvSpPr/>
          <p:nvPr/>
        </p:nvSpPr>
        <p:spPr>
          <a:xfrm>
            <a:off x="4846320" y="3364992"/>
            <a:ext cx="3703320" cy="1234440"/>
          </a:xfrm>
          <a:prstGeom prst="rect">
            <a:avLst/>
          </a:prstGeom>
          <a:noFill/>
          <a:ln/>
        </p:spPr>
        <p:txBody>
          <a:bodyPr wrap="square" rtlCol="0" anchor="ctr"/>
          <a:lstStyle/>
          <a:p>
            <a:pPr indent="0" marL="0">
              <a:lnSpc>
                <a:spcPct val="115000"/>
              </a:lnSpc>
              <a:buNone/>
            </a:pPr>
            <a:r>
              <a:rPr lang="en-US" sz="750" dirty="0">
                <a:solidFill>
                  <a:srgbClr val="334155"/>
                </a:solidFill>
                <a:latin typeface="Arial" pitchFamily="34" charset="0"/>
                <a:ea typeface="Arial" pitchFamily="34" charset="-122"/>
                <a:cs typeface="Arial" pitchFamily="34" charset="-120"/>
              </a:rPr>
              <a:t>Client nhận 200 OK -&gt; Hiệu ứng Canvas Confetti chúc mừng -&gt; Hiển thị Modal Vé QR để khách quét mã khi vào rạp.</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TƯƠNG TÁC</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14. SEQUENCE DIAGRAM: CƠ CHẾ GIẢI PHÓNG GHẾ HẾT HẠN (HOLD TIMEOUT)</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
                <a:gridCol w="2103120"/>
                <a:gridCol w="4389120"/>
                <a:gridCol w="1371600"/>
              </a:tblGrid>
              <a:tr h="0">
                <a:tc>
                  <a:txBody>
                    <a:bodyPr/>
                    <a:lstStyle/>
                    <a:p>
                      <a:pPr indent="0" marL="0">
                        <a:buNone/>
                      </a:pPr>
                      <a:r>
                        <a:rPr lang="en-US" sz="720" b="1" dirty="0">
                          <a:solidFill>
                            <a:srgbClr val="0F172A"/>
                          </a:solidFill>
                        </a:rPr>
                        <a:t>#</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Từ -&gt; Đến</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Thông Điệp Xử Lý (Message Flow)</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Ý Nghĩa</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20" b="1" dirty="0">
                          <a:solidFill>
                            <a:srgbClr val="0F172A"/>
                          </a:solidFill>
                        </a:rPr>
                        <a:t>1</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Timer Worker -&gt; Booking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Kích hoạt định kỳ mỗi 30 giây (Interval Cleanup)</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Trigger</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2</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Booking API -&gt; MySQL DB</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Consolas" pitchFamily="34" charset="0"/>
                          <a:ea typeface="Consolas" pitchFamily="34" charset="-122"/>
                          <a:cs typeface="Consolas" pitchFamily="34" charset="-120"/>
                        </a:rPr>
                        <a:t>START TRANSACTION -&gt; SELECT * FROM booking_seats WHERE status='holding' AND hold_expire &lt; NOW() FOR UPDATE</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Scan Expired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3</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MySQL DB -&gt; Booking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Trả về danh sách các ghế quá 10 phút chưa thanh toán</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Result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4</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Booking API -&gt; MySQL DB</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UPDATE booking_seats SET status='released'; UPDATE bookings SET status='expired';</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Release &amp; Expire</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5</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MySQL DB -&gt; Booking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COMMIT TRANSACTION</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Commit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6</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Khách khác (Client) -&gt; Booking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GET /api/schedules/:id/seats (Tải lại sơ đồ ghế)</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Refresh Seatmap</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7</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rPr>
                        <a:t>Booking API -&gt; Client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Ghế chuyển trạng thái 🟢 Trống (available) sẵn sàng đặt lại!</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Available</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hape 12"/>
          <p:cNvSpPr/>
          <p:nvPr/>
        </p:nvSpPr>
        <p:spPr>
          <a:xfrm>
            <a:off x="457200" y="3794760"/>
            <a:ext cx="8229600" cy="868680"/>
          </a:xfrm>
          <a:prstGeom prst="roundRect">
            <a:avLst>
              <a:gd name="adj" fmla="val 10526"/>
            </a:avLst>
          </a:prstGeom>
          <a:solidFill>
            <a:srgbClr val="FFFFFF"/>
          </a:solidFill>
          <a:ln w="15240">
            <a:solidFill>
              <a:srgbClr val="F59E0B"/>
            </a:solidFill>
            <a:prstDash val="solid"/>
          </a:ln>
        </p:spPr>
      </p:sp>
      <p:sp>
        <p:nvSpPr>
          <p:cNvPr id="16" name="Text 13"/>
          <p:cNvSpPr/>
          <p:nvPr/>
        </p:nvSpPr>
        <p:spPr>
          <a:xfrm>
            <a:off x="594360" y="3840480"/>
            <a:ext cx="7955280" cy="777240"/>
          </a:xfrm>
          <a:prstGeom prst="rect">
            <a:avLst/>
          </a:prstGeom>
          <a:noFill/>
          <a:ln/>
        </p:spPr>
        <p:txBody>
          <a:bodyPr wrap="square" rtlCol="0" anchor="ctr"/>
          <a:lstStyle/>
          <a:p>
            <a:pPr indent="0" marL="0">
              <a:lnSpc>
                <a:spcPct val="115000"/>
              </a:lnSpc>
              <a:buNone/>
            </a:pPr>
            <a:r>
              <a:rPr lang="en-US" sz="720" b="1" dirty="0">
                <a:solidFill>
                  <a:srgbClr val="F59E0B"/>
                </a:solidFill>
                <a:latin typeface="Arial" pitchFamily="34" charset="0"/>
                <a:ea typeface="Arial" pitchFamily="34" charset="-122"/>
                <a:cs typeface="Arial" pitchFamily="34" charset="-120"/>
              </a:rPr>
              <a:t>💡 Ưu điểm giải thuật Tự động giải phóng ghế (Hold Timeout):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Hoàn toàn tự động, không phụ thuộc vào việc người dùng có đóng trình duyệt hay mất kết nối mạng.</a:t>
            </a:r>
            <a:endParaRPr lang="en-US" sz="720" dirty="0"/>
          </a:p>
          <a:p>
            <a:pPr indent="0" marL="0">
              <a:lnSpc>
                <a:spcPct val="115000"/>
              </a:lnSpc>
              <a:buNone/>
            </a:pPr>
            <a:r>
              <a:rPr lang="en-US" sz="720" dirty="0">
                <a:solidFill>
                  <a:srgbClr val="334155"/>
                </a:solidFill>
                <a:latin typeface="Arial" pitchFamily="34" charset="0"/>
                <a:ea typeface="Arial" pitchFamily="34" charset="-122"/>
                <a:cs typeface="Arial" pitchFamily="34" charset="-120"/>
              </a:rPr>
              <a:t>• Tối đa hóa tỷ lệ lấp đầy rạp chiếu, đảm bảo ghế không bị giữ ảo (Phantom Holding) làm thất thu doanh thu của rạp.</a:t>
            </a:r>
            <a:endParaRPr lang="en-US" sz="7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MÔ HÌNH HÓA TƯƠNG TÁC</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15. SEQUENCE DIAGRAM: PHÂN CÔNG, XỬ LÝ SỰ CỐ &amp; NGHIỆM THU</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65760"/>
                <a:gridCol w="2194560"/>
                <a:gridCol w="4297680"/>
                <a:gridCol w="1371600"/>
              </a:tblGrid>
              <a:tr h="0">
                <a:tc>
                  <a:txBody>
                    <a:bodyPr/>
                    <a:lstStyle/>
                    <a:p>
                      <a:pPr indent="0" marL="0">
                        <a:buNone/>
                      </a:pPr>
                      <a:r>
                        <a:rPr lang="en-US" sz="720" b="1" dirty="0">
                          <a:solidFill>
                            <a:srgbClr val="0F172A"/>
                          </a:solidFill>
                        </a:rPr>
                        <a:t>#</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Từ -&gt; Đến</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Thông Điệp (Message / API Call)</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20" b="1" dirty="0">
                          <a:solidFill>
                            <a:srgbClr val="0F172A"/>
                          </a:solidFill>
                        </a:rPr>
                        <a:t>Trạng Thái</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20" b="1" dirty="0">
                          <a:solidFill>
                            <a:srgbClr val="0F172A"/>
                          </a:solidFill>
                        </a:rPr>
                        <a:t>1</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Staff (Nhân viên) -&gt; Incident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Consolas" pitchFamily="34" charset="0"/>
                          <a:ea typeface="Consolas" pitchFamily="34" charset="-122"/>
                          <a:cs typeface="Consolas" pitchFamily="34" charset="-120"/>
                        </a:rPr>
                        <a:t>POST /incidents { roomId: 8, severity: 'high', equipId: 25 }</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Tạo Incident (new)</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2</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Incident API -&gt; Manager</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Gửi Notification cảnh báo sự cố phòng 8 đến Quản lý</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Báo động</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3</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Manager (Quản lý) -&gt; Assignment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Consolas" pitchFamily="34" charset="0"/>
                          <a:ea typeface="Consolas" pitchFamily="34" charset="-122"/>
                          <a:cs typeface="Consolas" pitchFamily="34" charset="-120"/>
                        </a:rPr>
                        <a:t>POST /incidents/1/assign { techId: 6 (KTV Võ Minh Quân) }</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Gán KTV (accepted)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4</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Assignment API -&gt; Technician</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Bắn thông báo nhiệm vụ sửa chữa cho KTV</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Nhận việc</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5</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Technician (KTV) -&gt; Incident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Consolas" pitchFamily="34" charset="0"/>
                          <a:ea typeface="Consolas" pitchFamily="34" charset="-122"/>
                          <a:cs typeface="Consolas" pitchFamily="34" charset="-120"/>
                        </a:rPr>
                        <a:t>POST /incidents/1/resolve { spareParts: 'Tụ 50uF', cost: 350000 }</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Báo xong (resolved)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6</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Manager (Quản lý) -&gt; Incident API</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Consolas" pitchFamily="34" charset="0"/>
                          <a:ea typeface="Consolas" pitchFamily="34" charset="-122"/>
                          <a:cs typeface="Consolas" pitchFamily="34" charset="-120"/>
                        </a:rPr>
                        <a:t>POST /incidents/1/close -&gt; Nghiệm thu đạt chuẩn an toàn</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Đóng phiếu (closed)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20" b="1" dirty="0">
                          <a:solidFill>
                            <a:srgbClr val="0F172A"/>
                          </a:solidFill>
                        </a:rPr>
                        <a:t>7</a:t>
                      </a:r>
                      <a:endParaRPr lang="en-US" sz="72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rPr>
                        <a:t>Incident API -&gt; MySQL DB</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latin typeface="Arial" pitchFamily="34" charset="0"/>
                          <a:ea typeface="Arial" pitchFamily="34" charset="-122"/>
                          <a:cs typeface="Arial" pitchFamily="34" charset="-120"/>
                        </a:rPr>
                        <a:t>UPDATE cinema_rooms SET status='active'; Khóa vĩnh viễn phiếu.</a:t>
                      </a:r>
                      <a:endParaRPr lang="en-US" sz="700" dirty="0">
                        <a:latin typeface="Arial" charset="0"/>
                        <a:ea typeface="Arial" charset="0"/>
                        <a:cs typeface="Arial"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10B981"/>
                          </a:solidFill>
                        </a:rPr>
                        <a:t>Phòng mở lại (🟢)</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hape 12"/>
          <p:cNvSpPr/>
          <p:nvPr/>
        </p:nvSpPr>
        <p:spPr>
          <a:xfrm>
            <a:off x="457200" y="3794760"/>
            <a:ext cx="8229600" cy="868680"/>
          </a:xfrm>
          <a:prstGeom prst="roundRect">
            <a:avLst>
              <a:gd name="adj" fmla="val 10526"/>
            </a:avLst>
          </a:prstGeom>
          <a:solidFill>
            <a:srgbClr val="FFFFFF"/>
          </a:solidFill>
          <a:ln w="15240">
            <a:solidFill>
              <a:srgbClr val="8B5CF6"/>
            </a:solidFill>
            <a:prstDash val="solid"/>
          </a:ln>
        </p:spPr>
      </p:sp>
      <p:sp>
        <p:nvSpPr>
          <p:cNvPr id="16" name="Text 13"/>
          <p:cNvSpPr/>
          <p:nvPr/>
        </p:nvSpPr>
        <p:spPr>
          <a:xfrm>
            <a:off x="594360" y="3840480"/>
            <a:ext cx="7955280" cy="777240"/>
          </a:xfrm>
          <a:prstGeom prst="rect">
            <a:avLst/>
          </a:prstGeom>
          <a:noFill/>
          <a:ln/>
        </p:spPr>
        <p:txBody>
          <a:bodyPr wrap="square" rtlCol="0" anchor="ctr"/>
          <a:lstStyle/>
          <a:p>
            <a:pPr indent="0" marL="0">
              <a:lnSpc>
                <a:spcPct val="115000"/>
              </a:lnSpc>
              <a:buNone/>
            </a:pPr>
            <a:r>
              <a:rPr lang="en-US" sz="720" b="1" dirty="0">
                <a:solidFill>
                  <a:srgbClr val="8B5CF6"/>
                </a:solidFill>
                <a:latin typeface="Arial" pitchFamily="34" charset="0"/>
                <a:ea typeface="Arial" pitchFamily="34" charset="-122"/>
                <a:cs typeface="Arial" pitchFamily="34" charset="-120"/>
              </a:rPr>
              <a:t>🔒 Tính toàn vẹn và minh bạch dữ liệu bảo trì: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Quy tắc BR13 &amp; BR14: Khi sự cố chuyển sang 'closed', toàn bộ dữ liệu bị khóa chống chỉnh sửa.</a:t>
            </a:r>
            <a:endParaRPr lang="en-US" sz="720" dirty="0"/>
          </a:p>
          <a:p>
            <a:pPr indent="0" marL="0">
              <a:lnSpc>
                <a:spcPct val="115000"/>
              </a:lnSpc>
              <a:buNone/>
            </a:pPr>
            <a:r>
              <a:rPr lang="en-US" sz="720" dirty="0">
                <a:solidFill>
                  <a:srgbClr val="334155"/>
                </a:solidFill>
                <a:latin typeface="Arial" pitchFamily="34" charset="0"/>
                <a:ea typeface="Arial" pitchFamily="34" charset="-122"/>
                <a:cs typeface="Arial" pitchFamily="34" charset="-120"/>
              </a:rPr>
              <a:t>• Bảng `incident_histories` ghi nhận rõ ràng từng bước ai làm, thay linh kiện gì và chi phí bao nhiêu.</a:t>
            </a:r>
            <a:endParaRPr lang="en-US" sz="7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THIẾT KẾ HƯỚNG ĐỐI TƯỢNG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16. CLASS DIAGRAM: MÔ HÌNH HÓA CẤU TRÚC 22 LỚP THỰC THỂ</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3611880"/>
          </a:xfrm>
          <a:prstGeom prst="roundRect">
            <a:avLst>
              <a:gd name="adj" fmla="val 5245"/>
            </a:avLst>
          </a:prstGeom>
          <a:solidFill>
            <a:srgbClr val="FFFFFF"/>
          </a:solidFill>
          <a:ln w="19050">
            <a:solidFill>
              <a:srgbClr val="FF4757"/>
            </a:solidFill>
            <a:prstDash val="solid"/>
          </a:ln>
        </p:spPr>
      </p:sp>
      <p:sp>
        <p:nvSpPr>
          <p:cNvPr id="15" name="Shape 13"/>
          <p:cNvSpPr/>
          <p:nvPr/>
        </p:nvSpPr>
        <p:spPr>
          <a:xfrm>
            <a:off x="548640" y="1143000"/>
            <a:ext cx="2432304" cy="292608"/>
          </a:xfrm>
          <a:prstGeom prst="roundRect">
            <a:avLst>
              <a:gd name="adj" fmla="val 25000"/>
            </a:avLst>
          </a:prstGeom>
          <a:solidFill>
            <a:srgbClr val="FFE4E6"/>
          </a:solidFill>
          <a:ln w="12700">
            <a:solidFill>
              <a:srgbClr val="FF4757"/>
            </a:solidFill>
            <a:prstDash val="solid"/>
          </a:ln>
        </p:spPr>
      </p:sp>
      <p:sp>
        <p:nvSpPr>
          <p:cNvPr id="16" name="Text 14"/>
          <p:cNvSpPr/>
          <p:nvPr/>
        </p:nvSpPr>
        <p:spPr>
          <a:xfrm>
            <a:off x="548640" y="1143000"/>
            <a:ext cx="2432304" cy="292608"/>
          </a:xfrm>
          <a:prstGeom prst="rect">
            <a:avLst/>
          </a:prstGeom>
          <a:noFill/>
          <a:ln/>
        </p:spPr>
        <p:txBody>
          <a:bodyPr wrap="square" rtlCol="0" anchor="ctr"/>
          <a:lstStyle/>
          <a:p>
            <a:pPr algn="ctr" indent="0" marL="0">
              <a:buNone/>
            </a:pPr>
            <a:r>
              <a:rPr lang="en-US" sz="780" b="1" dirty="0">
                <a:solidFill>
                  <a:srgbClr val="FF4757"/>
                </a:solidFill>
                <a:latin typeface="Arial" pitchFamily="34" charset="0"/>
                <a:ea typeface="Arial" pitchFamily="34" charset="-122"/>
                <a:cs typeface="Arial" pitchFamily="34" charset="-120"/>
              </a:rPr>
              <a:t>📦 GÓI 1: USER &amp; PHÂN QUYỀN</a:t>
            </a:r>
            <a:endParaRPr lang="en-US" sz="780" dirty="0"/>
          </a:p>
        </p:txBody>
      </p:sp>
      <p:sp>
        <p:nvSpPr>
          <p:cNvPr id="17" name="Text 15"/>
          <p:cNvSpPr/>
          <p:nvPr/>
        </p:nvSpPr>
        <p:spPr>
          <a:xfrm>
            <a:off x="548640" y="1490472"/>
            <a:ext cx="2432304" cy="2148840"/>
          </a:xfrm>
          <a:prstGeom prst="rect">
            <a:avLst/>
          </a:prstGeom>
          <a:noFill/>
          <a:ln/>
        </p:spPr>
        <p:txBody>
          <a:bodyPr wrap="square" rtlCol="0" anchor="ctr"/>
          <a:lstStyle/>
          <a:p>
            <a:pPr indent="0" marL="0">
              <a:lnSpc>
                <a:spcPct val="115000"/>
              </a:lnSpc>
              <a:buNone/>
            </a:pPr>
            <a:r>
              <a:rPr lang="en-US" sz="680" dirty="0">
                <a:solidFill>
                  <a:srgbClr val="0F172A"/>
                </a:solidFill>
                <a:latin typeface="Arial" pitchFamily="34" charset="0"/>
                <a:ea typeface="Arial" pitchFamily="34" charset="-122"/>
                <a:cs typeface="Arial" pitchFamily="34" charset="-120"/>
              </a:rPr>
              <a:t>📄 User (id, username, password, roleId)</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Role (id, name, description)</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Customer (id, userId, name, email)</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Employee (id, userId, name, position)</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WorkShift (id, employeeId, workDate)</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Notification (id, userId, title, isRead)</a:t>
            </a:r>
            <a:endParaRPr lang="en-US" sz="680" dirty="0"/>
          </a:p>
        </p:txBody>
      </p:sp>
      <p:sp>
        <p:nvSpPr>
          <p:cNvPr id="18" name="Shape 16"/>
          <p:cNvSpPr/>
          <p:nvPr/>
        </p:nvSpPr>
        <p:spPr>
          <a:xfrm>
            <a:off x="548640" y="3703320"/>
            <a:ext cx="2432304" cy="868680"/>
          </a:xfrm>
          <a:prstGeom prst="roundRect">
            <a:avLst>
              <a:gd name="adj" fmla="val 8421"/>
            </a:avLst>
          </a:prstGeom>
          <a:solidFill>
            <a:srgbClr val="F8FAFC"/>
          </a:solidFill>
          <a:ln w="12700">
            <a:solidFill>
              <a:srgbClr val="CBD5E1"/>
            </a:solidFill>
            <a:prstDash val="solid"/>
          </a:ln>
        </p:spPr>
      </p:sp>
      <p:sp>
        <p:nvSpPr>
          <p:cNvPr id="19" name="Text 17"/>
          <p:cNvSpPr/>
          <p:nvPr/>
        </p:nvSpPr>
        <p:spPr>
          <a:xfrm>
            <a:off x="594360" y="3749040"/>
            <a:ext cx="2340864" cy="182880"/>
          </a:xfrm>
          <a:prstGeom prst="rect">
            <a:avLst/>
          </a:prstGeom>
          <a:noFill/>
          <a:ln/>
        </p:spPr>
        <p:txBody>
          <a:bodyPr wrap="square" rtlCol="0" anchor="ctr"/>
          <a:lstStyle/>
          <a:p>
            <a:pPr indent="0" marL="0">
              <a:buNone/>
            </a:pPr>
            <a:r>
              <a:rPr lang="en-US" sz="720" b="1" dirty="0">
                <a:solidFill>
                  <a:srgbClr val="FF4757"/>
                </a:solidFill>
                <a:latin typeface="Arial" pitchFamily="34" charset="0"/>
                <a:ea typeface="Arial" pitchFamily="34" charset="-122"/>
                <a:cs typeface="Arial" pitchFamily="34" charset="-120"/>
              </a:rPr>
              <a:t>🔗 Mối quan hệ chính:</a:t>
            </a:r>
            <a:endParaRPr lang="en-US" sz="720" dirty="0"/>
          </a:p>
        </p:txBody>
      </p:sp>
      <p:sp>
        <p:nvSpPr>
          <p:cNvPr id="20" name="Text 18"/>
          <p:cNvSpPr/>
          <p:nvPr/>
        </p:nvSpPr>
        <p:spPr>
          <a:xfrm>
            <a:off x="594360" y="3959352"/>
            <a:ext cx="2340864" cy="566928"/>
          </a:xfrm>
          <a:prstGeom prst="rect">
            <a:avLst/>
          </a:prstGeom>
          <a:noFill/>
          <a:ln/>
        </p:spPr>
        <p:txBody>
          <a:bodyPr wrap="square" rtlCol="0" anchor="ctr"/>
          <a:lstStyle/>
          <a:p>
            <a:pPr indent="0" marL="0">
              <a:buNone/>
            </a:pPr>
            <a:r>
              <a:rPr lang="en-US" sz="680" dirty="0">
                <a:solidFill>
                  <a:srgbClr val="334155"/>
                </a:solidFill>
                <a:latin typeface="Arial" pitchFamily="34" charset="0"/>
                <a:ea typeface="Arial" pitchFamily="34" charset="-122"/>
                <a:cs typeface="Arial" pitchFamily="34" charset="-120"/>
              </a:rPr>
              <a:t>• User 1 - 1 Role</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User 1 - 0..1 Customer / Employee</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Employee 1 - * WorkShift</a:t>
            </a:r>
            <a:endParaRPr lang="en-US" sz="680" dirty="0"/>
          </a:p>
        </p:txBody>
      </p:sp>
      <p:sp>
        <p:nvSpPr>
          <p:cNvPr id="21" name="Shape 19"/>
          <p:cNvSpPr/>
          <p:nvPr/>
        </p:nvSpPr>
        <p:spPr>
          <a:xfrm>
            <a:off x="3255264" y="1051560"/>
            <a:ext cx="2615184" cy="3611880"/>
          </a:xfrm>
          <a:prstGeom prst="roundRect">
            <a:avLst>
              <a:gd name="adj" fmla="val 5245"/>
            </a:avLst>
          </a:prstGeom>
          <a:solidFill>
            <a:srgbClr val="FFFFFF"/>
          </a:solidFill>
          <a:ln w="19050">
            <a:solidFill>
              <a:srgbClr val="F59E0B"/>
            </a:solidFill>
            <a:prstDash val="solid"/>
          </a:ln>
        </p:spPr>
      </p:sp>
      <p:sp>
        <p:nvSpPr>
          <p:cNvPr id="22" name="Shape 20"/>
          <p:cNvSpPr/>
          <p:nvPr/>
        </p:nvSpPr>
        <p:spPr>
          <a:xfrm>
            <a:off x="3346704" y="1143000"/>
            <a:ext cx="2432304" cy="292608"/>
          </a:xfrm>
          <a:prstGeom prst="roundRect">
            <a:avLst>
              <a:gd name="adj" fmla="val 25000"/>
            </a:avLst>
          </a:prstGeom>
          <a:solidFill>
            <a:srgbClr val="FEF9C3"/>
          </a:solidFill>
          <a:ln w="12700">
            <a:solidFill>
              <a:srgbClr val="F59E0B"/>
            </a:solidFill>
            <a:prstDash val="solid"/>
          </a:ln>
        </p:spPr>
      </p:sp>
      <p:sp>
        <p:nvSpPr>
          <p:cNvPr id="23" name="Text 21"/>
          <p:cNvSpPr/>
          <p:nvPr/>
        </p:nvSpPr>
        <p:spPr>
          <a:xfrm>
            <a:off x="3346704" y="1143000"/>
            <a:ext cx="2432304" cy="292608"/>
          </a:xfrm>
          <a:prstGeom prst="rect">
            <a:avLst/>
          </a:prstGeom>
          <a:noFill/>
          <a:ln/>
        </p:spPr>
        <p:txBody>
          <a:bodyPr wrap="square" rtlCol="0" anchor="ctr"/>
          <a:lstStyle/>
          <a:p>
            <a:pPr algn="ctr" indent="0" marL="0">
              <a:buNone/>
            </a:pPr>
            <a:r>
              <a:rPr lang="en-US" sz="780" b="1" dirty="0">
                <a:solidFill>
                  <a:srgbClr val="F59E0B"/>
                </a:solidFill>
                <a:latin typeface="Arial" pitchFamily="34" charset="0"/>
                <a:ea typeface="Arial" pitchFamily="34" charset="-122"/>
                <a:cs typeface="Arial" pitchFamily="34" charset="-120"/>
              </a:rPr>
              <a:t>📦 GÓI 2: PHÒNG, THIẾT BỊ &amp; SỰ CỐ</a:t>
            </a:r>
            <a:endParaRPr lang="en-US" sz="780" dirty="0"/>
          </a:p>
        </p:txBody>
      </p:sp>
      <p:sp>
        <p:nvSpPr>
          <p:cNvPr id="24" name="Text 22"/>
          <p:cNvSpPr/>
          <p:nvPr/>
        </p:nvSpPr>
        <p:spPr>
          <a:xfrm>
            <a:off x="3346704" y="1490472"/>
            <a:ext cx="2432304" cy="2148840"/>
          </a:xfrm>
          <a:prstGeom prst="rect">
            <a:avLst/>
          </a:prstGeom>
          <a:noFill/>
          <a:ln/>
        </p:spPr>
        <p:txBody>
          <a:bodyPr wrap="square" rtlCol="0" anchor="ctr"/>
          <a:lstStyle/>
          <a:p>
            <a:pPr indent="0" marL="0">
              <a:lnSpc>
                <a:spcPct val="115000"/>
              </a:lnSpc>
              <a:buNone/>
            </a:pPr>
            <a:r>
              <a:rPr lang="en-US" sz="680" dirty="0">
                <a:solidFill>
                  <a:srgbClr val="0F172A"/>
                </a:solidFill>
                <a:latin typeface="Arial" pitchFamily="34" charset="0"/>
                <a:ea typeface="Arial" pitchFamily="34" charset="-122"/>
                <a:cs typeface="Arial" pitchFamily="34" charset="-120"/>
              </a:rPr>
              <a:t>📄 CinemaRoom (id, name, type, capacity)</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Seat (id, roomId, rowNum, seatNum)</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Equipment (id, typeId, roomId, code)</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EquipmentType (id, name, desc)</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Incident (id, code, roomId, equipId)</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IncidentHistory (id, incidentId, cost)</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Maintenance (id, equipmentId, date)</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RoomInspection &amp; Detail (9 tiêu chí)</a:t>
            </a:r>
            <a:endParaRPr lang="en-US" sz="680" dirty="0"/>
          </a:p>
        </p:txBody>
      </p:sp>
      <p:sp>
        <p:nvSpPr>
          <p:cNvPr id="25" name="Shape 23"/>
          <p:cNvSpPr/>
          <p:nvPr/>
        </p:nvSpPr>
        <p:spPr>
          <a:xfrm>
            <a:off x="3346704" y="3703320"/>
            <a:ext cx="2432304" cy="868680"/>
          </a:xfrm>
          <a:prstGeom prst="roundRect">
            <a:avLst>
              <a:gd name="adj" fmla="val 8421"/>
            </a:avLst>
          </a:prstGeom>
          <a:solidFill>
            <a:srgbClr val="F8FAFC"/>
          </a:solidFill>
          <a:ln w="12700">
            <a:solidFill>
              <a:srgbClr val="CBD5E1"/>
            </a:solidFill>
            <a:prstDash val="solid"/>
          </a:ln>
        </p:spPr>
      </p:sp>
      <p:sp>
        <p:nvSpPr>
          <p:cNvPr id="26" name="Text 24"/>
          <p:cNvSpPr/>
          <p:nvPr/>
        </p:nvSpPr>
        <p:spPr>
          <a:xfrm>
            <a:off x="3392424" y="3749040"/>
            <a:ext cx="2340864" cy="182880"/>
          </a:xfrm>
          <a:prstGeom prst="rect">
            <a:avLst/>
          </a:prstGeom>
          <a:noFill/>
          <a:ln/>
        </p:spPr>
        <p:txBody>
          <a:bodyPr wrap="square" rtlCol="0" anchor="ctr"/>
          <a:lstStyle/>
          <a:p>
            <a:pPr indent="0" marL="0">
              <a:buNone/>
            </a:pPr>
            <a:r>
              <a:rPr lang="en-US" sz="720" b="1" dirty="0">
                <a:solidFill>
                  <a:srgbClr val="F59E0B"/>
                </a:solidFill>
                <a:latin typeface="Arial" pitchFamily="34" charset="0"/>
                <a:ea typeface="Arial" pitchFamily="34" charset="-122"/>
                <a:cs typeface="Arial" pitchFamily="34" charset="-120"/>
              </a:rPr>
              <a:t>🔗 Mối quan hệ chính:</a:t>
            </a:r>
            <a:endParaRPr lang="en-US" sz="720" dirty="0"/>
          </a:p>
        </p:txBody>
      </p:sp>
      <p:sp>
        <p:nvSpPr>
          <p:cNvPr id="27" name="Text 25"/>
          <p:cNvSpPr/>
          <p:nvPr/>
        </p:nvSpPr>
        <p:spPr>
          <a:xfrm>
            <a:off x="3392424" y="3959352"/>
            <a:ext cx="2340864" cy="566928"/>
          </a:xfrm>
          <a:prstGeom prst="rect">
            <a:avLst/>
          </a:prstGeom>
          <a:noFill/>
          <a:ln/>
        </p:spPr>
        <p:txBody>
          <a:bodyPr wrap="square" rtlCol="0" anchor="ctr"/>
          <a:lstStyle/>
          <a:p>
            <a:pPr indent="0" marL="0">
              <a:buNone/>
            </a:pPr>
            <a:r>
              <a:rPr lang="en-US" sz="680" dirty="0">
                <a:solidFill>
                  <a:srgbClr val="334155"/>
                </a:solidFill>
                <a:latin typeface="Arial" pitchFamily="34" charset="0"/>
                <a:ea typeface="Arial" pitchFamily="34" charset="-122"/>
                <a:cs typeface="Arial" pitchFamily="34" charset="-120"/>
              </a:rPr>
              <a:t>• Room 1 - * Seat (Composition)</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Room 1 - * Equipment (Aggregation)</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Incident 1 - * History (Composition)</a:t>
            </a:r>
            <a:endParaRPr lang="en-US" sz="680" dirty="0"/>
          </a:p>
        </p:txBody>
      </p:sp>
      <p:sp>
        <p:nvSpPr>
          <p:cNvPr id="28" name="Shape 26"/>
          <p:cNvSpPr/>
          <p:nvPr/>
        </p:nvSpPr>
        <p:spPr>
          <a:xfrm>
            <a:off x="6053328" y="1051560"/>
            <a:ext cx="2615184" cy="3611880"/>
          </a:xfrm>
          <a:prstGeom prst="roundRect">
            <a:avLst>
              <a:gd name="adj" fmla="val 5245"/>
            </a:avLst>
          </a:prstGeom>
          <a:solidFill>
            <a:srgbClr val="FFFFFF"/>
          </a:solidFill>
          <a:ln w="19050">
            <a:solidFill>
              <a:srgbClr val="10B981"/>
            </a:solidFill>
            <a:prstDash val="solid"/>
          </a:ln>
        </p:spPr>
      </p:sp>
      <p:sp>
        <p:nvSpPr>
          <p:cNvPr id="29" name="Shape 27"/>
          <p:cNvSpPr/>
          <p:nvPr/>
        </p:nvSpPr>
        <p:spPr>
          <a:xfrm>
            <a:off x="6144768" y="1143000"/>
            <a:ext cx="2432304" cy="292608"/>
          </a:xfrm>
          <a:prstGeom prst="roundRect">
            <a:avLst>
              <a:gd name="adj" fmla="val 25000"/>
            </a:avLst>
          </a:prstGeom>
          <a:solidFill>
            <a:srgbClr val="DCFCE7"/>
          </a:solidFill>
          <a:ln w="12700">
            <a:solidFill>
              <a:srgbClr val="10B981"/>
            </a:solidFill>
            <a:prstDash val="solid"/>
          </a:ln>
        </p:spPr>
      </p:sp>
      <p:sp>
        <p:nvSpPr>
          <p:cNvPr id="30" name="Text 28"/>
          <p:cNvSpPr/>
          <p:nvPr/>
        </p:nvSpPr>
        <p:spPr>
          <a:xfrm>
            <a:off x="6144768" y="1143000"/>
            <a:ext cx="2432304" cy="292608"/>
          </a:xfrm>
          <a:prstGeom prst="rect">
            <a:avLst/>
          </a:prstGeom>
          <a:noFill/>
          <a:ln/>
        </p:spPr>
        <p:txBody>
          <a:bodyPr wrap="square" rtlCol="0" anchor="ctr"/>
          <a:lstStyle/>
          <a:p>
            <a:pPr algn="ctr" indent="0" marL="0">
              <a:buNone/>
            </a:pPr>
            <a:r>
              <a:rPr lang="en-US" sz="780" b="1" dirty="0">
                <a:solidFill>
                  <a:srgbClr val="10B981"/>
                </a:solidFill>
                <a:latin typeface="Arial" pitchFamily="34" charset="0"/>
                <a:ea typeface="Arial" pitchFamily="34" charset="-122"/>
                <a:cs typeface="Arial" pitchFamily="34" charset="-120"/>
              </a:rPr>
              <a:t>📦 GÓI 3: PHIM, LỊCH CHIẾU &amp; VÉ</a:t>
            </a:r>
            <a:endParaRPr lang="en-US" sz="780" dirty="0"/>
          </a:p>
        </p:txBody>
      </p:sp>
      <p:sp>
        <p:nvSpPr>
          <p:cNvPr id="31" name="Text 29"/>
          <p:cNvSpPr/>
          <p:nvPr/>
        </p:nvSpPr>
        <p:spPr>
          <a:xfrm>
            <a:off x="6144768" y="1490472"/>
            <a:ext cx="2432304" cy="2148840"/>
          </a:xfrm>
          <a:prstGeom prst="rect">
            <a:avLst/>
          </a:prstGeom>
          <a:noFill/>
          <a:ln/>
        </p:spPr>
        <p:txBody>
          <a:bodyPr wrap="square" rtlCol="0" anchor="ctr"/>
          <a:lstStyle/>
          <a:p>
            <a:pPr indent="0" marL="0">
              <a:lnSpc>
                <a:spcPct val="115000"/>
              </a:lnSpc>
              <a:buNone/>
            </a:pPr>
            <a:r>
              <a:rPr lang="en-US" sz="680" dirty="0">
                <a:solidFill>
                  <a:srgbClr val="0F172A"/>
                </a:solidFill>
                <a:latin typeface="Arial" pitchFamily="34" charset="0"/>
                <a:ea typeface="Arial" pitchFamily="34" charset="-122"/>
                <a:cs typeface="Arial" pitchFamily="34" charset="-120"/>
              </a:rPr>
              <a:t>📄 Movie (id, name, genre, duration)</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ScreeningSchedule (id, movieId, time)</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Booking (id, customerId, total, status)</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BookingSeat (id, bookingId, seatId)</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Payment (id, bookingId, method)</a:t>
            </a:r>
            <a:endParaRPr lang="en-US" sz="680" dirty="0"/>
          </a:p>
          <a:p>
            <a:pPr indent="0" marL="0">
              <a:lnSpc>
                <a:spcPct val="115000"/>
              </a:lnSpc>
              <a:buNone/>
            </a:pPr>
            <a:r>
              <a:rPr lang="en-US" sz="680" dirty="0">
                <a:solidFill>
                  <a:srgbClr val="0F172A"/>
                </a:solidFill>
                <a:latin typeface="Arial" pitchFamily="34" charset="0"/>
                <a:ea typeface="Arial" pitchFamily="34" charset="-122"/>
                <a:cs typeface="Arial" pitchFamily="34" charset="-120"/>
              </a:rPr>
              <a:t>📄 Ticket (id, bookingId, ticketCode, qr)</a:t>
            </a:r>
            <a:endParaRPr lang="en-US" sz="680" dirty="0"/>
          </a:p>
        </p:txBody>
      </p:sp>
      <p:sp>
        <p:nvSpPr>
          <p:cNvPr id="32" name="Shape 30"/>
          <p:cNvSpPr/>
          <p:nvPr/>
        </p:nvSpPr>
        <p:spPr>
          <a:xfrm>
            <a:off x="6144768" y="3703320"/>
            <a:ext cx="2432304" cy="868680"/>
          </a:xfrm>
          <a:prstGeom prst="roundRect">
            <a:avLst>
              <a:gd name="adj" fmla="val 8421"/>
            </a:avLst>
          </a:prstGeom>
          <a:solidFill>
            <a:srgbClr val="F8FAFC"/>
          </a:solidFill>
          <a:ln w="12700">
            <a:solidFill>
              <a:srgbClr val="CBD5E1"/>
            </a:solidFill>
            <a:prstDash val="solid"/>
          </a:ln>
        </p:spPr>
      </p:sp>
      <p:sp>
        <p:nvSpPr>
          <p:cNvPr id="33" name="Text 31"/>
          <p:cNvSpPr/>
          <p:nvPr/>
        </p:nvSpPr>
        <p:spPr>
          <a:xfrm>
            <a:off x="6190488" y="3749040"/>
            <a:ext cx="2340864" cy="182880"/>
          </a:xfrm>
          <a:prstGeom prst="rect">
            <a:avLst/>
          </a:prstGeom>
          <a:noFill/>
          <a:ln/>
        </p:spPr>
        <p:txBody>
          <a:bodyPr wrap="square" rtlCol="0" anchor="ctr"/>
          <a:lstStyle/>
          <a:p>
            <a:pPr indent="0" marL="0">
              <a:buNone/>
            </a:pPr>
            <a:r>
              <a:rPr lang="en-US" sz="720" b="1" dirty="0">
                <a:solidFill>
                  <a:srgbClr val="10B981"/>
                </a:solidFill>
                <a:latin typeface="Arial" pitchFamily="34" charset="0"/>
                <a:ea typeface="Arial" pitchFamily="34" charset="-122"/>
                <a:cs typeface="Arial" pitchFamily="34" charset="-120"/>
              </a:rPr>
              <a:t>🔗 Mối quan hệ chính:</a:t>
            </a:r>
            <a:endParaRPr lang="en-US" sz="720" dirty="0"/>
          </a:p>
        </p:txBody>
      </p:sp>
      <p:sp>
        <p:nvSpPr>
          <p:cNvPr id="34" name="Text 32"/>
          <p:cNvSpPr/>
          <p:nvPr/>
        </p:nvSpPr>
        <p:spPr>
          <a:xfrm>
            <a:off x="6190488" y="3959352"/>
            <a:ext cx="2340864" cy="566928"/>
          </a:xfrm>
          <a:prstGeom prst="rect">
            <a:avLst/>
          </a:prstGeom>
          <a:noFill/>
          <a:ln/>
        </p:spPr>
        <p:txBody>
          <a:bodyPr wrap="square" rtlCol="0" anchor="ctr"/>
          <a:lstStyle/>
          <a:p>
            <a:pPr indent="0" marL="0">
              <a:buNone/>
            </a:pPr>
            <a:r>
              <a:rPr lang="en-US" sz="680" dirty="0">
                <a:solidFill>
                  <a:srgbClr val="334155"/>
                </a:solidFill>
                <a:latin typeface="Arial" pitchFamily="34" charset="0"/>
                <a:ea typeface="Arial" pitchFamily="34" charset="-122"/>
                <a:cs typeface="Arial" pitchFamily="34" charset="-120"/>
              </a:rPr>
              <a:t>• Movie 1 - * ScreeningSchedule</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Schedule 1 - * Booking</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Booking 1 - 1..* BookingSeat</a:t>
            </a:r>
            <a:endParaRPr lang="en-US" sz="680" dirty="0"/>
          </a:p>
          <a:p>
            <a:pPr indent="0" marL="0">
              <a:buNone/>
            </a:pPr>
            <a:r>
              <a:rPr lang="en-US" sz="680" dirty="0">
                <a:solidFill>
                  <a:srgbClr val="334155"/>
                </a:solidFill>
                <a:latin typeface="Arial" pitchFamily="34" charset="0"/>
                <a:ea typeface="Arial" pitchFamily="34" charset="-122"/>
                <a:cs typeface="Arial" pitchFamily="34" charset="-120"/>
              </a:rPr>
              <a:t>• Booking 1 - 1..* Ticket</a:t>
            </a:r>
            <a:endParaRPr lang="en-US" sz="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THIẾT KẾ HƯỚNG ĐỐI TƯỢNG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17. CLASS DIAGRAM CHI TIẾT: GÓI ĐẶT VÉ, LỊCH CHIẾU &amp; THANH TOÁN</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1737360"/>
          </a:xfrm>
          <a:prstGeom prst="roundRect">
            <a:avLst>
              <a:gd name="adj" fmla="val 4211"/>
            </a:avLst>
          </a:prstGeom>
          <a:solidFill>
            <a:srgbClr val="FFFFFF"/>
          </a:solidFill>
          <a:ln w="15240">
            <a:solidFill>
              <a:srgbClr val="FF4757"/>
            </a:solidFill>
            <a:prstDash val="solid"/>
          </a:ln>
        </p:spPr>
      </p:sp>
      <p:sp>
        <p:nvSpPr>
          <p:cNvPr id="15" name="Shape 13"/>
          <p:cNvSpPr/>
          <p:nvPr/>
        </p:nvSpPr>
        <p:spPr>
          <a:xfrm>
            <a:off x="457200" y="1051560"/>
            <a:ext cx="2615184" cy="292608"/>
          </a:xfrm>
          <a:prstGeom prst="roundRect">
            <a:avLst>
              <a:gd name="adj" fmla="val 25000"/>
            </a:avLst>
          </a:prstGeom>
          <a:solidFill>
            <a:srgbClr val="FFE4E6"/>
          </a:solidFill>
          <a:ln w="12700">
            <a:solidFill>
              <a:srgbClr val="FF4757"/>
            </a:solidFill>
            <a:prstDash val="solid"/>
          </a:ln>
        </p:spPr>
      </p:sp>
      <p:sp>
        <p:nvSpPr>
          <p:cNvPr id="16" name="Text 14"/>
          <p:cNvSpPr/>
          <p:nvPr/>
        </p:nvSpPr>
        <p:spPr>
          <a:xfrm>
            <a:off x="457200" y="1051560"/>
            <a:ext cx="2615184" cy="292608"/>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FF4757"/>
                </a:solidFill>
                <a:latin typeface="Arial" pitchFamily="34" charset="0"/>
                <a:ea typeface="Arial" pitchFamily="34" charset="-122"/>
                <a:cs typeface="Arial" pitchFamily="34" charset="-120"/>
              </a:rPr>
              <a:t>Movie</a:t>
            </a:r>
            <a:endParaRPr lang="en-US" sz="720" dirty="0"/>
          </a:p>
        </p:txBody>
      </p:sp>
      <p:sp>
        <p:nvSpPr>
          <p:cNvPr id="17" name="Text 15"/>
          <p:cNvSpPr/>
          <p:nvPr/>
        </p:nvSpPr>
        <p:spPr>
          <a:xfrm>
            <a:off x="530352"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name: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duration: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ageRating: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18" name="Shape 16"/>
          <p:cNvSpPr/>
          <p:nvPr/>
        </p:nvSpPr>
        <p:spPr>
          <a:xfrm>
            <a:off x="457200" y="2085198"/>
            <a:ext cx="2615184" cy="0"/>
          </a:xfrm>
          <a:prstGeom prst="line">
            <a:avLst/>
          </a:prstGeom>
          <a:noFill/>
          <a:ln w="12700">
            <a:solidFill>
              <a:srgbClr val="E2E8F0"/>
            </a:solidFill>
            <a:prstDash val="solid"/>
          </a:ln>
        </p:spPr>
      </p:sp>
      <p:sp>
        <p:nvSpPr>
          <p:cNvPr id="19" name="Text 17"/>
          <p:cNvSpPr/>
          <p:nvPr/>
        </p:nvSpPr>
        <p:spPr>
          <a:xfrm>
            <a:off x="530352"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getSchedules(date): List</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isActive(): bool</a:t>
            </a:r>
            <a:endParaRPr lang="en-US" sz="620" dirty="0"/>
          </a:p>
        </p:txBody>
      </p:sp>
      <p:sp>
        <p:nvSpPr>
          <p:cNvPr id="20" name="Shape 18"/>
          <p:cNvSpPr/>
          <p:nvPr/>
        </p:nvSpPr>
        <p:spPr>
          <a:xfrm>
            <a:off x="3255264" y="1051560"/>
            <a:ext cx="2615184" cy="1737360"/>
          </a:xfrm>
          <a:prstGeom prst="roundRect">
            <a:avLst>
              <a:gd name="adj" fmla="val 4211"/>
            </a:avLst>
          </a:prstGeom>
          <a:solidFill>
            <a:srgbClr val="FFFFFF"/>
          </a:solidFill>
          <a:ln w="15240">
            <a:solidFill>
              <a:srgbClr val="F59E0B"/>
            </a:solidFill>
            <a:prstDash val="solid"/>
          </a:ln>
        </p:spPr>
      </p:sp>
      <p:sp>
        <p:nvSpPr>
          <p:cNvPr id="21" name="Shape 19"/>
          <p:cNvSpPr/>
          <p:nvPr/>
        </p:nvSpPr>
        <p:spPr>
          <a:xfrm>
            <a:off x="3255264" y="1051560"/>
            <a:ext cx="2615184" cy="292608"/>
          </a:xfrm>
          <a:prstGeom prst="roundRect">
            <a:avLst>
              <a:gd name="adj" fmla="val 25000"/>
            </a:avLst>
          </a:prstGeom>
          <a:solidFill>
            <a:srgbClr val="FEF9C3"/>
          </a:solidFill>
          <a:ln w="12700">
            <a:solidFill>
              <a:srgbClr val="F59E0B"/>
            </a:solidFill>
            <a:prstDash val="solid"/>
          </a:ln>
        </p:spPr>
      </p:sp>
      <p:sp>
        <p:nvSpPr>
          <p:cNvPr id="22" name="Text 20"/>
          <p:cNvSpPr/>
          <p:nvPr/>
        </p:nvSpPr>
        <p:spPr>
          <a:xfrm>
            <a:off x="3255264" y="1051560"/>
            <a:ext cx="2615184" cy="292608"/>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F59E0B"/>
                </a:solidFill>
                <a:latin typeface="Arial" pitchFamily="34" charset="0"/>
                <a:ea typeface="Arial" pitchFamily="34" charset="-122"/>
                <a:cs typeface="Arial" pitchFamily="34" charset="-120"/>
              </a:rPr>
              <a:t>ScreeningSchedule</a:t>
            </a:r>
            <a:endParaRPr lang="en-US" sz="720" dirty="0"/>
          </a:p>
        </p:txBody>
      </p:sp>
      <p:sp>
        <p:nvSpPr>
          <p:cNvPr id="23" name="Text 21"/>
          <p:cNvSpPr/>
          <p:nvPr/>
        </p:nvSpPr>
        <p:spPr>
          <a:xfrm>
            <a:off x="3328416"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movieId: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startTime: DateTime</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endTime: DateTime</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ticketPrice: decimal</a:t>
            </a:r>
            <a:endParaRPr lang="en-US" sz="620" dirty="0"/>
          </a:p>
        </p:txBody>
      </p:sp>
      <p:sp>
        <p:nvSpPr>
          <p:cNvPr id="24" name="Shape 22"/>
          <p:cNvSpPr/>
          <p:nvPr/>
        </p:nvSpPr>
        <p:spPr>
          <a:xfrm>
            <a:off x="3255264" y="2085198"/>
            <a:ext cx="2615184" cy="0"/>
          </a:xfrm>
          <a:prstGeom prst="line">
            <a:avLst/>
          </a:prstGeom>
          <a:noFill/>
          <a:ln w="12700">
            <a:solidFill>
              <a:srgbClr val="E2E8F0"/>
            </a:solidFill>
            <a:prstDash val="solid"/>
          </a:ln>
        </p:spPr>
      </p:sp>
      <p:sp>
        <p:nvSpPr>
          <p:cNvPr id="25" name="Text 23"/>
          <p:cNvSpPr/>
          <p:nvPr/>
        </p:nvSpPr>
        <p:spPr>
          <a:xfrm>
            <a:off x="3328416"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checkConflict():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getSeatMap(): Map</a:t>
            </a:r>
            <a:endParaRPr lang="en-US" sz="620" dirty="0"/>
          </a:p>
        </p:txBody>
      </p:sp>
      <p:sp>
        <p:nvSpPr>
          <p:cNvPr id="26" name="Shape 24"/>
          <p:cNvSpPr/>
          <p:nvPr/>
        </p:nvSpPr>
        <p:spPr>
          <a:xfrm>
            <a:off x="6053328" y="1051560"/>
            <a:ext cx="2615184" cy="1737360"/>
          </a:xfrm>
          <a:prstGeom prst="roundRect">
            <a:avLst>
              <a:gd name="adj" fmla="val 4211"/>
            </a:avLst>
          </a:prstGeom>
          <a:solidFill>
            <a:srgbClr val="FFFFFF"/>
          </a:solidFill>
          <a:ln w="15240">
            <a:solidFill>
              <a:srgbClr val="8B5CF6"/>
            </a:solidFill>
            <a:prstDash val="solid"/>
          </a:ln>
        </p:spPr>
      </p:sp>
      <p:sp>
        <p:nvSpPr>
          <p:cNvPr id="27" name="Shape 25"/>
          <p:cNvSpPr/>
          <p:nvPr/>
        </p:nvSpPr>
        <p:spPr>
          <a:xfrm>
            <a:off x="6053328" y="1051560"/>
            <a:ext cx="2615184" cy="292608"/>
          </a:xfrm>
          <a:prstGeom prst="roundRect">
            <a:avLst>
              <a:gd name="adj" fmla="val 25000"/>
            </a:avLst>
          </a:prstGeom>
          <a:solidFill>
            <a:srgbClr val="F3E8FF"/>
          </a:solidFill>
          <a:ln w="12700">
            <a:solidFill>
              <a:srgbClr val="8B5CF6"/>
            </a:solidFill>
            <a:prstDash val="solid"/>
          </a:ln>
        </p:spPr>
      </p:sp>
      <p:sp>
        <p:nvSpPr>
          <p:cNvPr id="28" name="Text 26"/>
          <p:cNvSpPr/>
          <p:nvPr/>
        </p:nvSpPr>
        <p:spPr>
          <a:xfrm>
            <a:off x="6053328" y="1051560"/>
            <a:ext cx="2615184" cy="292608"/>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8B5CF6"/>
                </a:solidFill>
                <a:latin typeface="Arial" pitchFamily="34" charset="0"/>
                <a:ea typeface="Arial" pitchFamily="34" charset="-122"/>
                <a:cs typeface="Arial" pitchFamily="34" charset="-120"/>
              </a:rPr>
              <a:t>Booking</a:t>
            </a:r>
            <a:endParaRPr lang="en-US" sz="720" dirty="0"/>
          </a:p>
        </p:txBody>
      </p:sp>
      <p:sp>
        <p:nvSpPr>
          <p:cNvPr id="29" name="Text 27"/>
          <p:cNvSpPr/>
          <p:nvPr/>
        </p:nvSpPr>
        <p:spPr>
          <a:xfrm>
            <a:off x="6126480"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customerId: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screeningId: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bookingCode: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totalAmount: decimal</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30" name="Shape 28"/>
          <p:cNvSpPr/>
          <p:nvPr/>
        </p:nvSpPr>
        <p:spPr>
          <a:xfrm>
            <a:off x="6053328" y="2085198"/>
            <a:ext cx="2615184" cy="0"/>
          </a:xfrm>
          <a:prstGeom prst="line">
            <a:avLst/>
          </a:prstGeom>
          <a:noFill/>
          <a:ln w="12700">
            <a:solidFill>
              <a:srgbClr val="E2E8F0"/>
            </a:solidFill>
            <a:prstDash val="solid"/>
          </a:ln>
        </p:spPr>
      </p:sp>
      <p:sp>
        <p:nvSpPr>
          <p:cNvPr id="31" name="Text 29"/>
          <p:cNvSpPr/>
          <p:nvPr/>
        </p:nvSpPr>
        <p:spPr>
          <a:xfrm>
            <a:off x="6126480"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calculateTotal(): decimal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confirmPayment():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cancel(): void</a:t>
            </a:r>
            <a:endParaRPr lang="en-US" sz="620" dirty="0"/>
          </a:p>
        </p:txBody>
      </p:sp>
      <p:sp>
        <p:nvSpPr>
          <p:cNvPr id="32" name="Shape 30"/>
          <p:cNvSpPr/>
          <p:nvPr/>
        </p:nvSpPr>
        <p:spPr>
          <a:xfrm>
            <a:off x="457200" y="2907792"/>
            <a:ext cx="2615184" cy="1737360"/>
          </a:xfrm>
          <a:prstGeom prst="roundRect">
            <a:avLst>
              <a:gd name="adj" fmla="val 4211"/>
            </a:avLst>
          </a:prstGeom>
          <a:solidFill>
            <a:srgbClr val="FFFFFF"/>
          </a:solidFill>
          <a:ln w="15240">
            <a:solidFill>
              <a:srgbClr val="F59E0B"/>
            </a:solidFill>
            <a:prstDash val="solid"/>
          </a:ln>
        </p:spPr>
      </p:sp>
      <p:sp>
        <p:nvSpPr>
          <p:cNvPr id="33" name="Shape 31"/>
          <p:cNvSpPr/>
          <p:nvPr/>
        </p:nvSpPr>
        <p:spPr>
          <a:xfrm>
            <a:off x="457200" y="2907792"/>
            <a:ext cx="2615184" cy="292608"/>
          </a:xfrm>
          <a:prstGeom prst="roundRect">
            <a:avLst>
              <a:gd name="adj" fmla="val 25000"/>
            </a:avLst>
          </a:prstGeom>
          <a:solidFill>
            <a:srgbClr val="FEF9C3"/>
          </a:solidFill>
          <a:ln w="12700">
            <a:solidFill>
              <a:srgbClr val="F59E0B"/>
            </a:solidFill>
            <a:prstDash val="solid"/>
          </a:ln>
        </p:spPr>
      </p:sp>
      <p:sp>
        <p:nvSpPr>
          <p:cNvPr id="34" name="Text 32"/>
          <p:cNvSpPr/>
          <p:nvPr/>
        </p:nvSpPr>
        <p:spPr>
          <a:xfrm>
            <a:off x="457200" y="2907792"/>
            <a:ext cx="2615184" cy="292608"/>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F59E0B"/>
                </a:solidFill>
                <a:latin typeface="Arial" pitchFamily="34" charset="0"/>
                <a:ea typeface="Arial" pitchFamily="34" charset="-122"/>
                <a:cs typeface="Arial" pitchFamily="34" charset="-120"/>
              </a:rPr>
              <a:t>BookingSeat</a:t>
            </a:r>
            <a:endParaRPr lang="en-US" sz="720" dirty="0"/>
          </a:p>
        </p:txBody>
      </p:sp>
      <p:sp>
        <p:nvSpPr>
          <p:cNvPr id="35" name="Text 33"/>
          <p:cNvSpPr/>
          <p:nvPr/>
        </p:nvSpPr>
        <p:spPr>
          <a:xfrm>
            <a:off x="530352"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bookingId: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seatId: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price: decimal</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holdExpire: DateTime</a:t>
            </a:r>
            <a:endParaRPr lang="en-US" sz="620" dirty="0"/>
          </a:p>
        </p:txBody>
      </p:sp>
      <p:sp>
        <p:nvSpPr>
          <p:cNvPr id="36" name="Shape 34"/>
          <p:cNvSpPr/>
          <p:nvPr/>
        </p:nvSpPr>
        <p:spPr>
          <a:xfrm>
            <a:off x="457200" y="3941430"/>
            <a:ext cx="2615184" cy="0"/>
          </a:xfrm>
          <a:prstGeom prst="line">
            <a:avLst/>
          </a:prstGeom>
          <a:noFill/>
          <a:ln w="12700">
            <a:solidFill>
              <a:srgbClr val="E2E8F0"/>
            </a:solidFill>
            <a:prstDash val="solid"/>
          </a:ln>
        </p:spPr>
      </p:sp>
      <p:sp>
        <p:nvSpPr>
          <p:cNvPr id="37" name="Text 35"/>
          <p:cNvSpPr/>
          <p:nvPr/>
        </p:nvSpPr>
        <p:spPr>
          <a:xfrm>
            <a:off x="530352"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isExpired():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release():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lock(duration): void</a:t>
            </a:r>
            <a:endParaRPr lang="en-US" sz="620" dirty="0"/>
          </a:p>
        </p:txBody>
      </p:sp>
      <p:sp>
        <p:nvSpPr>
          <p:cNvPr id="38" name="Shape 36"/>
          <p:cNvSpPr/>
          <p:nvPr/>
        </p:nvSpPr>
        <p:spPr>
          <a:xfrm>
            <a:off x="3255264" y="2907792"/>
            <a:ext cx="2615184" cy="1737360"/>
          </a:xfrm>
          <a:prstGeom prst="roundRect">
            <a:avLst>
              <a:gd name="adj" fmla="val 4211"/>
            </a:avLst>
          </a:prstGeom>
          <a:solidFill>
            <a:srgbClr val="FFFFFF"/>
          </a:solidFill>
          <a:ln w="15240">
            <a:solidFill>
              <a:srgbClr val="0EA5E9"/>
            </a:solidFill>
            <a:prstDash val="solid"/>
          </a:ln>
        </p:spPr>
      </p:sp>
      <p:sp>
        <p:nvSpPr>
          <p:cNvPr id="39" name="Shape 37"/>
          <p:cNvSpPr/>
          <p:nvPr/>
        </p:nvSpPr>
        <p:spPr>
          <a:xfrm>
            <a:off x="3255264" y="2907792"/>
            <a:ext cx="2615184" cy="292608"/>
          </a:xfrm>
          <a:prstGeom prst="roundRect">
            <a:avLst>
              <a:gd name="adj" fmla="val 25000"/>
            </a:avLst>
          </a:prstGeom>
          <a:solidFill>
            <a:srgbClr val="E0F2FE"/>
          </a:solidFill>
          <a:ln w="12700">
            <a:solidFill>
              <a:srgbClr val="0EA5E9"/>
            </a:solidFill>
            <a:prstDash val="solid"/>
          </a:ln>
        </p:spPr>
      </p:sp>
      <p:sp>
        <p:nvSpPr>
          <p:cNvPr id="40" name="Text 38"/>
          <p:cNvSpPr/>
          <p:nvPr/>
        </p:nvSpPr>
        <p:spPr>
          <a:xfrm>
            <a:off x="3255264" y="2907792"/>
            <a:ext cx="2615184" cy="292608"/>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0EA5E9"/>
                </a:solidFill>
                <a:latin typeface="Arial" pitchFamily="34" charset="0"/>
                <a:ea typeface="Arial" pitchFamily="34" charset="-122"/>
                <a:cs typeface="Arial" pitchFamily="34" charset="-120"/>
              </a:rPr>
              <a:t>Payment</a:t>
            </a:r>
            <a:endParaRPr lang="en-US" sz="720" dirty="0"/>
          </a:p>
        </p:txBody>
      </p:sp>
      <p:sp>
        <p:nvSpPr>
          <p:cNvPr id="41" name="Text 39"/>
          <p:cNvSpPr/>
          <p:nvPr/>
        </p:nvSpPr>
        <p:spPr>
          <a:xfrm>
            <a:off x="3328416"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bookingId: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paymentMethod: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amount: decimal</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transactionCode: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42" name="Shape 40"/>
          <p:cNvSpPr/>
          <p:nvPr/>
        </p:nvSpPr>
        <p:spPr>
          <a:xfrm>
            <a:off x="3255264" y="3941430"/>
            <a:ext cx="2615184" cy="0"/>
          </a:xfrm>
          <a:prstGeom prst="line">
            <a:avLst/>
          </a:prstGeom>
          <a:noFill/>
          <a:ln w="12700">
            <a:solidFill>
              <a:srgbClr val="E2E8F0"/>
            </a:solidFill>
            <a:prstDash val="solid"/>
          </a:ln>
        </p:spPr>
      </p:sp>
      <p:sp>
        <p:nvSpPr>
          <p:cNvPr id="43" name="Text 41"/>
          <p:cNvSpPr/>
          <p:nvPr/>
        </p:nvSpPr>
        <p:spPr>
          <a:xfrm>
            <a:off x="3328416"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process():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refund():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verifyTransaction(): bool</a:t>
            </a:r>
            <a:endParaRPr lang="en-US" sz="620" dirty="0"/>
          </a:p>
        </p:txBody>
      </p:sp>
      <p:sp>
        <p:nvSpPr>
          <p:cNvPr id="44" name="Shape 42"/>
          <p:cNvSpPr/>
          <p:nvPr/>
        </p:nvSpPr>
        <p:spPr>
          <a:xfrm>
            <a:off x="6053328" y="2907792"/>
            <a:ext cx="2615184" cy="1737360"/>
          </a:xfrm>
          <a:prstGeom prst="roundRect">
            <a:avLst>
              <a:gd name="adj" fmla="val 4211"/>
            </a:avLst>
          </a:prstGeom>
          <a:solidFill>
            <a:srgbClr val="FFFFFF"/>
          </a:solidFill>
          <a:ln w="15240">
            <a:solidFill>
              <a:srgbClr val="10B981"/>
            </a:solidFill>
            <a:prstDash val="solid"/>
          </a:ln>
        </p:spPr>
      </p:sp>
      <p:sp>
        <p:nvSpPr>
          <p:cNvPr id="45" name="Shape 43"/>
          <p:cNvSpPr/>
          <p:nvPr/>
        </p:nvSpPr>
        <p:spPr>
          <a:xfrm>
            <a:off x="6053328" y="2907792"/>
            <a:ext cx="2615184" cy="292608"/>
          </a:xfrm>
          <a:prstGeom prst="roundRect">
            <a:avLst>
              <a:gd name="adj" fmla="val 25000"/>
            </a:avLst>
          </a:prstGeom>
          <a:solidFill>
            <a:srgbClr val="DCFCE7"/>
          </a:solidFill>
          <a:ln w="12700">
            <a:solidFill>
              <a:srgbClr val="10B981"/>
            </a:solidFill>
            <a:prstDash val="solid"/>
          </a:ln>
        </p:spPr>
      </p:sp>
      <p:sp>
        <p:nvSpPr>
          <p:cNvPr id="46" name="Text 44"/>
          <p:cNvSpPr/>
          <p:nvPr/>
        </p:nvSpPr>
        <p:spPr>
          <a:xfrm>
            <a:off x="6053328" y="2907792"/>
            <a:ext cx="2615184" cy="292608"/>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10B981"/>
                </a:solidFill>
                <a:latin typeface="Arial" pitchFamily="34" charset="0"/>
                <a:ea typeface="Arial" pitchFamily="34" charset="-122"/>
                <a:cs typeface="Arial" pitchFamily="34" charset="-120"/>
              </a:rPr>
              <a:t>Ticket</a:t>
            </a:r>
            <a:endParaRPr lang="en-US" sz="720" dirty="0"/>
          </a:p>
        </p:txBody>
      </p:sp>
      <p:sp>
        <p:nvSpPr>
          <p:cNvPr id="47" name="Text 45"/>
          <p:cNvSpPr/>
          <p:nvPr/>
        </p:nvSpPr>
        <p:spPr>
          <a:xfrm>
            <a:off x="6126480"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bookingId: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seatId: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ticketCode: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qrCode: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48" name="Shape 46"/>
          <p:cNvSpPr/>
          <p:nvPr/>
        </p:nvSpPr>
        <p:spPr>
          <a:xfrm>
            <a:off x="6053328" y="3941430"/>
            <a:ext cx="2615184" cy="0"/>
          </a:xfrm>
          <a:prstGeom prst="line">
            <a:avLst/>
          </a:prstGeom>
          <a:noFill/>
          <a:ln w="12700">
            <a:solidFill>
              <a:srgbClr val="E2E8F0"/>
            </a:solidFill>
            <a:prstDash val="solid"/>
          </a:ln>
        </p:spPr>
      </p:sp>
      <p:sp>
        <p:nvSpPr>
          <p:cNvPr id="49" name="Text 47"/>
          <p:cNvSpPr/>
          <p:nvPr/>
        </p:nvSpPr>
        <p:spPr>
          <a:xfrm>
            <a:off x="6126480"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verifyQR(code):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checkIn():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cancelTicket(): bool</a:t>
            </a:r>
            <a:endParaRPr lang="en-US" sz="6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THIẾT KẾ HƯỚNG ĐỐI TƯỢNG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18. CLASS DIAGRAM CHI TIẾT: GÓI PHÒNG CHIẾU, THIẾT BỊ &amp; SỰ CỐ</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1737360"/>
          </a:xfrm>
          <a:prstGeom prst="roundRect">
            <a:avLst>
              <a:gd name="adj" fmla="val 4211"/>
            </a:avLst>
          </a:prstGeom>
          <a:solidFill>
            <a:srgbClr val="FFFFFF"/>
          </a:solidFill>
          <a:ln w="15240">
            <a:solidFill>
              <a:srgbClr val="0EA5E9"/>
            </a:solidFill>
            <a:prstDash val="solid"/>
          </a:ln>
        </p:spPr>
      </p:sp>
      <p:sp>
        <p:nvSpPr>
          <p:cNvPr id="15" name="Shape 13"/>
          <p:cNvSpPr/>
          <p:nvPr/>
        </p:nvSpPr>
        <p:spPr>
          <a:xfrm>
            <a:off x="457200" y="1051560"/>
            <a:ext cx="2615184" cy="292608"/>
          </a:xfrm>
          <a:prstGeom prst="roundRect">
            <a:avLst>
              <a:gd name="adj" fmla="val 25000"/>
            </a:avLst>
          </a:prstGeom>
          <a:solidFill>
            <a:srgbClr val="E0F2FE"/>
          </a:solidFill>
          <a:ln w="12700">
            <a:solidFill>
              <a:srgbClr val="0EA5E9"/>
            </a:solidFill>
            <a:prstDash val="solid"/>
          </a:ln>
        </p:spPr>
      </p:sp>
      <p:sp>
        <p:nvSpPr>
          <p:cNvPr id="16" name="Text 14"/>
          <p:cNvSpPr/>
          <p:nvPr/>
        </p:nvSpPr>
        <p:spPr>
          <a:xfrm>
            <a:off x="457200" y="1051560"/>
            <a:ext cx="2615184" cy="292608"/>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0EA5E9"/>
                </a:solidFill>
                <a:latin typeface="Arial" pitchFamily="34" charset="0"/>
                <a:ea typeface="Arial" pitchFamily="34" charset="-122"/>
                <a:cs typeface="Arial" pitchFamily="34" charset="-120"/>
              </a:rPr>
              <a:t>CinemaRoom</a:t>
            </a:r>
            <a:endParaRPr lang="en-US" sz="720" dirty="0"/>
          </a:p>
        </p:txBody>
      </p:sp>
      <p:sp>
        <p:nvSpPr>
          <p:cNvPr id="17" name="Text 15"/>
          <p:cNvSpPr/>
          <p:nvPr/>
        </p:nvSpPr>
        <p:spPr>
          <a:xfrm>
            <a:off x="530352"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name: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roomType: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capacity: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18" name="Shape 16"/>
          <p:cNvSpPr/>
          <p:nvPr/>
        </p:nvSpPr>
        <p:spPr>
          <a:xfrm>
            <a:off x="457200" y="2085198"/>
            <a:ext cx="2615184" cy="0"/>
          </a:xfrm>
          <a:prstGeom prst="line">
            <a:avLst/>
          </a:prstGeom>
          <a:noFill/>
          <a:ln w="12700">
            <a:solidFill>
              <a:srgbClr val="E2E8F0"/>
            </a:solidFill>
            <a:prstDash val="solid"/>
          </a:ln>
        </p:spPr>
      </p:sp>
      <p:sp>
        <p:nvSpPr>
          <p:cNvPr id="19" name="Text 17"/>
          <p:cNvSpPr/>
          <p:nvPr/>
        </p:nvSpPr>
        <p:spPr>
          <a:xfrm>
            <a:off x="530352"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isAvailable(start, end):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getSeats(): List&lt;Seat&gt;</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getEquipment(): List</a:t>
            </a:r>
            <a:endParaRPr lang="en-US" sz="620" dirty="0"/>
          </a:p>
        </p:txBody>
      </p:sp>
      <p:sp>
        <p:nvSpPr>
          <p:cNvPr id="20" name="Shape 18"/>
          <p:cNvSpPr/>
          <p:nvPr/>
        </p:nvSpPr>
        <p:spPr>
          <a:xfrm>
            <a:off x="3255264" y="1051560"/>
            <a:ext cx="2615184" cy="1737360"/>
          </a:xfrm>
          <a:prstGeom prst="roundRect">
            <a:avLst>
              <a:gd name="adj" fmla="val 4211"/>
            </a:avLst>
          </a:prstGeom>
          <a:solidFill>
            <a:srgbClr val="FFFFFF"/>
          </a:solidFill>
          <a:ln w="15240">
            <a:solidFill>
              <a:srgbClr val="F59E0B"/>
            </a:solidFill>
            <a:prstDash val="solid"/>
          </a:ln>
        </p:spPr>
      </p:sp>
      <p:sp>
        <p:nvSpPr>
          <p:cNvPr id="21" name="Shape 19"/>
          <p:cNvSpPr/>
          <p:nvPr/>
        </p:nvSpPr>
        <p:spPr>
          <a:xfrm>
            <a:off x="3255264" y="1051560"/>
            <a:ext cx="2615184" cy="292608"/>
          </a:xfrm>
          <a:prstGeom prst="roundRect">
            <a:avLst>
              <a:gd name="adj" fmla="val 25000"/>
            </a:avLst>
          </a:prstGeom>
          <a:solidFill>
            <a:srgbClr val="FEF9C3"/>
          </a:solidFill>
          <a:ln w="12700">
            <a:solidFill>
              <a:srgbClr val="F59E0B"/>
            </a:solidFill>
            <a:prstDash val="solid"/>
          </a:ln>
        </p:spPr>
      </p:sp>
      <p:sp>
        <p:nvSpPr>
          <p:cNvPr id="22" name="Text 20"/>
          <p:cNvSpPr/>
          <p:nvPr/>
        </p:nvSpPr>
        <p:spPr>
          <a:xfrm>
            <a:off x="3255264" y="1051560"/>
            <a:ext cx="2615184" cy="292608"/>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F59E0B"/>
                </a:solidFill>
                <a:latin typeface="Arial" pitchFamily="34" charset="0"/>
                <a:ea typeface="Arial" pitchFamily="34" charset="-122"/>
                <a:cs typeface="Arial" pitchFamily="34" charset="-120"/>
              </a:rPr>
              <a:t>Seat</a:t>
            </a:r>
            <a:endParaRPr lang="en-US" sz="720" dirty="0"/>
          </a:p>
        </p:txBody>
      </p:sp>
      <p:sp>
        <p:nvSpPr>
          <p:cNvPr id="23" name="Text 21"/>
          <p:cNvSpPr/>
          <p:nvPr/>
        </p:nvSpPr>
        <p:spPr>
          <a:xfrm>
            <a:off x="3328416"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rowNum: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seatNum: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seatType: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24" name="Shape 22"/>
          <p:cNvSpPr/>
          <p:nvPr/>
        </p:nvSpPr>
        <p:spPr>
          <a:xfrm>
            <a:off x="3255264" y="2085198"/>
            <a:ext cx="2615184" cy="0"/>
          </a:xfrm>
          <a:prstGeom prst="line">
            <a:avLst/>
          </a:prstGeom>
          <a:noFill/>
          <a:ln w="12700">
            <a:solidFill>
              <a:srgbClr val="E2E8F0"/>
            </a:solidFill>
            <a:prstDash val="solid"/>
          </a:ln>
        </p:spPr>
      </p:sp>
      <p:sp>
        <p:nvSpPr>
          <p:cNvPr id="25" name="Text 23"/>
          <p:cNvSpPr/>
          <p:nvPr/>
        </p:nvSpPr>
        <p:spPr>
          <a:xfrm>
            <a:off x="3328416"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getSeatLabel(): string</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isVIP(): bool</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isCouple(): bool</a:t>
            </a:r>
            <a:endParaRPr lang="en-US" sz="620" dirty="0"/>
          </a:p>
        </p:txBody>
      </p:sp>
      <p:sp>
        <p:nvSpPr>
          <p:cNvPr id="26" name="Shape 24"/>
          <p:cNvSpPr/>
          <p:nvPr/>
        </p:nvSpPr>
        <p:spPr>
          <a:xfrm>
            <a:off x="6053328" y="1051560"/>
            <a:ext cx="2615184" cy="1737360"/>
          </a:xfrm>
          <a:prstGeom prst="roundRect">
            <a:avLst>
              <a:gd name="adj" fmla="val 4211"/>
            </a:avLst>
          </a:prstGeom>
          <a:solidFill>
            <a:srgbClr val="FFFFFF"/>
          </a:solidFill>
          <a:ln w="15240">
            <a:solidFill>
              <a:srgbClr val="8B5CF6"/>
            </a:solidFill>
            <a:prstDash val="solid"/>
          </a:ln>
        </p:spPr>
      </p:sp>
      <p:sp>
        <p:nvSpPr>
          <p:cNvPr id="27" name="Shape 25"/>
          <p:cNvSpPr/>
          <p:nvPr/>
        </p:nvSpPr>
        <p:spPr>
          <a:xfrm>
            <a:off x="6053328" y="1051560"/>
            <a:ext cx="2615184" cy="292608"/>
          </a:xfrm>
          <a:prstGeom prst="roundRect">
            <a:avLst>
              <a:gd name="adj" fmla="val 25000"/>
            </a:avLst>
          </a:prstGeom>
          <a:solidFill>
            <a:srgbClr val="F3E8FF"/>
          </a:solidFill>
          <a:ln w="12700">
            <a:solidFill>
              <a:srgbClr val="8B5CF6"/>
            </a:solidFill>
            <a:prstDash val="solid"/>
          </a:ln>
        </p:spPr>
      </p:sp>
      <p:sp>
        <p:nvSpPr>
          <p:cNvPr id="28" name="Text 26"/>
          <p:cNvSpPr/>
          <p:nvPr/>
        </p:nvSpPr>
        <p:spPr>
          <a:xfrm>
            <a:off x="6053328" y="1051560"/>
            <a:ext cx="2615184" cy="292608"/>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8B5CF6"/>
                </a:solidFill>
                <a:latin typeface="Arial" pitchFamily="34" charset="0"/>
                <a:ea typeface="Arial" pitchFamily="34" charset="-122"/>
                <a:cs typeface="Arial" pitchFamily="34" charset="-120"/>
              </a:rPr>
              <a:t>Equipment</a:t>
            </a:r>
            <a:endParaRPr lang="en-US" sz="720" dirty="0"/>
          </a:p>
        </p:txBody>
      </p:sp>
      <p:sp>
        <p:nvSpPr>
          <p:cNvPr id="29" name="Text 27"/>
          <p:cNvSpPr/>
          <p:nvPr/>
        </p:nvSpPr>
        <p:spPr>
          <a:xfrm>
            <a:off x="6126480" y="1362456"/>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typeId: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name: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lastMaintenance: Date</a:t>
            </a:r>
            <a:endParaRPr lang="en-US" sz="620" dirty="0"/>
          </a:p>
        </p:txBody>
      </p:sp>
      <p:sp>
        <p:nvSpPr>
          <p:cNvPr id="30" name="Shape 28"/>
          <p:cNvSpPr/>
          <p:nvPr/>
        </p:nvSpPr>
        <p:spPr>
          <a:xfrm>
            <a:off x="6053328" y="2085198"/>
            <a:ext cx="2615184" cy="0"/>
          </a:xfrm>
          <a:prstGeom prst="line">
            <a:avLst/>
          </a:prstGeom>
          <a:noFill/>
          <a:ln w="12700">
            <a:solidFill>
              <a:srgbClr val="E2E8F0"/>
            </a:solidFill>
            <a:prstDash val="solid"/>
          </a:ln>
        </p:spPr>
      </p:sp>
      <p:sp>
        <p:nvSpPr>
          <p:cNvPr id="31" name="Text 29"/>
          <p:cNvSpPr/>
          <p:nvPr/>
        </p:nvSpPr>
        <p:spPr>
          <a:xfrm>
            <a:off x="6126480" y="2103486"/>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checkHealth(): string</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scheduleMaintenance(date): void</a:t>
            </a:r>
            <a:endParaRPr lang="en-US" sz="620" dirty="0"/>
          </a:p>
        </p:txBody>
      </p:sp>
      <p:sp>
        <p:nvSpPr>
          <p:cNvPr id="32" name="Shape 30"/>
          <p:cNvSpPr/>
          <p:nvPr/>
        </p:nvSpPr>
        <p:spPr>
          <a:xfrm>
            <a:off x="457200" y="2907792"/>
            <a:ext cx="2615184" cy="1737360"/>
          </a:xfrm>
          <a:prstGeom prst="roundRect">
            <a:avLst>
              <a:gd name="adj" fmla="val 4211"/>
            </a:avLst>
          </a:prstGeom>
          <a:solidFill>
            <a:srgbClr val="FFFFFF"/>
          </a:solidFill>
          <a:ln w="15240">
            <a:solidFill>
              <a:srgbClr val="FF4757"/>
            </a:solidFill>
            <a:prstDash val="solid"/>
          </a:ln>
        </p:spPr>
      </p:sp>
      <p:sp>
        <p:nvSpPr>
          <p:cNvPr id="33" name="Shape 31"/>
          <p:cNvSpPr/>
          <p:nvPr/>
        </p:nvSpPr>
        <p:spPr>
          <a:xfrm>
            <a:off x="457200" y="2907792"/>
            <a:ext cx="2615184" cy="292608"/>
          </a:xfrm>
          <a:prstGeom prst="roundRect">
            <a:avLst>
              <a:gd name="adj" fmla="val 25000"/>
            </a:avLst>
          </a:prstGeom>
          <a:solidFill>
            <a:srgbClr val="FFE4E6"/>
          </a:solidFill>
          <a:ln w="12700">
            <a:solidFill>
              <a:srgbClr val="FF4757"/>
            </a:solidFill>
            <a:prstDash val="solid"/>
          </a:ln>
        </p:spPr>
      </p:sp>
      <p:sp>
        <p:nvSpPr>
          <p:cNvPr id="34" name="Text 32"/>
          <p:cNvSpPr/>
          <p:nvPr/>
        </p:nvSpPr>
        <p:spPr>
          <a:xfrm>
            <a:off x="457200" y="2907792"/>
            <a:ext cx="2615184" cy="292608"/>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FF4757"/>
                </a:solidFill>
                <a:latin typeface="Arial" pitchFamily="34" charset="0"/>
                <a:ea typeface="Arial" pitchFamily="34" charset="-122"/>
                <a:cs typeface="Arial" pitchFamily="34" charset="-120"/>
              </a:rPr>
              <a:t>Incident</a:t>
            </a:r>
            <a:endParaRPr lang="en-US" sz="720" dirty="0"/>
          </a:p>
        </p:txBody>
      </p:sp>
      <p:sp>
        <p:nvSpPr>
          <p:cNvPr id="35" name="Text 33"/>
          <p:cNvSpPr/>
          <p:nvPr/>
        </p:nvSpPr>
        <p:spPr>
          <a:xfrm>
            <a:off x="530352"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code: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equipId: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severity: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36" name="Shape 34"/>
          <p:cNvSpPr/>
          <p:nvPr/>
        </p:nvSpPr>
        <p:spPr>
          <a:xfrm>
            <a:off x="457200" y="3941430"/>
            <a:ext cx="2615184" cy="0"/>
          </a:xfrm>
          <a:prstGeom prst="line">
            <a:avLst/>
          </a:prstGeom>
          <a:noFill/>
          <a:ln w="12700">
            <a:solidFill>
              <a:srgbClr val="E2E8F0"/>
            </a:solidFill>
            <a:prstDash val="solid"/>
          </a:ln>
        </p:spPr>
      </p:sp>
      <p:sp>
        <p:nvSpPr>
          <p:cNvPr id="37" name="Text 35"/>
          <p:cNvSpPr/>
          <p:nvPr/>
        </p:nvSpPr>
        <p:spPr>
          <a:xfrm>
            <a:off x="530352"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assign(techId):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resolve(cost, parts):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close(): void</a:t>
            </a:r>
            <a:endParaRPr lang="en-US" sz="620" dirty="0"/>
          </a:p>
        </p:txBody>
      </p:sp>
      <p:sp>
        <p:nvSpPr>
          <p:cNvPr id="38" name="Shape 36"/>
          <p:cNvSpPr/>
          <p:nvPr/>
        </p:nvSpPr>
        <p:spPr>
          <a:xfrm>
            <a:off x="3255264" y="2907792"/>
            <a:ext cx="2615184" cy="1737360"/>
          </a:xfrm>
          <a:prstGeom prst="roundRect">
            <a:avLst>
              <a:gd name="adj" fmla="val 4211"/>
            </a:avLst>
          </a:prstGeom>
          <a:solidFill>
            <a:srgbClr val="FFFFFF"/>
          </a:solidFill>
          <a:ln w="15240">
            <a:solidFill>
              <a:srgbClr val="6366F1"/>
            </a:solidFill>
            <a:prstDash val="solid"/>
          </a:ln>
        </p:spPr>
      </p:sp>
      <p:sp>
        <p:nvSpPr>
          <p:cNvPr id="39" name="Shape 37"/>
          <p:cNvSpPr/>
          <p:nvPr/>
        </p:nvSpPr>
        <p:spPr>
          <a:xfrm>
            <a:off x="3255264" y="2907792"/>
            <a:ext cx="2615184" cy="292608"/>
          </a:xfrm>
          <a:prstGeom prst="roundRect">
            <a:avLst>
              <a:gd name="adj" fmla="val 25000"/>
            </a:avLst>
          </a:prstGeom>
          <a:solidFill>
            <a:srgbClr val="F3E8FF"/>
          </a:solidFill>
          <a:ln w="12700">
            <a:solidFill>
              <a:srgbClr val="6366F1"/>
            </a:solidFill>
            <a:prstDash val="solid"/>
          </a:ln>
        </p:spPr>
      </p:sp>
      <p:sp>
        <p:nvSpPr>
          <p:cNvPr id="40" name="Text 38"/>
          <p:cNvSpPr/>
          <p:nvPr/>
        </p:nvSpPr>
        <p:spPr>
          <a:xfrm>
            <a:off x="3255264" y="2907792"/>
            <a:ext cx="2615184" cy="292608"/>
          </a:xfrm>
          <a:prstGeom prst="rect">
            <a:avLst/>
          </a:prstGeom>
          <a:noFill/>
          <a:ln/>
        </p:spPr>
        <p:txBody>
          <a:bodyPr wrap="square" rtlCol="0" anchor="ctr"/>
          <a:lstStyle/>
          <a:p>
            <a:pPr algn="ctr" indent="0" marL="0">
              <a:buNone/>
            </a:pPr>
            <a:r>
              <a:rPr lang="en-US" sz="720" b="1" dirty="0">
                <a:solidFill>
                  <a:srgbClr val="6366F1"/>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6366F1"/>
                </a:solidFill>
                <a:latin typeface="Arial" pitchFamily="34" charset="0"/>
                <a:ea typeface="Arial" pitchFamily="34" charset="-122"/>
                <a:cs typeface="Arial" pitchFamily="34" charset="-120"/>
              </a:rPr>
              <a:t>IncidentHistory</a:t>
            </a:r>
            <a:endParaRPr lang="en-US" sz="720" dirty="0"/>
          </a:p>
        </p:txBody>
      </p:sp>
      <p:sp>
        <p:nvSpPr>
          <p:cNvPr id="41" name="Text 39"/>
          <p:cNvSpPr/>
          <p:nvPr/>
        </p:nvSpPr>
        <p:spPr>
          <a:xfrm>
            <a:off x="3328416"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incidentId: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employeeId: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action: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spareParts: string</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cost: decimal</a:t>
            </a:r>
            <a:endParaRPr lang="en-US" sz="620" dirty="0"/>
          </a:p>
        </p:txBody>
      </p:sp>
      <p:sp>
        <p:nvSpPr>
          <p:cNvPr id="42" name="Shape 40"/>
          <p:cNvSpPr/>
          <p:nvPr/>
        </p:nvSpPr>
        <p:spPr>
          <a:xfrm>
            <a:off x="3255264" y="3941430"/>
            <a:ext cx="2615184" cy="0"/>
          </a:xfrm>
          <a:prstGeom prst="line">
            <a:avLst/>
          </a:prstGeom>
          <a:noFill/>
          <a:ln w="12700">
            <a:solidFill>
              <a:srgbClr val="E2E8F0"/>
            </a:solidFill>
            <a:prstDash val="solid"/>
          </a:ln>
        </p:spPr>
      </p:sp>
      <p:sp>
        <p:nvSpPr>
          <p:cNvPr id="43" name="Text 41"/>
          <p:cNvSpPr/>
          <p:nvPr/>
        </p:nvSpPr>
        <p:spPr>
          <a:xfrm>
            <a:off x="3328416"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logAction(empId, act, cost):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getAuditLog(): string</a:t>
            </a:r>
            <a:endParaRPr lang="en-US" sz="620" dirty="0"/>
          </a:p>
        </p:txBody>
      </p:sp>
      <p:sp>
        <p:nvSpPr>
          <p:cNvPr id="44" name="Shape 42"/>
          <p:cNvSpPr/>
          <p:nvPr/>
        </p:nvSpPr>
        <p:spPr>
          <a:xfrm>
            <a:off x="6053328" y="2907792"/>
            <a:ext cx="2615184" cy="1737360"/>
          </a:xfrm>
          <a:prstGeom prst="roundRect">
            <a:avLst>
              <a:gd name="adj" fmla="val 4211"/>
            </a:avLst>
          </a:prstGeom>
          <a:solidFill>
            <a:srgbClr val="FFFFFF"/>
          </a:solidFill>
          <a:ln w="15240">
            <a:solidFill>
              <a:srgbClr val="10B981"/>
            </a:solidFill>
            <a:prstDash val="solid"/>
          </a:ln>
        </p:spPr>
      </p:sp>
      <p:sp>
        <p:nvSpPr>
          <p:cNvPr id="45" name="Shape 43"/>
          <p:cNvSpPr/>
          <p:nvPr/>
        </p:nvSpPr>
        <p:spPr>
          <a:xfrm>
            <a:off x="6053328" y="2907792"/>
            <a:ext cx="2615184" cy="292608"/>
          </a:xfrm>
          <a:prstGeom prst="roundRect">
            <a:avLst>
              <a:gd name="adj" fmla="val 25000"/>
            </a:avLst>
          </a:prstGeom>
          <a:solidFill>
            <a:srgbClr val="DCFCE7"/>
          </a:solidFill>
          <a:ln w="12700">
            <a:solidFill>
              <a:srgbClr val="10B981"/>
            </a:solidFill>
            <a:prstDash val="solid"/>
          </a:ln>
        </p:spPr>
      </p:sp>
      <p:sp>
        <p:nvSpPr>
          <p:cNvPr id="46" name="Text 44"/>
          <p:cNvSpPr/>
          <p:nvPr/>
        </p:nvSpPr>
        <p:spPr>
          <a:xfrm>
            <a:off x="6053328" y="2907792"/>
            <a:ext cx="2615184" cy="292608"/>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&lt;&lt;entity&gt;&gt;</a:t>
            </a:r>
            <a:endParaRPr lang="en-US" sz="720" dirty="0"/>
          </a:p>
          <a:p>
            <a:pPr algn="ctr" indent="0" marL="0">
              <a:buNone/>
            </a:pPr>
            <a:r>
              <a:rPr lang="en-US" sz="720" b="1" dirty="0">
                <a:solidFill>
                  <a:srgbClr val="10B981"/>
                </a:solidFill>
                <a:latin typeface="Arial" pitchFamily="34" charset="0"/>
                <a:ea typeface="Arial" pitchFamily="34" charset="-122"/>
                <a:cs typeface="Arial" pitchFamily="34" charset="-120"/>
              </a:rPr>
              <a:t>RoomInspection</a:t>
            </a:r>
            <a:endParaRPr lang="en-US" sz="720" dirty="0"/>
          </a:p>
        </p:txBody>
      </p:sp>
      <p:sp>
        <p:nvSpPr>
          <p:cNvPr id="47" name="Text 45"/>
          <p:cNvSpPr/>
          <p:nvPr/>
        </p:nvSpPr>
        <p:spPr>
          <a:xfrm>
            <a:off x="6126480" y="3218688"/>
            <a:ext cx="2468880" cy="722742"/>
          </a:xfrm>
          <a:prstGeom prst="rect">
            <a:avLst/>
          </a:prstGeom>
          <a:noFill/>
          <a:ln/>
        </p:spPr>
        <p:txBody>
          <a:bodyPr wrap="square" rtlCol="0" anchor="ctr"/>
          <a:lstStyle/>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roomId: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employeeId: int</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inspectionDate: DateTime</a:t>
            </a:r>
            <a:endParaRPr lang="en-US" sz="620" dirty="0"/>
          </a:p>
          <a:p>
            <a:pPr indent="0" marL="0">
              <a:lnSpc>
                <a:spcPct val="105000"/>
              </a:lnSpc>
              <a:buNone/>
            </a:pPr>
            <a:r>
              <a:rPr lang="en-US" sz="620" dirty="0">
                <a:solidFill>
                  <a:srgbClr val="0F172A"/>
                </a:solidFill>
                <a:latin typeface="Consolas" pitchFamily="34" charset="0"/>
                <a:ea typeface="Consolas" pitchFamily="34" charset="-122"/>
                <a:cs typeface="Consolas" pitchFamily="34" charset="-120"/>
              </a:rPr>
              <a:t>+ status: string</a:t>
            </a:r>
            <a:endParaRPr lang="en-US" sz="620" dirty="0"/>
          </a:p>
        </p:txBody>
      </p:sp>
      <p:sp>
        <p:nvSpPr>
          <p:cNvPr id="48" name="Shape 46"/>
          <p:cNvSpPr/>
          <p:nvPr/>
        </p:nvSpPr>
        <p:spPr>
          <a:xfrm>
            <a:off x="6053328" y="3941430"/>
            <a:ext cx="2615184" cy="0"/>
          </a:xfrm>
          <a:prstGeom prst="line">
            <a:avLst/>
          </a:prstGeom>
          <a:noFill/>
          <a:ln w="12700">
            <a:solidFill>
              <a:srgbClr val="E2E8F0"/>
            </a:solidFill>
            <a:prstDash val="solid"/>
          </a:ln>
        </p:spPr>
      </p:sp>
      <p:sp>
        <p:nvSpPr>
          <p:cNvPr id="49" name="Text 47"/>
          <p:cNvSpPr/>
          <p:nvPr/>
        </p:nvSpPr>
        <p:spPr>
          <a:xfrm>
            <a:off x="6126480" y="3959718"/>
            <a:ext cx="2468880" cy="667146"/>
          </a:xfrm>
          <a:prstGeom prst="rect">
            <a:avLst/>
          </a:prstGeom>
          <a:noFill/>
          <a:ln/>
        </p:spPr>
        <p:txBody>
          <a:bodyPr wrap="square" rtlCol="0" anchor="ctr"/>
          <a:lstStyle/>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submit9Checklist(details): void</a:t>
            </a:r>
            <a:endParaRPr lang="en-US" sz="620" dirty="0"/>
          </a:p>
          <a:p>
            <a:pPr indent="0" marL="0">
              <a:lnSpc>
                <a:spcPct val="105000"/>
              </a:lnSpc>
              <a:buNone/>
            </a:pPr>
            <a:r>
              <a:rPr lang="en-US" sz="620" dirty="0">
                <a:solidFill>
                  <a:srgbClr val="0369A1"/>
                </a:solidFill>
                <a:latin typeface="Consolas" pitchFamily="34" charset="0"/>
                <a:ea typeface="Consolas" pitchFamily="34" charset="-122"/>
                <a:cs typeface="Consolas" pitchFamily="34" charset="-120"/>
              </a:rPr>
              <a:t>+ autoTriggerIncident(): bool</a:t>
            </a:r>
            <a:endParaRPr lang="en-US" sz="6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HIỆN THỰC HÓA HỆ THỐNG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19. MA TRẬN CHUYỂN ĐỔI OOAD: TỪ CLASS DIAGRAM SANG CSDL MYSQL INNODB</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1645920"/>
                <a:gridCol w="2377440"/>
                <a:gridCol w="2377440"/>
              </a:tblGrid>
              <a:tr h="0">
                <a:tc>
                  <a:txBody>
                    <a:bodyPr/>
                    <a:lstStyle/>
                    <a:p>
                      <a:pPr indent="0" marL="0">
                        <a:buNone/>
                      </a:pPr>
                      <a:r>
                        <a:rPr lang="en-US" sz="700" b="1" dirty="0">
                          <a:solidFill>
                            <a:srgbClr val="0F172A"/>
                          </a:solidFill>
                        </a:rPr>
                        <a:t>Lớp Hướng Đối Tượng (Class)</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00" b="1" dirty="0">
                          <a:solidFill>
                            <a:srgbClr val="0F172A"/>
                          </a:solidFill>
                        </a:rPr>
                        <a:t>Bảng CSDL MySQL Tương Ứng</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00" b="1" dirty="0">
                          <a:solidFill>
                            <a:srgbClr val="0F172A"/>
                          </a:solidFill>
                        </a:rPr>
                        <a:t>Khóa Chính (PK) &amp; Khóa Ngoại (FK)</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00" b="1" dirty="0">
                          <a:solidFill>
                            <a:srgbClr val="0F172A"/>
                          </a:solidFill>
                        </a:rPr>
                        <a:t>Cơ Chế Ràng Buộc &amp; Transaction</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00" b="1" dirty="0">
                          <a:solidFill>
                            <a:srgbClr val="0EA5E9"/>
                          </a:solidFill>
                        </a:rPr>
                        <a:t>CinemaRoom &amp; Seat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0EA5E9"/>
                          </a:solidFill>
                          <a:latin typeface="Consolas" pitchFamily="34" charset="0"/>
                          <a:ea typeface="Consolas" pitchFamily="34" charset="-122"/>
                          <a:cs typeface="Consolas" pitchFamily="34" charset="-120"/>
                        </a:rPr>
                        <a:t>cinema_rooms</a:t>
                      </a:r>
                      <a:endParaRPr lang="en-US" sz="700" dirty="0">
                        <a:latin typeface="Consolas" charset="0"/>
                        <a:ea typeface="Consolas" charset="0"/>
                        <a:cs typeface="Consolas" charset="0"/>
                      </a:endParaRPr>
                    </a:p>
                    <a:p>
                      <a:pPr indent="0" marL="0">
                        <a:buNone/>
                      </a:pPr>
                      <a:r>
                        <a:rPr lang="en-US" sz="700" dirty="0">
                          <a:solidFill>
                            <a:srgbClr val="0EA5E9"/>
                          </a:solidFill>
                          <a:latin typeface="Consolas" pitchFamily="34" charset="0"/>
                          <a:ea typeface="Consolas" pitchFamily="34" charset="-122"/>
                          <a:cs typeface="Consolas" pitchFamily="34" charset="-120"/>
                        </a:rPr>
                        <a:t>seats</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PK: id</a:t>
                      </a:r>
                      <a:endParaRPr lang="en-US" sz="700" dirty="0"/>
                    </a:p>
                    <a:p>
                      <a:pPr indent="0" marL="0">
                        <a:buNone/>
                      </a:pPr>
                      <a:r>
                        <a:rPr lang="en-US" sz="700" dirty="0">
                          <a:solidFill>
                            <a:srgbClr val="334155"/>
                          </a:solidFill>
                        </a:rPr>
                        <a:t>FK: seats.room_id -&gt; cinema_rooms.id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ON DELETE CASCADE (Composition: Xóa phòng tự động xóa ghế).</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00" b="1" dirty="0">
                          <a:solidFill>
                            <a:srgbClr val="FF4757"/>
                          </a:solidFill>
                        </a:rPr>
                        <a:t>Booking &amp; BookingSeat</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FF4757"/>
                          </a:solidFill>
                          <a:latin typeface="Consolas" pitchFamily="34" charset="0"/>
                          <a:ea typeface="Consolas" pitchFamily="34" charset="-122"/>
                          <a:cs typeface="Consolas" pitchFamily="34" charset="-120"/>
                        </a:rPr>
                        <a:t>bookings</a:t>
                      </a:r>
                      <a:endParaRPr lang="en-US" sz="700" dirty="0">
                        <a:latin typeface="Consolas" charset="0"/>
                        <a:ea typeface="Consolas" charset="0"/>
                        <a:cs typeface="Consolas" charset="0"/>
                      </a:endParaRPr>
                    </a:p>
                    <a:p>
                      <a:pPr indent="0" marL="0">
                        <a:buNone/>
                      </a:pPr>
                      <a:r>
                        <a:rPr lang="en-US" sz="700" dirty="0">
                          <a:solidFill>
                            <a:srgbClr val="FF4757"/>
                          </a:solidFill>
                          <a:latin typeface="Consolas" pitchFamily="34" charset="0"/>
                          <a:ea typeface="Consolas" pitchFamily="34" charset="-122"/>
                          <a:cs typeface="Consolas" pitchFamily="34" charset="-120"/>
                        </a:rPr>
                        <a:t>booking_seats</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PK: id</a:t>
                      </a:r>
                      <a:endParaRPr lang="en-US" sz="700" dirty="0"/>
                    </a:p>
                    <a:p>
                      <a:pPr indent="0" marL="0">
                        <a:buNone/>
                      </a:pPr>
                      <a:r>
                        <a:rPr lang="en-US" sz="700" dirty="0">
                          <a:solidFill>
                            <a:srgbClr val="334155"/>
                          </a:solidFill>
                        </a:rPr>
                        <a:t>FK: booking_seats.booking_id -&gt; bookings.id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b="1" dirty="0">
                          <a:solidFill>
                            <a:srgbClr val="FF4757"/>
                          </a:solidFill>
                        </a:rPr>
                        <a:t>SELECT FOR UPDATE + InnoDB Row Lock (Chống Race Condition).</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00" b="1" dirty="0">
                          <a:solidFill>
                            <a:srgbClr val="8B5CF6"/>
                          </a:solidFill>
                        </a:rPr>
                        <a:t>Incident &amp; History</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8B5CF6"/>
                          </a:solidFill>
                          <a:latin typeface="Consolas" pitchFamily="34" charset="0"/>
                          <a:ea typeface="Consolas" pitchFamily="34" charset="-122"/>
                          <a:cs typeface="Consolas" pitchFamily="34" charset="-120"/>
                        </a:rPr>
                        <a:t>incidents</a:t>
                      </a:r>
                      <a:endParaRPr lang="en-US" sz="700" dirty="0">
                        <a:latin typeface="Consolas" charset="0"/>
                        <a:ea typeface="Consolas" charset="0"/>
                        <a:cs typeface="Consolas" charset="0"/>
                      </a:endParaRPr>
                    </a:p>
                    <a:p>
                      <a:pPr indent="0" marL="0">
                        <a:buNone/>
                      </a:pPr>
                      <a:r>
                        <a:rPr lang="en-US" sz="700" dirty="0">
                          <a:solidFill>
                            <a:srgbClr val="8B5CF6"/>
                          </a:solidFill>
                          <a:latin typeface="Consolas" pitchFamily="34" charset="0"/>
                          <a:ea typeface="Consolas" pitchFamily="34" charset="-122"/>
                          <a:cs typeface="Consolas" pitchFamily="34" charset="-120"/>
                        </a:rPr>
                        <a:t>incident_histories</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PK: id</a:t>
                      </a:r>
                      <a:endParaRPr lang="en-US" sz="700" dirty="0"/>
                    </a:p>
                    <a:p>
                      <a:pPr indent="0" marL="0">
                        <a:buNone/>
                      </a:pPr>
                      <a:r>
                        <a:rPr lang="en-US" sz="700" dirty="0">
                          <a:solidFill>
                            <a:srgbClr val="334155"/>
                          </a:solidFill>
                        </a:rPr>
                        <a:t>FK: incident_histories.incident_id -&gt; incidents.id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Immutable Audit Log: Khóa chỉnh sửa khi chuyển status 'closed'.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00" b="1" dirty="0">
                          <a:solidFill>
                            <a:srgbClr val="10B981"/>
                          </a:solidFill>
                        </a:rPr>
                        <a:t>RoomInspection &amp; Detail</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10B981"/>
                          </a:solidFill>
                          <a:latin typeface="Consolas" pitchFamily="34" charset="0"/>
                          <a:ea typeface="Consolas" pitchFamily="34" charset="-122"/>
                          <a:cs typeface="Consolas" pitchFamily="34" charset="-120"/>
                        </a:rPr>
                        <a:t>room_inspections</a:t>
                      </a:r>
                      <a:endParaRPr lang="en-US" sz="700" dirty="0">
                        <a:latin typeface="Consolas" charset="0"/>
                        <a:ea typeface="Consolas" charset="0"/>
                        <a:cs typeface="Consolas" charset="0"/>
                      </a:endParaRPr>
                    </a:p>
                    <a:p>
                      <a:pPr indent="0" marL="0">
                        <a:buNone/>
                      </a:pPr>
                      <a:r>
                        <a:rPr lang="en-US" sz="700" dirty="0">
                          <a:solidFill>
                            <a:srgbClr val="10B981"/>
                          </a:solidFill>
                          <a:latin typeface="Consolas" pitchFamily="34" charset="0"/>
                          <a:ea typeface="Consolas" pitchFamily="34" charset="-122"/>
                          <a:cs typeface="Consolas" pitchFamily="34" charset="-120"/>
                        </a:rPr>
                        <a:t>inspection_details</a:t>
                      </a:r>
                      <a:endParaRPr lang="en-US" sz="700" dirty="0">
                        <a:latin typeface="Consolas" charset="0"/>
                        <a:ea typeface="Consolas" charset="0"/>
                        <a:cs typeface="Consolas" charset="0"/>
                      </a:endParaRPr>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PK: id</a:t>
                      </a:r>
                      <a:endParaRPr lang="en-US" sz="700" dirty="0"/>
                    </a:p>
                    <a:p>
                      <a:pPr indent="0" marL="0">
                        <a:buNone/>
                      </a:pPr>
                      <a:r>
                        <a:rPr lang="en-US" sz="700" dirty="0">
                          <a:solidFill>
                            <a:srgbClr val="334155"/>
                          </a:solidFill>
                        </a:rPr>
                        <a:t>FK: inspection_details.inspection_id</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00" dirty="0">
                          <a:solidFill>
                            <a:srgbClr val="334155"/>
                          </a:solidFill>
                        </a:rPr>
                        <a:t>9 Tiêu chí an toàn: Tự động trigger tạo Incident nếu có item 'fail'.</a:t>
                      </a:r>
                      <a:endParaRPr lang="en-US" sz="700" dirty="0"/>
                    </a:p>
                  </a:txBody>
                  <a:tcPr marL="36576" marR="36576" marT="36576" marB="36576"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THIẾT KẾ LOGIC HỆ THỐNG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20. QUY TẮC NGHIỆP VỤ CỐT LÕI (BUSINESS RULES BR01 - BR16)</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3977640" cy="402336"/>
          </a:xfrm>
          <a:prstGeom prst="roundRect">
            <a:avLst>
              <a:gd name="adj" fmla="val 18182"/>
            </a:avLst>
          </a:prstGeom>
          <a:solidFill>
            <a:srgbClr val="FFFFFF"/>
          </a:solidFill>
          <a:ln w="12700">
            <a:solidFill>
              <a:srgbClr val="CBD5E1"/>
            </a:solidFill>
            <a:prstDash val="solid"/>
          </a:ln>
        </p:spPr>
      </p:sp>
      <p:sp>
        <p:nvSpPr>
          <p:cNvPr id="15" name="Shape 13"/>
          <p:cNvSpPr/>
          <p:nvPr/>
        </p:nvSpPr>
        <p:spPr>
          <a:xfrm>
            <a:off x="530352" y="1115568"/>
            <a:ext cx="594360" cy="274320"/>
          </a:xfrm>
          <a:prstGeom prst="roundRect">
            <a:avLst>
              <a:gd name="adj" fmla="val 20000"/>
            </a:avLst>
          </a:prstGeom>
          <a:solidFill>
            <a:srgbClr val="FEF9C3"/>
          </a:solidFill>
          <a:ln w="12700">
            <a:solidFill>
              <a:srgbClr val="F59E0B"/>
            </a:solidFill>
            <a:prstDash val="solid"/>
          </a:ln>
        </p:spPr>
      </p:sp>
      <p:sp>
        <p:nvSpPr>
          <p:cNvPr id="16" name="Text 14"/>
          <p:cNvSpPr/>
          <p:nvPr/>
        </p:nvSpPr>
        <p:spPr>
          <a:xfrm>
            <a:off x="530352" y="1115568"/>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BR01</a:t>
            </a:r>
            <a:endParaRPr lang="en-US" sz="720" dirty="0"/>
          </a:p>
        </p:txBody>
      </p:sp>
      <p:sp>
        <p:nvSpPr>
          <p:cNvPr id="17" name="Text 15"/>
          <p:cNvSpPr/>
          <p:nvPr/>
        </p:nvSpPr>
        <p:spPr>
          <a:xfrm>
            <a:off x="1188720" y="1088136"/>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Tránh Xung Đột Lịch: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Không cho 2 suất chiếu trùng giờ hoặc cách nhau dưới 15p dọn phòng.</a:t>
            </a:r>
            <a:endParaRPr lang="en-US" sz="680" dirty="0"/>
          </a:p>
        </p:txBody>
      </p:sp>
      <p:sp>
        <p:nvSpPr>
          <p:cNvPr id="18" name="Shape 16"/>
          <p:cNvSpPr/>
          <p:nvPr/>
        </p:nvSpPr>
        <p:spPr>
          <a:xfrm>
            <a:off x="457200" y="1490472"/>
            <a:ext cx="3977640" cy="402336"/>
          </a:xfrm>
          <a:prstGeom prst="roundRect">
            <a:avLst>
              <a:gd name="adj" fmla="val 18182"/>
            </a:avLst>
          </a:prstGeom>
          <a:solidFill>
            <a:srgbClr val="FFFFFF"/>
          </a:solidFill>
          <a:ln w="12700">
            <a:solidFill>
              <a:srgbClr val="CBD5E1"/>
            </a:solidFill>
            <a:prstDash val="solid"/>
          </a:ln>
        </p:spPr>
      </p:sp>
      <p:sp>
        <p:nvSpPr>
          <p:cNvPr id="19" name="Shape 17"/>
          <p:cNvSpPr/>
          <p:nvPr/>
        </p:nvSpPr>
        <p:spPr>
          <a:xfrm>
            <a:off x="530352" y="1554480"/>
            <a:ext cx="594360" cy="274320"/>
          </a:xfrm>
          <a:prstGeom prst="roundRect">
            <a:avLst>
              <a:gd name="adj" fmla="val 20000"/>
            </a:avLst>
          </a:prstGeom>
          <a:solidFill>
            <a:srgbClr val="FEF9C3"/>
          </a:solidFill>
          <a:ln w="12700">
            <a:solidFill>
              <a:srgbClr val="F59E0B"/>
            </a:solidFill>
            <a:prstDash val="solid"/>
          </a:ln>
        </p:spPr>
      </p:sp>
      <p:sp>
        <p:nvSpPr>
          <p:cNvPr id="20" name="Text 18"/>
          <p:cNvSpPr/>
          <p:nvPr/>
        </p:nvSpPr>
        <p:spPr>
          <a:xfrm>
            <a:off x="530352" y="1554480"/>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BR02</a:t>
            </a:r>
            <a:endParaRPr lang="en-US" sz="720" dirty="0"/>
          </a:p>
        </p:txBody>
      </p:sp>
      <p:sp>
        <p:nvSpPr>
          <p:cNvPr id="21" name="Text 19"/>
          <p:cNvSpPr/>
          <p:nvPr/>
        </p:nvSpPr>
        <p:spPr>
          <a:xfrm>
            <a:off x="1188720" y="1527048"/>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Ràng Buộc Phòng: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Không xếp lịch cho phòng đang 'maintenance' hoặc 'incident'.</a:t>
            </a:r>
            <a:endParaRPr lang="en-US" sz="680" dirty="0"/>
          </a:p>
        </p:txBody>
      </p:sp>
      <p:sp>
        <p:nvSpPr>
          <p:cNvPr id="22" name="Shape 20"/>
          <p:cNvSpPr/>
          <p:nvPr/>
        </p:nvSpPr>
        <p:spPr>
          <a:xfrm>
            <a:off x="457200" y="1929384"/>
            <a:ext cx="3977640" cy="402336"/>
          </a:xfrm>
          <a:prstGeom prst="roundRect">
            <a:avLst>
              <a:gd name="adj" fmla="val 18182"/>
            </a:avLst>
          </a:prstGeom>
          <a:solidFill>
            <a:srgbClr val="FFFFFF"/>
          </a:solidFill>
          <a:ln w="12700">
            <a:solidFill>
              <a:srgbClr val="CBD5E1"/>
            </a:solidFill>
            <a:prstDash val="solid"/>
          </a:ln>
        </p:spPr>
      </p:sp>
      <p:sp>
        <p:nvSpPr>
          <p:cNvPr id="23" name="Shape 21"/>
          <p:cNvSpPr/>
          <p:nvPr/>
        </p:nvSpPr>
        <p:spPr>
          <a:xfrm>
            <a:off x="530352" y="1993392"/>
            <a:ext cx="594360" cy="274320"/>
          </a:xfrm>
          <a:prstGeom prst="roundRect">
            <a:avLst>
              <a:gd name="adj" fmla="val 20000"/>
            </a:avLst>
          </a:prstGeom>
          <a:solidFill>
            <a:srgbClr val="FEF9C3"/>
          </a:solidFill>
          <a:ln w="12700">
            <a:solidFill>
              <a:srgbClr val="F59E0B"/>
            </a:solidFill>
            <a:prstDash val="solid"/>
          </a:ln>
        </p:spPr>
      </p:sp>
      <p:sp>
        <p:nvSpPr>
          <p:cNvPr id="24" name="Text 22"/>
          <p:cNvSpPr/>
          <p:nvPr/>
        </p:nvSpPr>
        <p:spPr>
          <a:xfrm>
            <a:off x="530352" y="1993392"/>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BR03</a:t>
            </a:r>
            <a:endParaRPr lang="en-US" sz="720" dirty="0"/>
          </a:p>
        </p:txBody>
      </p:sp>
      <p:sp>
        <p:nvSpPr>
          <p:cNvPr id="25" name="Text 23"/>
          <p:cNvSpPr/>
          <p:nvPr/>
        </p:nvSpPr>
        <p:spPr>
          <a:xfrm>
            <a:off x="1188720" y="1965960"/>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Ràng Buộc Thiết Bị: </a:t>
            </a:r>
            <a:pPr indent="0" marL="0">
              <a:lnSpc>
                <a:spcPct val="105000"/>
              </a:lnSpc>
              <a:buNone/>
            </a:pPr>
            <a:r>
              <a:rPr lang="en-US" sz="680" dirty="0">
                <a:solidFill>
                  <a:srgbClr val="64748B"/>
                </a:solidFill>
                <a:latin typeface="Arial" pitchFamily="34" charset="0"/>
                <a:ea typeface="Arial" pitchFamily="34" charset="-122"/>
                <a:cs typeface="Arial" pitchFamily="34" charset="-120"/>
              </a:rPr>
              <a:t>Tạm ngưng mở bán nếu máy chiếu hoặc âm thanh bị hỏng.</a:t>
            </a:r>
            <a:endParaRPr lang="en-US" sz="680" dirty="0"/>
          </a:p>
        </p:txBody>
      </p:sp>
      <p:sp>
        <p:nvSpPr>
          <p:cNvPr id="26" name="Shape 24"/>
          <p:cNvSpPr/>
          <p:nvPr/>
        </p:nvSpPr>
        <p:spPr>
          <a:xfrm>
            <a:off x="457200" y="2368296"/>
            <a:ext cx="3977640" cy="402336"/>
          </a:xfrm>
          <a:prstGeom prst="roundRect">
            <a:avLst>
              <a:gd name="adj" fmla="val 18182"/>
            </a:avLst>
          </a:prstGeom>
          <a:solidFill>
            <a:srgbClr val="FFFFFF"/>
          </a:solidFill>
          <a:ln w="12700">
            <a:solidFill>
              <a:srgbClr val="CBD5E1"/>
            </a:solidFill>
            <a:prstDash val="solid"/>
          </a:ln>
        </p:spPr>
      </p:sp>
      <p:sp>
        <p:nvSpPr>
          <p:cNvPr id="27" name="Shape 25"/>
          <p:cNvSpPr/>
          <p:nvPr/>
        </p:nvSpPr>
        <p:spPr>
          <a:xfrm>
            <a:off x="530352" y="2432304"/>
            <a:ext cx="594360" cy="274320"/>
          </a:xfrm>
          <a:prstGeom prst="roundRect">
            <a:avLst>
              <a:gd name="adj" fmla="val 20000"/>
            </a:avLst>
          </a:prstGeom>
          <a:solidFill>
            <a:srgbClr val="FEF9C3"/>
          </a:solidFill>
          <a:ln w="12700">
            <a:solidFill>
              <a:srgbClr val="F59E0B"/>
            </a:solidFill>
            <a:prstDash val="solid"/>
          </a:ln>
        </p:spPr>
      </p:sp>
      <p:sp>
        <p:nvSpPr>
          <p:cNvPr id="28" name="Text 26"/>
          <p:cNvSpPr/>
          <p:nvPr/>
        </p:nvSpPr>
        <p:spPr>
          <a:xfrm>
            <a:off x="530352" y="2432304"/>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BR04</a:t>
            </a:r>
            <a:endParaRPr lang="en-US" sz="720" dirty="0"/>
          </a:p>
        </p:txBody>
      </p:sp>
      <p:sp>
        <p:nvSpPr>
          <p:cNvPr id="29" name="Text 27"/>
          <p:cNvSpPr/>
          <p:nvPr/>
        </p:nvSpPr>
        <p:spPr>
          <a:xfrm>
            <a:off x="1188720" y="2404872"/>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Độc Quyền Ghế: </a:t>
            </a:r>
            <a:pPr indent="0" marL="0">
              <a:lnSpc>
                <a:spcPct val="105000"/>
              </a:lnSpc>
              <a:buNone/>
            </a:pPr>
            <a:r>
              <a:rPr lang="en-US" sz="680" dirty="0">
                <a:solidFill>
                  <a:srgbClr val="64748B"/>
                </a:solidFill>
                <a:latin typeface="Arial" pitchFamily="34" charset="0"/>
                <a:ea typeface="Arial" pitchFamily="34" charset="-122"/>
                <a:cs typeface="Arial" pitchFamily="34" charset="-120"/>
              </a:rPr>
              <a:t>Một ghế chỉ được đặt hoặc giữ 1 lần trong cùng 1 suất chiếu.</a:t>
            </a:r>
            <a:endParaRPr lang="en-US" sz="680" dirty="0"/>
          </a:p>
        </p:txBody>
      </p:sp>
      <p:sp>
        <p:nvSpPr>
          <p:cNvPr id="30" name="Shape 28"/>
          <p:cNvSpPr/>
          <p:nvPr/>
        </p:nvSpPr>
        <p:spPr>
          <a:xfrm>
            <a:off x="457200" y="2807208"/>
            <a:ext cx="3977640" cy="402336"/>
          </a:xfrm>
          <a:prstGeom prst="roundRect">
            <a:avLst>
              <a:gd name="adj" fmla="val 18182"/>
            </a:avLst>
          </a:prstGeom>
          <a:solidFill>
            <a:srgbClr val="FFFFFF"/>
          </a:solidFill>
          <a:ln w="12700">
            <a:solidFill>
              <a:srgbClr val="CBD5E1"/>
            </a:solidFill>
            <a:prstDash val="solid"/>
          </a:ln>
        </p:spPr>
      </p:sp>
      <p:sp>
        <p:nvSpPr>
          <p:cNvPr id="31" name="Shape 29"/>
          <p:cNvSpPr/>
          <p:nvPr/>
        </p:nvSpPr>
        <p:spPr>
          <a:xfrm>
            <a:off x="530352" y="2871216"/>
            <a:ext cx="594360" cy="274320"/>
          </a:xfrm>
          <a:prstGeom prst="roundRect">
            <a:avLst>
              <a:gd name="adj" fmla="val 20000"/>
            </a:avLst>
          </a:prstGeom>
          <a:solidFill>
            <a:srgbClr val="FEF9C3"/>
          </a:solidFill>
          <a:ln w="12700">
            <a:solidFill>
              <a:srgbClr val="F59E0B"/>
            </a:solidFill>
            <a:prstDash val="solid"/>
          </a:ln>
        </p:spPr>
      </p:sp>
      <p:sp>
        <p:nvSpPr>
          <p:cNvPr id="32" name="Text 30"/>
          <p:cNvSpPr/>
          <p:nvPr/>
        </p:nvSpPr>
        <p:spPr>
          <a:xfrm>
            <a:off x="530352" y="2871216"/>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BR05</a:t>
            </a:r>
            <a:endParaRPr lang="en-US" sz="720" dirty="0"/>
          </a:p>
        </p:txBody>
      </p:sp>
      <p:sp>
        <p:nvSpPr>
          <p:cNvPr id="33" name="Text 31"/>
          <p:cNvSpPr/>
          <p:nvPr/>
        </p:nvSpPr>
        <p:spPr>
          <a:xfrm>
            <a:off x="1188720" y="2843784"/>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Khóa Ghế Realtime: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Khi khách chọn ghế -&gt; Đổi sang 🔵 'holding' và khóa với khách khác.</a:t>
            </a:r>
            <a:endParaRPr lang="en-US" sz="680" dirty="0"/>
          </a:p>
        </p:txBody>
      </p:sp>
      <p:sp>
        <p:nvSpPr>
          <p:cNvPr id="34" name="Shape 32"/>
          <p:cNvSpPr/>
          <p:nvPr/>
        </p:nvSpPr>
        <p:spPr>
          <a:xfrm>
            <a:off x="457200" y="3246120"/>
            <a:ext cx="3977640" cy="402336"/>
          </a:xfrm>
          <a:prstGeom prst="roundRect">
            <a:avLst>
              <a:gd name="adj" fmla="val 18182"/>
            </a:avLst>
          </a:prstGeom>
          <a:solidFill>
            <a:srgbClr val="FFFFFF"/>
          </a:solidFill>
          <a:ln w="12700">
            <a:solidFill>
              <a:srgbClr val="CBD5E1"/>
            </a:solidFill>
            <a:prstDash val="solid"/>
          </a:ln>
        </p:spPr>
      </p:sp>
      <p:sp>
        <p:nvSpPr>
          <p:cNvPr id="35" name="Shape 33"/>
          <p:cNvSpPr/>
          <p:nvPr/>
        </p:nvSpPr>
        <p:spPr>
          <a:xfrm>
            <a:off x="530352" y="3310128"/>
            <a:ext cx="594360" cy="274320"/>
          </a:xfrm>
          <a:prstGeom prst="roundRect">
            <a:avLst>
              <a:gd name="adj" fmla="val 20000"/>
            </a:avLst>
          </a:prstGeom>
          <a:solidFill>
            <a:srgbClr val="FEF9C3"/>
          </a:solidFill>
          <a:ln w="12700">
            <a:solidFill>
              <a:srgbClr val="F59E0B"/>
            </a:solidFill>
            <a:prstDash val="solid"/>
          </a:ln>
        </p:spPr>
      </p:sp>
      <p:sp>
        <p:nvSpPr>
          <p:cNvPr id="36" name="Text 34"/>
          <p:cNvSpPr/>
          <p:nvPr/>
        </p:nvSpPr>
        <p:spPr>
          <a:xfrm>
            <a:off x="530352" y="3310128"/>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BR06</a:t>
            </a:r>
            <a:endParaRPr lang="en-US" sz="720" dirty="0"/>
          </a:p>
        </p:txBody>
      </p:sp>
      <p:sp>
        <p:nvSpPr>
          <p:cNvPr id="37" name="Text 35"/>
          <p:cNvSpPr/>
          <p:nvPr/>
        </p:nvSpPr>
        <p:spPr>
          <a:xfrm>
            <a:off x="1188720" y="3282696"/>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Thời Hạn Giữ 10p: </a:t>
            </a:r>
            <a:pPr indent="0" marL="0">
              <a:lnSpc>
                <a:spcPct val="105000"/>
              </a:lnSpc>
              <a:buNone/>
            </a:pPr>
            <a:r>
              <a:rPr lang="en-US" sz="680" dirty="0">
                <a:solidFill>
                  <a:srgbClr val="64748B"/>
                </a:solidFill>
                <a:latin typeface="Arial" pitchFamily="34" charset="0"/>
                <a:ea typeface="Arial" pitchFamily="34" charset="-122"/>
                <a:cs typeface="Arial" pitchFamily="34" charset="-120"/>
              </a:rPr>
              <a:t>Cơ chế giữ ghế mặc định kéo dài đúng 10 phút từ hold_start.</a:t>
            </a:r>
            <a:endParaRPr lang="en-US" sz="680" dirty="0"/>
          </a:p>
        </p:txBody>
      </p:sp>
      <p:sp>
        <p:nvSpPr>
          <p:cNvPr id="38" name="Shape 36"/>
          <p:cNvSpPr/>
          <p:nvPr/>
        </p:nvSpPr>
        <p:spPr>
          <a:xfrm>
            <a:off x="457200" y="3685032"/>
            <a:ext cx="3977640" cy="402336"/>
          </a:xfrm>
          <a:prstGeom prst="roundRect">
            <a:avLst>
              <a:gd name="adj" fmla="val 18182"/>
            </a:avLst>
          </a:prstGeom>
          <a:solidFill>
            <a:srgbClr val="FFFFFF"/>
          </a:solidFill>
          <a:ln w="12700">
            <a:solidFill>
              <a:srgbClr val="CBD5E1"/>
            </a:solidFill>
            <a:prstDash val="solid"/>
          </a:ln>
        </p:spPr>
      </p:sp>
      <p:sp>
        <p:nvSpPr>
          <p:cNvPr id="39" name="Shape 37"/>
          <p:cNvSpPr/>
          <p:nvPr/>
        </p:nvSpPr>
        <p:spPr>
          <a:xfrm>
            <a:off x="530352" y="3749040"/>
            <a:ext cx="594360" cy="274320"/>
          </a:xfrm>
          <a:prstGeom prst="roundRect">
            <a:avLst>
              <a:gd name="adj" fmla="val 20000"/>
            </a:avLst>
          </a:prstGeom>
          <a:solidFill>
            <a:srgbClr val="FEF9C3"/>
          </a:solidFill>
          <a:ln w="12700">
            <a:solidFill>
              <a:srgbClr val="F59E0B"/>
            </a:solidFill>
            <a:prstDash val="solid"/>
          </a:ln>
        </p:spPr>
      </p:sp>
      <p:sp>
        <p:nvSpPr>
          <p:cNvPr id="40" name="Text 38"/>
          <p:cNvSpPr/>
          <p:nvPr/>
        </p:nvSpPr>
        <p:spPr>
          <a:xfrm>
            <a:off x="530352" y="3749040"/>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BR07</a:t>
            </a:r>
            <a:endParaRPr lang="en-US" sz="720" dirty="0"/>
          </a:p>
        </p:txBody>
      </p:sp>
      <p:sp>
        <p:nvSpPr>
          <p:cNvPr id="41" name="Text 39"/>
          <p:cNvSpPr/>
          <p:nvPr/>
        </p:nvSpPr>
        <p:spPr>
          <a:xfrm>
            <a:off x="1188720" y="3721608"/>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Tự Giải Phóng Ghế: </a:t>
            </a:r>
            <a:pPr indent="0" marL="0">
              <a:lnSpc>
                <a:spcPct val="105000"/>
              </a:lnSpc>
              <a:buNone/>
            </a:pPr>
            <a:r>
              <a:rPr lang="en-US" sz="680" dirty="0">
                <a:solidFill>
                  <a:srgbClr val="64748B"/>
                </a:solidFill>
                <a:latin typeface="Arial" pitchFamily="34" charset="0"/>
                <a:ea typeface="Arial" pitchFamily="34" charset="-122"/>
                <a:cs typeface="Arial" pitchFamily="34" charset="-120"/>
              </a:rPr>
              <a:t>Hết 10 phút chưa thanh toán -&gt; Worker đổi 'released' và hủy đơn.</a:t>
            </a:r>
            <a:endParaRPr lang="en-US" sz="680" dirty="0"/>
          </a:p>
        </p:txBody>
      </p:sp>
      <p:sp>
        <p:nvSpPr>
          <p:cNvPr id="42" name="Shape 40"/>
          <p:cNvSpPr/>
          <p:nvPr/>
        </p:nvSpPr>
        <p:spPr>
          <a:xfrm>
            <a:off x="457200" y="4123944"/>
            <a:ext cx="3977640" cy="402336"/>
          </a:xfrm>
          <a:prstGeom prst="roundRect">
            <a:avLst>
              <a:gd name="adj" fmla="val 18182"/>
            </a:avLst>
          </a:prstGeom>
          <a:solidFill>
            <a:srgbClr val="FFFFFF"/>
          </a:solidFill>
          <a:ln w="12700">
            <a:solidFill>
              <a:srgbClr val="CBD5E1"/>
            </a:solidFill>
            <a:prstDash val="solid"/>
          </a:ln>
        </p:spPr>
      </p:sp>
      <p:sp>
        <p:nvSpPr>
          <p:cNvPr id="43" name="Shape 41"/>
          <p:cNvSpPr/>
          <p:nvPr/>
        </p:nvSpPr>
        <p:spPr>
          <a:xfrm>
            <a:off x="530352" y="4187952"/>
            <a:ext cx="594360" cy="274320"/>
          </a:xfrm>
          <a:prstGeom prst="roundRect">
            <a:avLst>
              <a:gd name="adj" fmla="val 20000"/>
            </a:avLst>
          </a:prstGeom>
          <a:solidFill>
            <a:srgbClr val="FEF9C3"/>
          </a:solidFill>
          <a:ln w="12700">
            <a:solidFill>
              <a:srgbClr val="F59E0B"/>
            </a:solidFill>
            <a:prstDash val="solid"/>
          </a:ln>
        </p:spPr>
      </p:sp>
      <p:sp>
        <p:nvSpPr>
          <p:cNvPr id="44" name="Text 42"/>
          <p:cNvSpPr/>
          <p:nvPr/>
        </p:nvSpPr>
        <p:spPr>
          <a:xfrm>
            <a:off x="530352" y="4187952"/>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BR08</a:t>
            </a:r>
            <a:endParaRPr lang="en-US" sz="720" dirty="0"/>
          </a:p>
        </p:txBody>
      </p:sp>
      <p:sp>
        <p:nvSpPr>
          <p:cNvPr id="45" name="Text 43"/>
          <p:cNvSpPr/>
          <p:nvPr/>
        </p:nvSpPr>
        <p:spPr>
          <a:xfrm>
            <a:off x="1188720" y="4160520"/>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Chuyển Đổi Khi Trả: </a:t>
            </a:r>
            <a:pPr indent="0" marL="0">
              <a:lnSpc>
                <a:spcPct val="105000"/>
              </a:lnSpc>
              <a:buNone/>
            </a:pPr>
            <a:r>
              <a:rPr lang="en-US" sz="680" dirty="0">
                <a:solidFill>
                  <a:srgbClr val="64748B"/>
                </a:solidFill>
                <a:latin typeface="Arial" pitchFamily="34" charset="0"/>
                <a:ea typeface="Arial" pitchFamily="34" charset="-122"/>
                <a:cs typeface="Arial" pitchFamily="34" charset="-120"/>
              </a:rPr>
              <a:t>Thanh toán thành công -&gt; Đổi sang 🔴 'booked' và sinh mã vé QR.</a:t>
            </a:r>
            <a:endParaRPr lang="en-US" sz="680" dirty="0"/>
          </a:p>
        </p:txBody>
      </p:sp>
      <p:sp>
        <p:nvSpPr>
          <p:cNvPr id="46" name="Shape 44"/>
          <p:cNvSpPr/>
          <p:nvPr/>
        </p:nvSpPr>
        <p:spPr>
          <a:xfrm>
            <a:off x="4709160" y="1051560"/>
            <a:ext cx="3977640" cy="402336"/>
          </a:xfrm>
          <a:prstGeom prst="roundRect">
            <a:avLst>
              <a:gd name="adj" fmla="val 18182"/>
            </a:avLst>
          </a:prstGeom>
          <a:solidFill>
            <a:srgbClr val="FFFFFF"/>
          </a:solidFill>
          <a:ln w="12700">
            <a:solidFill>
              <a:srgbClr val="CBD5E1"/>
            </a:solidFill>
            <a:prstDash val="solid"/>
          </a:ln>
        </p:spPr>
      </p:sp>
      <p:sp>
        <p:nvSpPr>
          <p:cNvPr id="47" name="Shape 45"/>
          <p:cNvSpPr/>
          <p:nvPr/>
        </p:nvSpPr>
        <p:spPr>
          <a:xfrm>
            <a:off x="4782312" y="1115568"/>
            <a:ext cx="594360" cy="274320"/>
          </a:xfrm>
          <a:prstGeom prst="roundRect">
            <a:avLst>
              <a:gd name="adj" fmla="val 20000"/>
            </a:avLst>
          </a:prstGeom>
          <a:solidFill>
            <a:srgbClr val="FEF9C3"/>
          </a:solidFill>
          <a:ln w="12700">
            <a:solidFill>
              <a:srgbClr val="F59E0B"/>
            </a:solidFill>
            <a:prstDash val="solid"/>
          </a:ln>
        </p:spPr>
      </p:sp>
      <p:sp>
        <p:nvSpPr>
          <p:cNvPr id="48" name="Text 46"/>
          <p:cNvSpPr/>
          <p:nvPr/>
        </p:nvSpPr>
        <p:spPr>
          <a:xfrm>
            <a:off x="4782312" y="1115568"/>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BR09</a:t>
            </a:r>
            <a:endParaRPr lang="en-US" sz="720" dirty="0"/>
          </a:p>
        </p:txBody>
      </p:sp>
      <p:sp>
        <p:nvSpPr>
          <p:cNvPr id="49" name="Text 47"/>
          <p:cNvSpPr/>
          <p:nvPr/>
        </p:nvSpPr>
        <p:spPr>
          <a:xfrm>
            <a:off x="5440680" y="1088136"/>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Thanh Toán Lỗi: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Khách hủy hoặc lỗi -&gt; Ghế mở lại 🟢 'available' tức thì.</a:t>
            </a:r>
            <a:endParaRPr lang="en-US" sz="680" dirty="0"/>
          </a:p>
        </p:txBody>
      </p:sp>
      <p:sp>
        <p:nvSpPr>
          <p:cNvPr id="50" name="Shape 48"/>
          <p:cNvSpPr/>
          <p:nvPr/>
        </p:nvSpPr>
        <p:spPr>
          <a:xfrm>
            <a:off x="4709160" y="1490472"/>
            <a:ext cx="3977640" cy="402336"/>
          </a:xfrm>
          <a:prstGeom prst="roundRect">
            <a:avLst>
              <a:gd name="adj" fmla="val 18182"/>
            </a:avLst>
          </a:prstGeom>
          <a:solidFill>
            <a:srgbClr val="FFFFFF"/>
          </a:solidFill>
          <a:ln w="12700">
            <a:solidFill>
              <a:srgbClr val="CBD5E1"/>
            </a:solidFill>
            <a:prstDash val="solid"/>
          </a:ln>
        </p:spPr>
      </p:sp>
      <p:sp>
        <p:nvSpPr>
          <p:cNvPr id="51" name="Shape 49"/>
          <p:cNvSpPr/>
          <p:nvPr/>
        </p:nvSpPr>
        <p:spPr>
          <a:xfrm>
            <a:off x="4782312" y="1554480"/>
            <a:ext cx="594360" cy="274320"/>
          </a:xfrm>
          <a:prstGeom prst="roundRect">
            <a:avLst>
              <a:gd name="adj" fmla="val 20000"/>
            </a:avLst>
          </a:prstGeom>
          <a:solidFill>
            <a:srgbClr val="FEF9C3"/>
          </a:solidFill>
          <a:ln w="12700">
            <a:solidFill>
              <a:srgbClr val="F59E0B"/>
            </a:solidFill>
            <a:prstDash val="solid"/>
          </a:ln>
        </p:spPr>
      </p:sp>
      <p:sp>
        <p:nvSpPr>
          <p:cNvPr id="52" name="Text 50"/>
          <p:cNvSpPr/>
          <p:nvPr/>
        </p:nvSpPr>
        <p:spPr>
          <a:xfrm>
            <a:off x="4782312" y="1554480"/>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BR10</a:t>
            </a:r>
            <a:endParaRPr lang="en-US" sz="720" dirty="0"/>
          </a:p>
        </p:txBody>
      </p:sp>
      <p:sp>
        <p:nvSpPr>
          <p:cNvPr id="53" name="Text 51"/>
          <p:cNvSpPr/>
          <p:nvPr/>
        </p:nvSpPr>
        <p:spPr>
          <a:xfrm>
            <a:off x="5440680" y="1527048"/>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Concurrency Lock: </a:t>
            </a:r>
            <a:pPr indent="0" marL="0">
              <a:lnSpc>
                <a:spcPct val="105000"/>
              </a:lnSpc>
              <a:buNone/>
            </a:pPr>
            <a:r>
              <a:rPr lang="en-US" sz="680" dirty="0">
                <a:solidFill>
                  <a:srgbClr val="64748B"/>
                </a:solidFill>
                <a:latin typeface="Arial" pitchFamily="34" charset="0"/>
                <a:ea typeface="Arial" pitchFamily="34" charset="-122"/>
                <a:cs typeface="Arial" pitchFamily="34" charset="-120"/>
              </a:rPr>
              <a:t>Dùng MySQL Transaction &amp; SELECT FOR UPDATE chặn Race Condition.</a:t>
            </a:r>
            <a:endParaRPr lang="en-US" sz="680" dirty="0"/>
          </a:p>
        </p:txBody>
      </p:sp>
      <p:sp>
        <p:nvSpPr>
          <p:cNvPr id="54" name="Shape 52"/>
          <p:cNvSpPr/>
          <p:nvPr/>
        </p:nvSpPr>
        <p:spPr>
          <a:xfrm>
            <a:off x="4709160" y="1929384"/>
            <a:ext cx="3977640" cy="402336"/>
          </a:xfrm>
          <a:prstGeom prst="roundRect">
            <a:avLst>
              <a:gd name="adj" fmla="val 18182"/>
            </a:avLst>
          </a:prstGeom>
          <a:solidFill>
            <a:srgbClr val="FFFFFF"/>
          </a:solidFill>
          <a:ln w="12700">
            <a:solidFill>
              <a:srgbClr val="CBD5E1"/>
            </a:solidFill>
            <a:prstDash val="solid"/>
          </a:ln>
        </p:spPr>
      </p:sp>
      <p:sp>
        <p:nvSpPr>
          <p:cNvPr id="55" name="Shape 53"/>
          <p:cNvSpPr/>
          <p:nvPr/>
        </p:nvSpPr>
        <p:spPr>
          <a:xfrm>
            <a:off x="4782312" y="1993392"/>
            <a:ext cx="594360" cy="274320"/>
          </a:xfrm>
          <a:prstGeom prst="roundRect">
            <a:avLst>
              <a:gd name="adj" fmla="val 20000"/>
            </a:avLst>
          </a:prstGeom>
          <a:solidFill>
            <a:srgbClr val="FEF9C3"/>
          </a:solidFill>
          <a:ln w="12700">
            <a:solidFill>
              <a:srgbClr val="F59E0B"/>
            </a:solidFill>
            <a:prstDash val="solid"/>
          </a:ln>
        </p:spPr>
      </p:sp>
      <p:sp>
        <p:nvSpPr>
          <p:cNvPr id="56" name="Text 54"/>
          <p:cNvSpPr/>
          <p:nvPr/>
        </p:nvSpPr>
        <p:spPr>
          <a:xfrm>
            <a:off x="4782312" y="1993392"/>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BR11</a:t>
            </a:r>
            <a:endParaRPr lang="en-US" sz="720" dirty="0"/>
          </a:p>
        </p:txBody>
      </p:sp>
      <p:sp>
        <p:nvSpPr>
          <p:cNvPr id="57" name="Text 55"/>
          <p:cNvSpPr/>
          <p:nvPr/>
        </p:nvSpPr>
        <p:spPr>
          <a:xfrm>
            <a:off x="5440680" y="1965960"/>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Chặn Suất Đã Qua: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Không cho đặt vé đối với suất chiếu có start_time trong quá khứ.</a:t>
            </a:r>
            <a:endParaRPr lang="en-US" sz="680" dirty="0"/>
          </a:p>
        </p:txBody>
      </p:sp>
      <p:sp>
        <p:nvSpPr>
          <p:cNvPr id="58" name="Shape 56"/>
          <p:cNvSpPr/>
          <p:nvPr/>
        </p:nvSpPr>
        <p:spPr>
          <a:xfrm>
            <a:off x="4709160" y="2368296"/>
            <a:ext cx="3977640" cy="402336"/>
          </a:xfrm>
          <a:prstGeom prst="roundRect">
            <a:avLst>
              <a:gd name="adj" fmla="val 18182"/>
            </a:avLst>
          </a:prstGeom>
          <a:solidFill>
            <a:srgbClr val="FFFFFF"/>
          </a:solidFill>
          <a:ln w="12700">
            <a:solidFill>
              <a:srgbClr val="CBD5E1"/>
            </a:solidFill>
            <a:prstDash val="solid"/>
          </a:ln>
        </p:spPr>
      </p:sp>
      <p:sp>
        <p:nvSpPr>
          <p:cNvPr id="59" name="Shape 57"/>
          <p:cNvSpPr/>
          <p:nvPr/>
        </p:nvSpPr>
        <p:spPr>
          <a:xfrm>
            <a:off x="4782312" y="2432304"/>
            <a:ext cx="594360" cy="274320"/>
          </a:xfrm>
          <a:prstGeom prst="roundRect">
            <a:avLst>
              <a:gd name="adj" fmla="val 20000"/>
            </a:avLst>
          </a:prstGeom>
          <a:solidFill>
            <a:srgbClr val="FEF9C3"/>
          </a:solidFill>
          <a:ln w="12700">
            <a:solidFill>
              <a:srgbClr val="F59E0B"/>
            </a:solidFill>
            <a:prstDash val="solid"/>
          </a:ln>
        </p:spPr>
      </p:sp>
      <p:sp>
        <p:nvSpPr>
          <p:cNvPr id="60" name="Text 58"/>
          <p:cNvSpPr/>
          <p:nvPr/>
        </p:nvSpPr>
        <p:spPr>
          <a:xfrm>
            <a:off x="4782312" y="2432304"/>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BR12</a:t>
            </a:r>
            <a:endParaRPr lang="en-US" sz="720" dirty="0"/>
          </a:p>
        </p:txBody>
      </p:sp>
      <p:sp>
        <p:nvSpPr>
          <p:cNvPr id="61" name="Text 59"/>
          <p:cNvSpPr/>
          <p:nvPr/>
        </p:nvSpPr>
        <p:spPr>
          <a:xfrm>
            <a:off x="5440680" y="2404872"/>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Phân Quyền KTV: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KTV chỉ cập nhật kết quả sự cố/bảo trì được phân công cho mình.</a:t>
            </a:r>
            <a:endParaRPr lang="en-US" sz="680" dirty="0"/>
          </a:p>
        </p:txBody>
      </p:sp>
      <p:sp>
        <p:nvSpPr>
          <p:cNvPr id="62" name="Shape 60"/>
          <p:cNvSpPr/>
          <p:nvPr/>
        </p:nvSpPr>
        <p:spPr>
          <a:xfrm>
            <a:off x="4709160" y="2807208"/>
            <a:ext cx="3977640" cy="402336"/>
          </a:xfrm>
          <a:prstGeom prst="roundRect">
            <a:avLst>
              <a:gd name="adj" fmla="val 18182"/>
            </a:avLst>
          </a:prstGeom>
          <a:solidFill>
            <a:srgbClr val="FFFFFF"/>
          </a:solidFill>
          <a:ln w="12700">
            <a:solidFill>
              <a:srgbClr val="CBD5E1"/>
            </a:solidFill>
            <a:prstDash val="solid"/>
          </a:ln>
        </p:spPr>
      </p:sp>
      <p:sp>
        <p:nvSpPr>
          <p:cNvPr id="63" name="Shape 61"/>
          <p:cNvSpPr/>
          <p:nvPr/>
        </p:nvSpPr>
        <p:spPr>
          <a:xfrm>
            <a:off x="4782312" y="2871216"/>
            <a:ext cx="594360" cy="274320"/>
          </a:xfrm>
          <a:prstGeom prst="roundRect">
            <a:avLst>
              <a:gd name="adj" fmla="val 20000"/>
            </a:avLst>
          </a:prstGeom>
          <a:solidFill>
            <a:srgbClr val="FEF9C3"/>
          </a:solidFill>
          <a:ln w="12700">
            <a:solidFill>
              <a:srgbClr val="F59E0B"/>
            </a:solidFill>
            <a:prstDash val="solid"/>
          </a:ln>
        </p:spPr>
      </p:sp>
      <p:sp>
        <p:nvSpPr>
          <p:cNvPr id="64" name="Text 62"/>
          <p:cNvSpPr/>
          <p:nvPr/>
        </p:nvSpPr>
        <p:spPr>
          <a:xfrm>
            <a:off x="4782312" y="2871216"/>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BR13</a:t>
            </a:r>
            <a:endParaRPr lang="en-US" sz="720" dirty="0"/>
          </a:p>
        </p:txBody>
      </p:sp>
      <p:sp>
        <p:nvSpPr>
          <p:cNvPr id="65" name="Text 63"/>
          <p:cNvSpPr/>
          <p:nvPr/>
        </p:nvSpPr>
        <p:spPr>
          <a:xfrm>
            <a:off x="5440680" y="2843784"/>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Khóa Sự Cố Đóng: </a:t>
            </a:r>
            <a:pPr indent="0" marL="0">
              <a:lnSpc>
                <a:spcPct val="105000"/>
              </a:lnSpc>
              <a:buNone/>
            </a:pPr>
            <a:r>
              <a:rPr lang="en-US" sz="680" dirty="0">
                <a:solidFill>
                  <a:srgbClr val="64748B"/>
                </a:solidFill>
                <a:latin typeface="Arial" pitchFamily="34" charset="0"/>
                <a:ea typeface="Arial" pitchFamily="34" charset="-122"/>
                <a:cs typeface="Arial" pitchFamily="34" charset="-120"/>
              </a:rPr>
              <a:t>Sự cố chuyển sang 'closed' sẽ bị khóa vĩnh viễn không thể sửa.</a:t>
            </a:r>
            <a:endParaRPr lang="en-US" sz="680" dirty="0"/>
          </a:p>
        </p:txBody>
      </p:sp>
      <p:sp>
        <p:nvSpPr>
          <p:cNvPr id="66" name="Shape 64"/>
          <p:cNvSpPr/>
          <p:nvPr/>
        </p:nvSpPr>
        <p:spPr>
          <a:xfrm>
            <a:off x="4709160" y="3246120"/>
            <a:ext cx="3977640" cy="402336"/>
          </a:xfrm>
          <a:prstGeom prst="roundRect">
            <a:avLst>
              <a:gd name="adj" fmla="val 18182"/>
            </a:avLst>
          </a:prstGeom>
          <a:solidFill>
            <a:srgbClr val="FFFFFF"/>
          </a:solidFill>
          <a:ln w="12700">
            <a:solidFill>
              <a:srgbClr val="CBD5E1"/>
            </a:solidFill>
            <a:prstDash val="solid"/>
          </a:ln>
        </p:spPr>
      </p:sp>
      <p:sp>
        <p:nvSpPr>
          <p:cNvPr id="67" name="Shape 65"/>
          <p:cNvSpPr/>
          <p:nvPr/>
        </p:nvSpPr>
        <p:spPr>
          <a:xfrm>
            <a:off x="4782312" y="3310128"/>
            <a:ext cx="594360" cy="274320"/>
          </a:xfrm>
          <a:prstGeom prst="roundRect">
            <a:avLst>
              <a:gd name="adj" fmla="val 20000"/>
            </a:avLst>
          </a:prstGeom>
          <a:solidFill>
            <a:srgbClr val="FEF9C3"/>
          </a:solidFill>
          <a:ln w="12700">
            <a:solidFill>
              <a:srgbClr val="F59E0B"/>
            </a:solidFill>
            <a:prstDash val="solid"/>
          </a:ln>
        </p:spPr>
      </p:sp>
      <p:sp>
        <p:nvSpPr>
          <p:cNvPr id="68" name="Text 66"/>
          <p:cNvSpPr/>
          <p:nvPr/>
        </p:nvSpPr>
        <p:spPr>
          <a:xfrm>
            <a:off x="4782312" y="3310128"/>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BR14</a:t>
            </a:r>
            <a:endParaRPr lang="en-US" sz="720" dirty="0"/>
          </a:p>
        </p:txBody>
      </p:sp>
      <p:sp>
        <p:nvSpPr>
          <p:cNvPr id="69" name="Text 67"/>
          <p:cNvSpPr/>
          <p:nvPr/>
        </p:nvSpPr>
        <p:spPr>
          <a:xfrm>
            <a:off x="5440680" y="3282696"/>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Quyền Đóng Sự Cố: </a:t>
            </a:r>
            <a:pPr indent="0" marL="0">
              <a:lnSpc>
                <a:spcPct val="105000"/>
              </a:lnSpc>
              <a:buNone/>
            </a:pPr>
            <a:r>
              <a:rPr lang="en-US" sz="680" dirty="0">
                <a:solidFill>
                  <a:srgbClr val="64748B"/>
                </a:solidFill>
                <a:latin typeface="Arial" pitchFamily="34" charset="0"/>
                <a:ea typeface="Arial" pitchFamily="34" charset="-122"/>
                <a:cs typeface="Arial" pitchFamily="34" charset="-120"/>
              </a:rPr>
              <a:t>Chỉ Quản lý (Manager) hoặc Admin mới có quyền đóng 'closed'.</a:t>
            </a:r>
            <a:endParaRPr lang="en-US" sz="680" dirty="0"/>
          </a:p>
        </p:txBody>
      </p:sp>
      <p:sp>
        <p:nvSpPr>
          <p:cNvPr id="70" name="Shape 68"/>
          <p:cNvSpPr/>
          <p:nvPr/>
        </p:nvSpPr>
        <p:spPr>
          <a:xfrm>
            <a:off x="4709160" y="3685032"/>
            <a:ext cx="3977640" cy="402336"/>
          </a:xfrm>
          <a:prstGeom prst="roundRect">
            <a:avLst>
              <a:gd name="adj" fmla="val 18182"/>
            </a:avLst>
          </a:prstGeom>
          <a:solidFill>
            <a:srgbClr val="FFFFFF"/>
          </a:solidFill>
          <a:ln w="12700">
            <a:solidFill>
              <a:srgbClr val="CBD5E1"/>
            </a:solidFill>
            <a:prstDash val="solid"/>
          </a:ln>
        </p:spPr>
      </p:sp>
      <p:sp>
        <p:nvSpPr>
          <p:cNvPr id="71" name="Shape 69"/>
          <p:cNvSpPr/>
          <p:nvPr/>
        </p:nvSpPr>
        <p:spPr>
          <a:xfrm>
            <a:off x="4782312" y="3749040"/>
            <a:ext cx="594360" cy="274320"/>
          </a:xfrm>
          <a:prstGeom prst="roundRect">
            <a:avLst>
              <a:gd name="adj" fmla="val 20000"/>
            </a:avLst>
          </a:prstGeom>
          <a:solidFill>
            <a:srgbClr val="FEF9C3"/>
          </a:solidFill>
          <a:ln w="12700">
            <a:solidFill>
              <a:srgbClr val="F59E0B"/>
            </a:solidFill>
            <a:prstDash val="solid"/>
          </a:ln>
        </p:spPr>
      </p:sp>
      <p:sp>
        <p:nvSpPr>
          <p:cNvPr id="72" name="Text 70"/>
          <p:cNvSpPr/>
          <p:nvPr/>
        </p:nvSpPr>
        <p:spPr>
          <a:xfrm>
            <a:off x="4782312" y="3749040"/>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BR15</a:t>
            </a:r>
            <a:endParaRPr lang="en-US" sz="720" dirty="0"/>
          </a:p>
        </p:txBody>
      </p:sp>
      <p:sp>
        <p:nvSpPr>
          <p:cNvPr id="73" name="Text 71"/>
          <p:cNvSpPr/>
          <p:nvPr/>
        </p:nvSpPr>
        <p:spPr>
          <a:xfrm>
            <a:off x="5440680" y="3721608"/>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Audit Log Lịch Sử: </a:t>
            </a:r>
            <a:pPr indent="0" marL="0">
              <a:lnSpc>
                <a:spcPct val="105000"/>
              </a:lnSpc>
              <a:buNone/>
            </a:pPr>
            <a:r>
              <a:rPr lang="en-US" sz="680" dirty="0">
                <a:solidFill>
                  <a:srgbClr val="64748B"/>
                </a:solidFill>
                <a:latin typeface="Arial" pitchFamily="34" charset="0"/>
                <a:ea typeface="Arial" pitchFamily="34" charset="-122"/>
                <a:cs typeface="Arial" pitchFamily="34" charset="-120"/>
              </a:rPr>
              <a:t>Mọi thay đổi linh kiện, chi phí đều ghi log vào incident_histories.</a:t>
            </a:r>
            <a:endParaRPr lang="en-US" sz="680" dirty="0"/>
          </a:p>
        </p:txBody>
      </p:sp>
      <p:sp>
        <p:nvSpPr>
          <p:cNvPr id="74" name="Shape 72"/>
          <p:cNvSpPr/>
          <p:nvPr/>
        </p:nvSpPr>
        <p:spPr>
          <a:xfrm>
            <a:off x="4709160" y="4123944"/>
            <a:ext cx="3977640" cy="402336"/>
          </a:xfrm>
          <a:prstGeom prst="roundRect">
            <a:avLst>
              <a:gd name="adj" fmla="val 18182"/>
            </a:avLst>
          </a:prstGeom>
          <a:solidFill>
            <a:srgbClr val="FFFFFF"/>
          </a:solidFill>
          <a:ln w="12700">
            <a:solidFill>
              <a:srgbClr val="CBD5E1"/>
            </a:solidFill>
            <a:prstDash val="solid"/>
          </a:ln>
        </p:spPr>
      </p:sp>
      <p:sp>
        <p:nvSpPr>
          <p:cNvPr id="75" name="Shape 73"/>
          <p:cNvSpPr/>
          <p:nvPr/>
        </p:nvSpPr>
        <p:spPr>
          <a:xfrm>
            <a:off x="4782312" y="4187952"/>
            <a:ext cx="594360" cy="274320"/>
          </a:xfrm>
          <a:prstGeom prst="roundRect">
            <a:avLst>
              <a:gd name="adj" fmla="val 20000"/>
            </a:avLst>
          </a:prstGeom>
          <a:solidFill>
            <a:srgbClr val="FEF9C3"/>
          </a:solidFill>
          <a:ln w="12700">
            <a:solidFill>
              <a:srgbClr val="F59E0B"/>
            </a:solidFill>
            <a:prstDash val="solid"/>
          </a:ln>
        </p:spPr>
      </p:sp>
      <p:sp>
        <p:nvSpPr>
          <p:cNvPr id="76" name="Text 74"/>
          <p:cNvSpPr/>
          <p:nvPr/>
        </p:nvSpPr>
        <p:spPr>
          <a:xfrm>
            <a:off x="4782312" y="4187952"/>
            <a:ext cx="594360" cy="274320"/>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BR16</a:t>
            </a:r>
            <a:endParaRPr lang="en-US" sz="720" dirty="0"/>
          </a:p>
        </p:txBody>
      </p:sp>
      <p:sp>
        <p:nvSpPr>
          <p:cNvPr id="77" name="Text 75"/>
          <p:cNvSpPr/>
          <p:nvPr/>
        </p:nvSpPr>
        <p:spPr>
          <a:xfrm>
            <a:off x="5440680" y="4160520"/>
            <a:ext cx="3172968" cy="329184"/>
          </a:xfrm>
          <a:prstGeom prst="rect">
            <a:avLst/>
          </a:prstGeom>
          <a:noFill/>
          <a:ln/>
        </p:spPr>
        <p:txBody>
          <a:bodyPr wrap="square" rtlCol="0" anchor="ctr"/>
          <a:lstStyle/>
          <a:p>
            <a:pPr indent="0" marL="0">
              <a:lnSpc>
                <a:spcPct val="105000"/>
              </a:lnSpc>
              <a:buNone/>
            </a:pPr>
            <a:r>
              <a:rPr lang="en-US" sz="680" b="1" dirty="0">
                <a:solidFill>
                  <a:srgbClr val="0F172A"/>
                </a:solidFill>
                <a:latin typeface="Arial" pitchFamily="34" charset="0"/>
                <a:ea typeface="Arial" pitchFamily="34" charset="-122"/>
                <a:cs typeface="Arial" pitchFamily="34" charset="-120"/>
              </a:rPr>
              <a:t>Checklist Tự Động: </a:t>
            </a:r>
            <a:pPr indent="0" marL="0">
              <a:lnSpc>
                <a:spcPct val="105000"/>
              </a:lnSpc>
              <a:buNone/>
            </a:pPr>
            <a:r>
              <a:rPr lang="en-US" sz="680" dirty="0">
                <a:solidFill>
                  <a:srgbClr val="64748B"/>
                </a:solidFill>
                <a:latin typeface="Arial" pitchFamily="34" charset="0"/>
                <a:ea typeface="Arial" pitchFamily="34" charset="-122"/>
                <a:cs typeface="Arial" pitchFamily="34" charset="-120"/>
              </a:rPr>
              <a:t>Kiểm tra 9 tiêu chí có mục 'fail' -&gt; Tự sinh 1 Incident mới.</a:t>
            </a:r>
            <a:endParaRPr lang="en-US" sz="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THIẾT KẾ DỮ LIỆU</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21. THIẾT KẾ CƠ SỞ DỮ LIỆU MYSQL (INNODB STORAGE ENGINE)</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1920240" cy="777240"/>
          </a:xfrm>
          <a:prstGeom prst="roundRect">
            <a:avLst>
              <a:gd name="adj" fmla="val 14118"/>
            </a:avLst>
          </a:prstGeom>
          <a:solidFill>
            <a:srgbClr val="FFFFFF"/>
          </a:solidFill>
          <a:ln w="15240">
            <a:solidFill>
              <a:srgbClr val="FF4757"/>
            </a:solidFill>
            <a:prstDash val="solid"/>
          </a:ln>
        </p:spPr>
      </p:sp>
      <p:sp>
        <p:nvSpPr>
          <p:cNvPr id="15" name="Text 13"/>
          <p:cNvSpPr/>
          <p:nvPr/>
        </p:nvSpPr>
        <p:spPr>
          <a:xfrm>
            <a:off x="502920" y="1115568"/>
            <a:ext cx="1828800" cy="201168"/>
          </a:xfrm>
          <a:prstGeom prst="rect">
            <a:avLst/>
          </a:prstGeom>
          <a:noFill/>
          <a:ln/>
        </p:spPr>
        <p:txBody>
          <a:bodyPr wrap="square" rtlCol="0" anchor="ctr"/>
          <a:lstStyle/>
          <a:p>
            <a:pPr algn="ctr" indent="0" marL="0">
              <a:buNone/>
            </a:pPr>
            <a:r>
              <a:rPr lang="en-US" sz="720" b="1" dirty="0">
                <a:solidFill>
                  <a:srgbClr val="FF4757"/>
                </a:solidFill>
                <a:latin typeface="Arial" pitchFamily="34" charset="0"/>
                <a:ea typeface="Arial" pitchFamily="34" charset="-122"/>
                <a:cs typeface="Arial" pitchFamily="34" charset="-120"/>
              </a:rPr>
              <a:t>BẢNG CƠ SỞ DỮ LIỆU</a:t>
            </a:r>
            <a:endParaRPr lang="en-US" sz="720" dirty="0"/>
          </a:p>
        </p:txBody>
      </p:sp>
      <p:sp>
        <p:nvSpPr>
          <p:cNvPr id="16" name="Text 14"/>
          <p:cNvSpPr/>
          <p:nvPr/>
        </p:nvSpPr>
        <p:spPr>
          <a:xfrm>
            <a:off x="502920" y="1335024"/>
            <a:ext cx="182880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22 Bảng</a:t>
            </a:r>
            <a:endParaRPr lang="en-US" sz="1200" dirty="0"/>
          </a:p>
        </p:txBody>
      </p:sp>
      <p:sp>
        <p:nvSpPr>
          <p:cNvPr id="17" name="Shape 15"/>
          <p:cNvSpPr/>
          <p:nvPr/>
        </p:nvSpPr>
        <p:spPr>
          <a:xfrm>
            <a:off x="2560320" y="1051560"/>
            <a:ext cx="1920240" cy="777240"/>
          </a:xfrm>
          <a:prstGeom prst="roundRect">
            <a:avLst>
              <a:gd name="adj" fmla="val 14118"/>
            </a:avLst>
          </a:prstGeom>
          <a:solidFill>
            <a:srgbClr val="FFFFFF"/>
          </a:solidFill>
          <a:ln w="15240">
            <a:solidFill>
              <a:srgbClr val="0EA5E9"/>
            </a:solidFill>
            <a:prstDash val="solid"/>
          </a:ln>
        </p:spPr>
      </p:sp>
      <p:sp>
        <p:nvSpPr>
          <p:cNvPr id="18" name="Text 16"/>
          <p:cNvSpPr/>
          <p:nvPr/>
        </p:nvSpPr>
        <p:spPr>
          <a:xfrm>
            <a:off x="2606040" y="1115568"/>
            <a:ext cx="1828800" cy="201168"/>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STORAGE ENGINE</a:t>
            </a:r>
            <a:endParaRPr lang="en-US" sz="720" dirty="0"/>
          </a:p>
        </p:txBody>
      </p:sp>
      <p:sp>
        <p:nvSpPr>
          <p:cNvPr id="19" name="Text 17"/>
          <p:cNvSpPr/>
          <p:nvPr/>
        </p:nvSpPr>
        <p:spPr>
          <a:xfrm>
            <a:off x="2606040" y="1335024"/>
            <a:ext cx="182880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MySQL InnoDB</a:t>
            </a:r>
            <a:endParaRPr lang="en-US" sz="1200" dirty="0"/>
          </a:p>
        </p:txBody>
      </p:sp>
      <p:sp>
        <p:nvSpPr>
          <p:cNvPr id="20" name="Shape 18"/>
          <p:cNvSpPr/>
          <p:nvPr/>
        </p:nvSpPr>
        <p:spPr>
          <a:xfrm>
            <a:off x="4663440" y="1051560"/>
            <a:ext cx="1920240" cy="777240"/>
          </a:xfrm>
          <a:prstGeom prst="roundRect">
            <a:avLst>
              <a:gd name="adj" fmla="val 14118"/>
            </a:avLst>
          </a:prstGeom>
          <a:solidFill>
            <a:srgbClr val="FFFFFF"/>
          </a:solidFill>
          <a:ln w="15240">
            <a:solidFill>
              <a:srgbClr val="10B981"/>
            </a:solidFill>
            <a:prstDash val="solid"/>
          </a:ln>
        </p:spPr>
      </p:sp>
      <p:sp>
        <p:nvSpPr>
          <p:cNvPr id="21" name="Text 19"/>
          <p:cNvSpPr/>
          <p:nvPr/>
        </p:nvSpPr>
        <p:spPr>
          <a:xfrm>
            <a:off x="4709160" y="1115568"/>
            <a:ext cx="1828800" cy="201168"/>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RÀNG BUỘC TOÀN VẸN</a:t>
            </a:r>
            <a:endParaRPr lang="en-US" sz="720" dirty="0"/>
          </a:p>
        </p:txBody>
      </p:sp>
      <p:sp>
        <p:nvSpPr>
          <p:cNvPr id="22" name="Text 20"/>
          <p:cNvSpPr/>
          <p:nvPr/>
        </p:nvSpPr>
        <p:spPr>
          <a:xfrm>
            <a:off x="4709160" y="1335024"/>
            <a:ext cx="182880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Foreign Keys (FK)</a:t>
            </a:r>
            <a:endParaRPr lang="en-US" sz="1200" dirty="0"/>
          </a:p>
        </p:txBody>
      </p:sp>
      <p:sp>
        <p:nvSpPr>
          <p:cNvPr id="23" name="Shape 21"/>
          <p:cNvSpPr/>
          <p:nvPr/>
        </p:nvSpPr>
        <p:spPr>
          <a:xfrm>
            <a:off x="6766560" y="1051560"/>
            <a:ext cx="1920240" cy="777240"/>
          </a:xfrm>
          <a:prstGeom prst="roundRect">
            <a:avLst>
              <a:gd name="adj" fmla="val 14118"/>
            </a:avLst>
          </a:prstGeom>
          <a:solidFill>
            <a:srgbClr val="FFFFFF"/>
          </a:solidFill>
          <a:ln w="15240">
            <a:solidFill>
              <a:srgbClr val="8B5CF6"/>
            </a:solidFill>
            <a:prstDash val="solid"/>
          </a:ln>
        </p:spPr>
      </p:sp>
      <p:sp>
        <p:nvSpPr>
          <p:cNvPr id="24" name="Text 22"/>
          <p:cNvSpPr/>
          <p:nvPr/>
        </p:nvSpPr>
        <p:spPr>
          <a:xfrm>
            <a:off x="6812280" y="1115568"/>
            <a:ext cx="1828800" cy="201168"/>
          </a:xfrm>
          <a:prstGeom prst="rect">
            <a:avLst/>
          </a:prstGeom>
          <a:noFill/>
          <a:ln/>
        </p:spPr>
        <p:txBody>
          <a:bodyPr wrap="square" rtlCol="0" anchor="ctr"/>
          <a:lstStyle/>
          <a:p>
            <a:pPr algn="ctr" indent="0" marL="0">
              <a:buNone/>
            </a:pPr>
            <a:r>
              <a:rPr lang="en-US" sz="720" b="1" dirty="0">
                <a:solidFill>
                  <a:srgbClr val="8B5CF6"/>
                </a:solidFill>
                <a:latin typeface="Arial" pitchFamily="34" charset="0"/>
                <a:ea typeface="Arial" pitchFamily="34" charset="-122"/>
                <a:cs typeface="Arial" pitchFamily="34" charset="-120"/>
              </a:rPr>
              <a:t>BẢO TOÀN GIAO DỊCH</a:t>
            </a:r>
            <a:endParaRPr lang="en-US" sz="720" dirty="0"/>
          </a:p>
        </p:txBody>
      </p:sp>
      <p:sp>
        <p:nvSpPr>
          <p:cNvPr id="25" name="Text 23"/>
          <p:cNvSpPr/>
          <p:nvPr/>
        </p:nvSpPr>
        <p:spPr>
          <a:xfrm>
            <a:off x="6812280" y="1335024"/>
            <a:ext cx="1828800" cy="41148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ACID Compliant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8229600" cy="914400"/>
        </p:xfrm>
        <a:graphic>
          <a:graphicData uri="http://schemas.openxmlformats.org/drawingml/2006/table">
            <a:tbl>
              <a:tblPr/>
              <a:tblGrid>
                <a:gridCol w="1828800"/>
                <a:gridCol w="3017520"/>
                <a:gridCol w="3383280"/>
              </a:tblGrid>
              <a:tr h="0">
                <a:tc>
                  <a:txBody>
                    <a:bodyPr/>
                    <a:lstStyle/>
                    <a:p>
                      <a:pPr indent="0" marL="0">
                        <a:buNone/>
                      </a:pPr>
                      <a:r>
                        <a:rPr lang="en-US" sz="750" b="1" dirty="0">
                          <a:solidFill>
                            <a:srgbClr val="0F172A"/>
                          </a:solidFill>
                        </a:rPr>
                        <a:t>Nhóm Bảng</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Danh Sách Các Bảng CSDL</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c>
                  <a:txBody>
                    <a:bodyPr/>
                    <a:lstStyle/>
                    <a:p>
                      <a:pPr indent="0" marL="0">
                        <a:buNone/>
                      </a:pPr>
                      <a:r>
                        <a:rPr lang="en-US" sz="750" b="1" dirty="0">
                          <a:solidFill>
                            <a:srgbClr val="0F172A"/>
                          </a:solidFill>
                        </a:rPr>
                        <a:t>Khóa Ngoại &amp; Tính Năng Trọng Tâm</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EF9C3"/>
                    </a:solidFill>
                  </a:tcPr>
                </a:tc>
              </a:tr>
              <a:tr h="0">
                <a:tc>
                  <a:txBody>
                    <a:bodyPr/>
                    <a:lstStyle/>
                    <a:p>
                      <a:pPr indent="0" marL="0">
                        <a:buNone/>
                      </a:pPr>
                      <a:r>
                        <a:rPr lang="en-US" sz="750" b="1" dirty="0">
                          <a:solidFill>
                            <a:srgbClr val="FF4757"/>
                          </a:solidFill>
                        </a:rPr>
                        <a:t>1. Xác thực &amp; Nhân sự</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0EA5E9"/>
                          </a:solidFill>
                        </a:rPr>
                        <a:t>users, roles, customers, employees, work_shifts, notifications</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RBAC 5 roles, liên kết 1-1 với user_id, lịch ca trực nhân viên theo ngày.</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50" b="1" dirty="0">
                          <a:solidFill>
                            <a:srgbClr val="F59E0B"/>
                          </a:solidFill>
                        </a:rPr>
                        <a:t>2. Phòng chiếu &amp; Ghế</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F59E0B"/>
                          </a:solidFill>
                        </a:rPr>
                        <a:t>cinema_rooms, seats, equipment_types, equipment</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Sơ đồ ghế động (Regular, VIP, Couple), theo dõi thiết bị &amp; bảo trì định kỳ.</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50" b="1" dirty="0">
                          <a:solidFill>
                            <a:srgbClr val="8B5CF6"/>
                          </a:solidFill>
                        </a:rPr>
                        <a:t>3. Sự cố &amp; Bảo trì</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8B5CF6"/>
                          </a:solidFill>
                        </a:rPr>
                        <a:t>incidents, incident_histories, maintenances, room_inspections, details</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Lưu vết 1-N lịch sử sửa chữa, 9 tiêu chí checklist kiểm tra an toàn phòng.</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750" b="1" dirty="0">
                          <a:solidFill>
                            <a:srgbClr val="10B981"/>
                          </a:solidFill>
                        </a:rPr>
                        <a:t>4. Lịch chiếu &amp; Đặt vé</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b="1" dirty="0">
                          <a:solidFill>
                            <a:srgbClr val="10B981"/>
                          </a:solidFill>
                        </a:rPr>
                        <a:t>movies, screening_schedules, bookings, booking_seats, payments, tickets</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750" dirty="0">
                          <a:solidFill>
                            <a:srgbClr val="334155"/>
                          </a:solidFill>
                        </a:rPr>
                        <a:t>Trạng thái ghế theo suất chiếu (holding, booked, released), Transaction Locking.</a:t>
                      </a:r>
                      <a:endParaRPr lang="en-US" sz="750" dirty="0"/>
                    </a:p>
                  </a:txBody>
                  <a:tcPr marL="45720" marR="45720" marT="45720" marB="45720" anchor="ctr">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HIỆN THỰC HÓA HỆ THỐNG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22. KIẾN TRÚC CÔNG NGHỆ &amp; MÔ HÌNH 3 LỚP (3-TIER ARCHITECTURE)</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3611880"/>
          </a:xfrm>
          <a:prstGeom prst="roundRect">
            <a:avLst>
              <a:gd name="adj" fmla="val 5245"/>
            </a:avLst>
          </a:prstGeom>
          <a:solidFill>
            <a:srgbClr val="FFFFFF"/>
          </a:solidFill>
          <a:ln w="19050">
            <a:solidFill>
              <a:srgbClr val="0EA5E9"/>
            </a:solidFill>
            <a:prstDash val="solid"/>
          </a:ln>
        </p:spPr>
      </p:sp>
      <p:sp>
        <p:nvSpPr>
          <p:cNvPr id="15" name="Shape 13"/>
          <p:cNvSpPr/>
          <p:nvPr/>
        </p:nvSpPr>
        <p:spPr>
          <a:xfrm>
            <a:off x="548640" y="1143000"/>
            <a:ext cx="2432304" cy="292608"/>
          </a:xfrm>
          <a:prstGeom prst="roundRect">
            <a:avLst>
              <a:gd name="adj" fmla="val 25000"/>
            </a:avLst>
          </a:prstGeom>
          <a:solidFill>
            <a:srgbClr val="E0F2FE"/>
          </a:solidFill>
          <a:ln w="12700">
            <a:solidFill>
              <a:srgbClr val="0EA5E9"/>
            </a:solidFill>
            <a:prstDash val="solid"/>
          </a:ln>
        </p:spPr>
      </p:sp>
      <p:sp>
        <p:nvSpPr>
          <p:cNvPr id="16" name="Text 14"/>
          <p:cNvSpPr/>
          <p:nvPr/>
        </p:nvSpPr>
        <p:spPr>
          <a:xfrm>
            <a:off x="548640" y="1143000"/>
            <a:ext cx="2432304" cy="292608"/>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TẦNG GIAO DIỆN (PRESENTATION)</a:t>
            </a:r>
            <a:endParaRPr lang="en-US" sz="750" dirty="0"/>
          </a:p>
        </p:txBody>
      </p:sp>
      <p:sp>
        <p:nvSpPr>
          <p:cNvPr id="17" name="Shape 15"/>
          <p:cNvSpPr/>
          <p:nvPr/>
        </p:nvSpPr>
        <p:spPr>
          <a:xfrm>
            <a:off x="548640" y="1490472"/>
            <a:ext cx="2432304" cy="274320"/>
          </a:xfrm>
          <a:prstGeom prst="roundRect">
            <a:avLst>
              <a:gd name="adj" fmla="val 20000"/>
            </a:avLst>
          </a:prstGeom>
          <a:solidFill>
            <a:srgbClr val="F8FAFC"/>
          </a:solidFill>
          <a:ln w="12700">
            <a:solidFill>
              <a:srgbClr val="0EA5E9"/>
            </a:solidFill>
            <a:prstDash val="solid"/>
          </a:ln>
        </p:spPr>
      </p:sp>
      <p:sp>
        <p:nvSpPr>
          <p:cNvPr id="18" name="Text 16"/>
          <p:cNvSpPr/>
          <p:nvPr/>
        </p:nvSpPr>
        <p:spPr>
          <a:xfrm>
            <a:off x="548640" y="1490472"/>
            <a:ext cx="2432304" cy="274320"/>
          </a:xfrm>
          <a:prstGeom prst="rect">
            <a:avLst/>
          </a:prstGeom>
          <a:noFill/>
          <a:ln/>
        </p:spPr>
        <p:txBody>
          <a:bodyPr wrap="square" rtlCol="0" anchor="ctr"/>
          <a:lstStyle/>
          <a:p>
            <a:pPr algn="ctr" indent="0" marL="0">
              <a:buNone/>
            </a:pPr>
            <a:r>
              <a:rPr lang="en-US" sz="720" b="1" dirty="0">
                <a:solidFill>
                  <a:srgbClr val="0F172A"/>
                </a:solidFill>
                <a:latin typeface="Arial" pitchFamily="34" charset="0"/>
                <a:ea typeface="Arial" pitchFamily="34" charset="-122"/>
                <a:cs typeface="Arial" pitchFamily="34" charset="-120"/>
              </a:rPr>
              <a:t>React 18 + Vite + TailwindCSS</a:t>
            </a:r>
            <a:endParaRPr lang="en-US" sz="720" dirty="0"/>
          </a:p>
        </p:txBody>
      </p:sp>
      <p:sp>
        <p:nvSpPr>
          <p:cNvPr id="19" name="Text 17"/>
          <p:cNvSpPr/>
          <p:nvPr/>
        </p:nvSpPr>
        <p:spPr>
          <a:xfrm>
            <a:off x="594360" y="1828800"/>
            <a:ext cx="2340864" cy="2743200"/>
          </a:xfrm>
          <a:prstGeom prst="rect">
            <a:avLst/>
          </a:prstGeom>
          <a:noFill/>
          <a:ln/>
        </p:spPr>
        <p:txBody>
          <a:bodyPr wrap="square" rtlCol="0" anchor="ctr"/>
          <a:lstStyle/>
          <a:p>
            <a:pPr indent="0" marL="0">
              <a:lnSpc>
                <a:spcPct val="118000"/>
              </a:lnSpc>
              <a:buNone/>
            </a:pPr>
            <a:r>
              <a:rPr lang="en-US" sz="720" dirty="0">
                <a:solidFill>
                  <a:srgbClr val="334155"/>
                </a:solidFill>
                <a:latin typeface="Arial" pitchFamily="34" charset="0"/>
                <a:ea typeface="Arial" pitchFamily="34" charset="-122"/>
                <a:cs typeface="Arial" pitchFamily="34" charset="-120"/>
              </a:rPr>
              <a:t>• Single Page Application (SPA) phản hồi tức thì.</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Giao diện Cinema hiện đại, Sơ đồ ghế vòm 3D trực quan.</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Lucide Icons, Recharts biểu đồ thống kê doanh thu.</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Canvas Confetti hiệu ứng pháo hoa khi đặt vé.</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QRCode.react hiển thị mã vé điện tử quét tại quầy.</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1-Click Fast Role Switcher chuyển đổi 5 Actor.</a:t>
            </a:r>
            <a:endParaRPr lang="en-US" sz="720" dirty="0"/>
          </a:p>
        </p:txBody>
      </p:sp>
      <p:sp>
        <p:nvSpPr>
          <p:cNvPr id="20" name="Shape 18"/>
          <p:cNvSpPr/>
          <p:nvPr/>
        </p:nvSpPr>
        <p:spPr>
          <a:xfrm>
            <a:off x="3255264" y="1051560"/>
            <a:ext cx="2615184" cy="3611880"/>
          </a:xfrm>
          <a:prstGeom prst="roundRect">
            <a:avLst>
              <a:gd name="adj" fmla="val 5245"/>
            </a:avLst>
          </a:prstGeom>
          <a:solidFill>
            <a:srgbClr val="FFFFFF"/>
          </a:solidFill>
          <a:ln w="19050">
            <a:solidFill>
              <a:srgbClr val="F59E0B"/>
            </a:solidFill>
            <a:prstDash val="solid"/>
          </a:ln>
        </p:spPr>
      </p:sp>
      <p:sp>
        <p:nvSpPr>
          <p:cNvPr id="21" name="Shape 19"/>
          <p:cNvSpPr/>
          <p:nvPr/>
        </p:nvSpPr>
        <p:spPr>
          <a:xfrm>
            <a:off x="3346704" y="1143000"/>
            <a:ext cx="2432304" cy="292608"/>
          </a:xfrm>
          <a:prstGeom prst="roundRect">
            <a:avLst>
              <a:gd name="adj" fmla="val 25000"/>
            </a:avLst>
          </a:prstGeom>
          <a:solidFill>
            <a:srgbClr val="FEF9C3"/>
          </a:solidFill>
          <a:ln w="12700">
            <a:solidFill>
              <a:srgbClr val="F59E0B"/>
            </a:solidFill>
            <a:prstDash val="solid"/>
          </a:ln>
        </p:spPr>
      </p:sp>
      <p:sp>
        <p:nvSpPr>
          <p:cNvPr id="22" name="Text 20"/>
          <p:cNvSpPr/>
          <p:nvPr/>
        </p:nvSpPr>
        <p:spPr>
          <a:xfrm>
            <a:off x="3346704" y="1143000"/>
            <a:ext cx="2432304" cy="292608"/>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TẦNG ỨNG DỤNG (APPLICATION)</a:t>
            </a:r>
            <a:endParaRPr lang="en-US" sz="750" dirty="0"/>
          </a:p>
        </p:txBody>
      </p:sp>
      <p:sp>
        <p:nvSpPr>
          <p:cNvPr id="23" name="Shape 21"/>
          <p:cNvSpPr/>
          <p:nvPr/>
        </p:nvSpPr>
        <p:spPr>
          <a:xfrm>
            <a:off x="3346704" y="1490472"/>
            <a:ext cx="2432304" cy="274320"/>
          </a:xfrm>
          <a:prstGeom prst="roundRect">
            <a:avLst>
              <a:gd name="adj" fmla="val 20000"/>
            </a:avLst>
          </a:prstGeom>
          <a:solidFill>
            <a:srgbClr val="F8FAFC"/>
          </a:solidFill>
          <a:ln w="12700">
            <a:solidFill>
              <a:srgbClr val="F59E0B"/>
            </a:solidFill>
            <a:prstDash val="solid"/>
          </a:ln>
        </p:spPr>
      </p:sp>
      <p:sp>
        <p:nvSpPr>
          <p:cNvPr id="24" name="Text 22"/>
          <p:cNvSpPr/>
          <p:nvPr/>
        </p:nvSpPr>
        <p:spPr>
          <a:xfrm>
            <a:off x="3346704" y="1490472"/>
            <a:ext cx="2432304" cy="274320"/>
          </a:xfrm>
          <a:prstGeom prst="rect">
            <a:avLst/>
          </a:prstGeom>
          <a:noFill/>
          <a:ln/>
        </p:spPr>
        <p:txBody>
          <a:bodyPr wrap="square" rtlCol="0" anchor="ctr"/>
          <a:lstStyle/>
          <a:p>
            <a:pPr algn="ctr" indent="0" marL="0">
              <a:buNone/>
            </a:pPr>
            <a:r>
              <a:rPr lang="en-US" sz="720" b="1" dirty="0">
                <a:solidFill>
                  <a:srgbClr val="0F172A"/>
                </a:solidFill>
                <a:latin typeface="Arial" pitchFamily="34" charset="0"/>
                <a:ea typeface="Arial" pitchFamily="34" charset="-122"/>
                <a:cs typeface="Arial" pitchFamily="34" charset="-120"/>
              </a:rPr>
              <a:t>Node.js + Express.js REST API</a:t>
            </a:r>
            <a:endParaRPr lang="en-US" sz="720" dirty="0"/>
          </a:p>
        </p:txBody>
      </p:sp>
      <p:sp>
        <p:nvSpPr>
          <p:cNvPr id="25" name="Text 23"/>
          <p:cNvSpPr/>
          <p:nvPr/>
        </p:nvSpPr>
        <p:spPr>
          <a:xfrm>
            <a:off x="3392424" y="1828800"/>
            <a:ext cx="2340864" cy="2743200"/>
          </a:xfrm>
          <a:prstGeom prst="rect">
            <a:avLst/>
          </a:prstGeom>
          <a:noFill/>
          <a:ln/>
        </p:spPr>
        <p:txBody>
          <a:bodyPr wrap="square" rtlCol="0" anchor="ctr"/>
          <a:lstStyle/>
          <a:p>
            <a:pPr indent="0" marL="0">
              <a:lnSpc>
                <a:spcPct val="118000"/>
              </a:lnSpc>
              <a:buNone/>
            </a:pPr>
            <a:r>
              <a:rPr lang="en-US" sz="720" dirty="0">
                <a:solidFill>
                  <a:srgbClr val="334155"/>
                </a:solidFill>
                <a:latin typeface="Arial" pitchFamily="34" charset="0"/>
                <a:ea typeface="Arial" pitchFamily="34" charset="-122"/>
                <a:cs typeface="Arial" pitchFamily="34" charset="-120"/>
              </a:rPr>
              <a:t>• 16 Controllers nghiệp vụ phân tách độc lập.</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Middleware xác thực JWT &amp; Phân quyền Role RBAC.</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Background Worker quét giải phóng ghế hết hạn (30s).</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MySQL Connection Pool tối ưu hiệu năng chịu tải.</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Transaction &amp; Row-Level Lock helper methods.</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Centralized Error Handling &amp; Audit Log.</a:t>
            </a:r>
            <a:endParaRPr lang="en-US" sz="720" dirty="0"/>
          </a:p>
        </p:txBody>
      </p:sp>
      <p:sp>
        <p:nvSpPr>
          <p:cNvPr id="26" name="Shape 24"/>
          <p:cNvSpPr/>
          <p:nvPr/>
        </p:nvSpPr>
        <p:spPr>
          <a:xfrm>
            <a:off x="6053328" y="1051560"/>
            <a:ext cx="2615184" cy="3611880"/>
          </a:xfrm>
          <a:prstGeom prst="roundRect">
            <a:avLst>
              <a:gd name="adj" fmla="val 5245"/>
            </a:avLst>
          </a:prstGeom>
          <a:solidFill>
            <a:srgbClr val="FFFFFF"/>
          </a:solidFill>
          <a:ln w="19050">
            <a:solidFill>
              <a:srgbClr val="10B981"/>
            </a:solidFill>
            <a:prstDash val="solid"/>
          </a:ln>
        </p:spPr>
      </p:sp>
      <p:sp>
        <p:nvSpPr>
          <p:cNvPr id="27" name="Shape 25"/>
          <p:cNvSpPr/>
          <p:nvPr/>
        </p:nvSpPr>
        <p:spPr>
          <a:xfrm>
            <a:off x="6144768" y="1143000"/>
            <a:ext cx="2432304" cy="292608"/>
          </a:xfrm>
          <a:prstGeom prst="roundRect">
            <a:avLst>
              <a:gd name="adj" fmla="val 25000"/>
            </a:avLst>
          </a:prstGeom>
          <a:solidFill>
            <a:srgbClr val="DCFCE7"/>
          </a:solidFill>
          <a:ln w="12700">
            <a:solidFill>
              <a:srgbClr val="10B981"/>
            </a:solidFill>
            <a:prstDash val="solid"/>
          </a:ln>
        </p:spPr>
      </p:sp>
      <p:sp>
        <p:nvSpPr>
          <p:cNvPr id="28" name="Text 26"/>
          <p:cNvSpPr/>
          <p:nvPr/>
        </p:nvSpPr>
        <p:spPr>
          <a:xfrm>
            <a:off x="6144768" y="1143000"/>
            <a:ext cx="2432304" cy="292608"/>
          </a:xfrm>
          <a:prstGeom prst="rect">
            <a:avLst/>
          </a:prstGeom>
          <a:noFill/>
          <a:ln/>
        </p:spPr>
        <p:txBody>
          <a:bodyPr wrap="square" rtlCol="0" anchor="ctr"/>
          <a:lstStyle/>
          <a:p>
            <a:pPr algn="ctr" indent="0" marL="0">
              <a:buNone/>
            </a:pPr>
            <a:r>
              <a:rPr lang="en-US" sz="750" b="1" dirty="0">
                <a:solidFill>
                  <a:srgbClr val="10B981"/>
                </a:solidFill>
                <a:latin typeface="Arial" pitchFamily="34" charset="0"/>
                <a:ea typeface="Arial" pitchFamily="34" charset="-122"/>
                <a:cs typeface="Arial" pitchFamily="34" charset="-120"/>
              </a:rPr>
              <a:t>TẦNG DỮ LIỆU (DATA TIER)</a:t>
            </a:r>
            <a:endParaRPr lang="en-US" sz="750" dirty="0"/>
          </a:p>
        </p:txBody>
      </p:sp>
      <p:sp>
        <p:nvSpPr>
          <p:cNvPr id="29" name="Shape 27"/>
          <p:cNvSpPr/>
          <p:nvPr/>
        </p:nvSpPr>
        <p:spPr>
          <a:xfrm>
            <a:off x="6144768" y="1490472"/>
            <a:ext cx="2432304" cy="274320"/>
          </a:xfrm>
          <a:prstGeom prst="roundRect">
            <a:avLst>
              <a:gd name="adj" fmla="val 20000"/>
            </a:avLst>
          </a:prstGeom>
          <a:solidFill>
            <a:srgbClr val="F8FAFC"/>
          </a:solidFill>
          <a:ln w="12700">
            <a:solidFill>
              <a:srgbClr val="10B981"/>
            </a:solidFill>
            <a:prstDash val="solid"/>
          </a:ln>
        </p:spPr>
      </p:sp>
      <p:sp>
        <p:nvSpPr>
          <p:cNvPr id="30" name="Text 28"/>
          <p:cNvSpPr/>
          <p:nvPr/>
        </p:nvSpPr>
        <p:spPr>
          <a:xfrm>
            <a:off x="6144768" y="1490472"/>
            <a:ext cx="2432304" cy="274320"/>
          </a:xfrm>
          <a:prstGeom prst="rect">
            <a:avLst/>
          </a:prstGeom>
          <a:noFill/>
          <a:ln/>
        </p:spPr>
        <p:txBody>
          <a:bodyPr wrap="square" rtlCol="0" anchor="ctr"/>
          <a:lstStyle/>
          <a:p>
            <a:pPr algn="ctr" indent="0" marL="0">
              <a:buNone/>
            </a:pPr>
            <a:r>
              <a:rPr lang="en-US" sz="720" b="1" dirty="0">
                <a:solidFill>
                  <a:srgbClr val="0F172A"/>
                </a:solidFill>
                <a:latin typeface="Arial" pitchFamily="34" charset="0"/>
                <a:ea typeface="Arial" pitchFamily="34" charset="-122"/>
                <a:cs typeface="Arial" pitchFamily="34" charset="-120"/>
              </a:rPr>
              <a:t>MySQL 8.0 (InnoDB Engine)</a:t>
            </a:r>
            <a:endParaRPr lang="en-US" sz="720" dirty="0"/>
          </a:p>
        </p:txBody>
      </p:sp>
      <p:sp>
        <p:nvSpPr>
          <p:cNvPr id="31" name="Text 29"/>
          <p:cNvSpPr/>
          <p:nvPr/>
        </p:nvSpPr>
        <p:spPr>
          <a:xfrm>
            <a:off x="6190488" y="1828800"/>
            <a:ext cx="2340864" cy="2743200"/>
          </a:xfrm>
          <a:prstGeom prst="rect">
            <a:avLst/>
          </a:prstGeom>
          <a:noFill/>
          <a:ln/>
        </p:spPr>
        <p:txBody>
          <a:bodyPr wrap="square" rtlCol="0" anchor="ctr"/>
          <a:lstStyle/>
          <a:p>
            <a:pPr indent="0" marL="0">
              <a:lnSpc>
                <a:spcPct val="118000"/>
              </a:lnSpc>
              <a:buNone/>
            </a:pPr>
            <a:r>
              <a:rPr lang="en-US" sz="720" dirty="0">
                <a:solidFill>
                  <a:srgbClr val="334155"/>
                </a:solidFill>
                <a:latin typeface="Arial" pitchFamily="34" charset="0"/>
                <a:ea typeface="Arial" pitchFamily="34" charset="-122"/>
                <a:cs typeface="Arial" pitchFamily="34" charset="-120"/>
              </a:rPr>
              <a:t>• 22 Bảng quan hệ với khóa ngoại FK nghiêm ngặt.</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Đảm bảo tính toàn vẹn dữ liệu ACID tuyệt đối.</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Hỗ trợ Transaction &amp; Row-Level Locking (SELECT FOR UPDATE).</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Seed Data phong phú: 6 phòng chiếu, 10 phim bom tấn.</a:t>
            </a:r>
            <a:endParaRPr lang="en-US" sz="720" dirty="0"/>
          </a:p>
          <a:p>
            <a:pPr indent="0" marL="0">
              <a:lnSpc>
                <a:spcPct val="118000"/>
              </a:lnSpc>
              <a:buNone/>
            </a:pPr>
            <a:r>
              <a:rPr lang="en-US" sz="720" dirty="0">
                <a:solidFill>
                  <a:srgbClr val="334155"/>
                </a:solidFill>
                <a:latin typeface="Arial" pitchFamily="34" charset="0"/>
                <a:ea typeface="Arial" pitchFamily="34" charset="-122"/>
                <a:cs typeface="Arial" pitchFamily="34" charset="-120"/>
              </a:rPr>
              <a:t>• Dễ dàng quản lý qua MySQL Workbench.</a:t>
            </a:r>
            <a:endParaRPr lang="en-US" sz="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KẾT QUẢ ĐẠT ĐƯỢC</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23. THỰC NGHIỆM HỆ THỐNG: 3 WORKFLOW DEMO TIÊU BIỂU</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2615184" cy="3611880"/>
          </a:xfrm>
          <a:prstGeom prst="roundRect">
            <a:avLst>
              <a:gd name="adj" fmla="val 5245"/>
            </a:avLst>
          </a:prstGeom>
          <a:solidFill>
            <a:srgbClr val="FFFFFF"/>
          </a:solidFill>
          <a:ln w="19050">
            <a:solidFill>
              <a:srgbClr val="10B981"/>
            </a:solidFill>
            <a:prstDash val="solid"/>
          </a:ln>
        </p:spPr>
      </p:sp>
      <p:sp>
        <p:nvSpPr>
          <p:cNvPr id="15" name="Shape 13"/>
          <p:cNvSpPr/>
          <p:nvPr/>
        </p:nvSpPr>
        <p:spPr>
          <a:xfrm>
            <a:off x="548640" y="1143000"/>
            <a:ext cx="2432304" cy="320040"/>
          </a:xfrm>
          <a:prstGeom prst="roundRect">
            <a:avLst>
              <a:gd name="adj" fmla="val 22857"/>
            </a:avLst>
          </a:prstGeom>
          <a:solidFill>
            <a:srgbClr val="DCFCE7"/>
          </a:solidFill>
          <a:ln w="12700">
            <a:solidFill>
              <a:srgbClr val="10B981"/>
            </a:solidFill>
            <a:prstDash val="solid"/>
          </a:ln>
        </p:spPr>
      </p:sp>
      <p:sp>
        <p:nvSpPr>
          <p:cNvPr id="16" name="Text 14"/>
          <p:cNvSpPr/>
          <p:nvPr/>
        </p:nvSpPr>
        <p:spPr>
          <a:xfrm>
            <a:off x="548640" y="1143000"/>
            <a:ext cx="2432304" cy="320040"/>
          </a:xfrm>
          <a:prstGeom prst="rect">
            <a:avLst/>
          </a:prstGeom>
          <a:noFill/>
          <a:ln/>
        </p:spPr>
        <p:txBody>
          <a:bodyPr wrap="square" rtlCol="0" anchor="ctr"/>
          <a:lstStyle/>
          <a:p>
            <a:pPr algn="ctr" indent="0" marL="0">
              <a:buNone/>
            </a:pPr>
            <a:r>
              <a:rPr lang="en-US" sz="780" b="1" dirty="0">
                <a:solidFill>
                  <a:srgbClr val="10B981"/>
                </a:solidFill>
                <a:latin typeface="Arial" pitchFamily="34" charset="0"/>
                <a:ea typeface="Arial" pitchFamily="34" charset="-122"/>
                <a:cs typeface="Arial" pitchFamily="34" charset="-120"/>
              </a:rPr>
              <a:t>🎬 WORKFLOW 1: ĐẶT VÉ &amp; GIỮ 10P</a:t>
            </a:r>
            <a:endParaRPr lang="en-US" sz="780" dirty="0"/>
          </a:p>
        </p:txBody>
      </p:sp>
      <p:sp>
        <p:nvSpPr>
          <p:cNvPr id="17" name="Text 15"/>
          <p:cNvSpPr/>
          <p:nvPr/>
        </p:nvSpPr>
        <p:spPr>
          <a:xfrm>
            <a:off x="594360" y="1554480"/>
            <a:ext cx="2340864" cy="301752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 1. Chuyển vai trò Customer / Chọn phim Dune 2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2. Chọn suất chiếu 19:00 tại Phòng IMAX Laser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3. Click chọn ghế F5, F6 -&gt; Ghế lập tức đổi màu 🔵 Đang giữ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4. Đồng hồ đếm ngược 10:00 kích hoạt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5. Thanh toán mô phỏng -&gt; Hiệu ứng pháo hoa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6. Vé điện tử kèm mã QR Code phát hành tức thì.
</a:t>
            </a:r>
            <a:endParaRPr lang="en-US" sz="720" dirty="0"/>
          </a:p>
        </p:txBody>
      </p:sp>
      <p:sp>
        <p:nvSpPr>
          <p:cNvPr id="18" name="Shape 16"/>
          <p:cNvSpPr/>
          <p:nvPr/>
        </p:nvSpPr>
        <p:spPr>
          <a:xfrm>
            <a:off x="3255264" y="1051560"/>
            <a:ext cx="2615184" cy="3611880"/>
          </a:xfrm>
          <a:prstGeom prst="roundRect">
            <a:avLst>
              <a:gd name="adj" fmla="val 5245"/>
            </a:avLst>
          </a:prstGeom>
          <a:solidFill>
            <a:srgbClr val="FFFFFF"/>
          </a:solidFill>
          <a:ln w="19050">
            <a:solidFill>
              <a:srgbClr val="FF4757"/>
            </a:solidFill>
            <a:prstDash val="solid"/>
          </a:ln>
        </p:spPr>
      </p:sp>
      <p:sp>
        <p:nvSpPr>
          <p:cNvPr id="19" name="Shape 17"/>
          <p:cNvSpPr/>
          <p:nvPr/>
        </p:nvSpPr>
        <p:spPr>
          <a:xfrm>
            <a:off x="3346704" y="1143000"/>
            <a:ext cx="2432304" cy="320040"/>
          </a:xfrm>
          <a:prstGeom prst="roundRect">
            <a:avLst>
              <a:gd name="adj" fmla="val 22857"/>
            </a:avLst>
          </a:prstGeom>
          <a:solidFill>
            <a:srgbClr val="FFE4E6"/>
          </a:solidFill>
          <a:ln w="12700">
            <a:solidFill>
              <a:srgbClr val="FF4757"/>
            </a:solidFill>
            <a:prstDash val="solid"/>
          </a:ln>
        </p:spPr>
      </p:sp>
      <p:sp>
        <p:nvSpPr>
          <p:cNvPr id="20" name="Text 18"/>
          <p:cNvSpPr/>
          <p:nvPr/>
        </p:nvSpPr>
        <p:spPr>
          <a:xfrm>
            <a:off x="3346704" y="1143000"/>
            <a:ext cx="2432304" cy="320040"/>
          </a:xfrm>
          <a:prstGeom prst="rect">
            <a:avLst/>
          </a:prstGeom>
          <a:noFill/>
          <a:ln/>
        </p:spPr>
        <p:txBody>
          <a:bodyPr wrap="square" rtlCol="0" anchor="ctr"/>
          <a:lstStyle/>
          <a:p>
            <a:pPr algn="ctr" indent="0" marL="0">
              <a:buNone/>
            </a:pPr>
            <a:r>
              <a:rPr lang="en-US" sz="780" b="1" dirty="0">
                <a:solidFill>
                  <a:srgbClr val="FF4757"/>
                </a:solidFill>
                <a:latin typeface="Arial" pitchFamily="34" charset="0"/>
                <a:ea typeface="Arial" pitchFamily="34" charset="-122"/>
                <a:cs typeface="Arial" pitchFamily="34" charset="-120"/>
              </a:rPr>
              <a:t>⚡ WORKFLOW 2: TEST RACE CONDITION</a:t>
            </a:r>
            <a:endParaRPr lang="en-US" sz="780" dirty="0"/>
          </a:p>
        </p:txBody>
      </p:sp>
      <p:sp>
        <p:nvSpPr>
          <p:cNvPr id="21" name="Text 19"/>
          <p:cNvSpPr/>
          <p:nvPr/>
        </p:nvSpPr>
        <p:spPr>
          <a:xfrm>
            <a:off x="3392424" y="1554480"/>
            <a:ext cx="2340864" cy="301752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 1. Mở 2 cửa sổ ẩn danh song song (Khách A &amp; B)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2. Cùng vào xem suất chiếu 19:00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3. Khách A chọn ghế C5 -&gt; Giữ thành công (🔵)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4. Khách B chọn ghế C5 chậm hơn 0.1s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5. Backend từ chối Khách B với thông báo: 'Ghế C5 vừa được người khác giữ'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6. Không bao giờ xảy ra lỗi trùng vé!
</a:t>
            </a:r>
            <a:endParaRPr lang="en-US" sz="720" dirty="0"/>
          </a:p>
        </p:txBody>
      </p:sp>
      <p:sp>
        <p:nvSpPr>
          <p:cNvPr id="22" name="Shape 20"/>
          <p:cNvSpPr/>
          <p:nvPr/>
        </p:nvSpPr>
        <p:spPr>
          <a:xfrm>
            <a:off x="6053328" y="1051560"/>
            <a:ext cx="2615184" cy="3611880"/>
          </a:xfrm>
          <a:prstGeom prst="roundRect">
            <a:avLst>
              <a:gd name="adj" fmla="val 5245"/>
            </a:avLst>
          </a:prstGeom>
          <a:solidFill>
            <a:srgbClr val="FFFFFF"/>
          </a:solidFill>
          <a:ln w="19050">
            <a:solidFill>
              <a:srgbClr val="F59E0B"/>
            </a:solidFill>
            <a:prstDash val="solid"/>
          </a:ln>
        </p:spPr>
      </p:sp>
      <p:sp>
        <p:nvSpPr>
          <p:cNvPr id="23" name="Shape 21"/>
          <p:cNvSpPr/>
          <p:nvPr/>
        </p:nvSpPr>
        <p:spPr>
          <a:xfrm>
            <a:off x="6144768" y="1143000"/>
            <a:ext cx="2432304" cy="320040"/>
          </a:xfrm>
          <a:prstGeom prst="roundRect">
            <a:avLst>
              <a:gd name="adj" fmla="val 22857"/>
            </a:avLst>
          </a:prstGeom>
          <a:solidFill>
            <a:srgbClr val="FEF9C3"/>
          </a:solidFill>
          <a:ln w="12700">
            <a:solidFill>
              <a:srgbClr val="F59E0B"/>
            </a:solidFill>
            <a:prstDash val="solid"/>
          </a:ln>
        </p:spPr>
      </p:sp>
      <p:sp>
        <p:nvSpPr>
          <p:cNvPr id="24" name="Text 22"/>
          <p:cNvSpPr/>
          <p:nvPr/>
        </p:nvSpPr>
        <p:spPr>
          <a:xfrm>
            <a:off x="6144768" y="1143000"/>
            <a:ext cx="2432304" cy="320040"/>
          </a:xfrm>
          <a:prstGeom prst="rect">
            <a:avLst/>
          </a:prstGeom>
          <a:noFill/>
          <a:ln/>
        </p:spPr>
        <p:txBody>
          <a:bodyPr wrap="square" rtlCol="0" anchor="ctr"/>
          <a:lstStyle/>
          <a:p>
            <a:pPr algn="ctr" indent="0" marL="0">
              <a:buNone/>
            </a:pPr>
            <a:r>
              <a:rPr lang="en-US" sz="780" b="1" dirty="0">
                <a:solidFill>
                  <a:srgbClr val="F59E0B"/>
                </a:solidFill>
                <a:latin typeface="Arial" pitchFamily="34" charset="0"/>
                <a:ea typeface="Arial" pitchFamily="34" charset="-122"/>
                <a:cs typeface="Arial" pitchFamily="34" charset="-120"/>
              </a:rPr>
              <a:t>🔧 WORKFLOW 3: CHECKLIST -&gt; SỰ CỐ</a:t>
            </a:r>
            <a:endParaRPr lang="en-US" sz="780" dirty="0"/>
          </a:p>
        </p:txBody>
      </p:sp>
      <p:sp>
        <p:nvSpPr>
          <p:cNvPr id="25" name="Text 23"/>
          <p:cNvSpPr/>
          <p:nvPr/>
        </p:nvSpPr>
        <p:spPr>
          <a:xfrm>
            <a:off x="6190488" y="1554480"/>
            <a:ext cx="2340864" cy="3017520"/>
          </a:xfrm>
          <a:prstGeom prst="rect">
            <a:avLst/>
          </a:prstGeom>
          <a:noFill/>
          <a:ln/>
        </p:spPr>
        <p:txBody>
          <a:bodyPr wrap="square" rtlCol="0" anchor="ctr"/>
          <a:lstStyle/>
          <a:p>
            <a:pPr indent="0" marL="0">
              <a:lnSpc>
                <a:spcPct val="110000"/>
              </a:lnSpc>
              <a:buNone/>
            </a:pPr>
            <a:r>
              <a:rPr lang="en-US" sz="720" dirty="0">
                <a:solidFill>
                  <a:srgbClr val="334155"/>
                </a:solidFill>
                <a:latin typeface="Arial" pitchFamily="34" charset="0"/>
                <a:ea typeface="Arial" pitchFamily="34" charset="-122"/>
                <a:cs typeface="Arial" pitchFamily="34" charset="-120"/>
              </a:rPr>
              <a:t>• 1. Staff kiểm tra phòng 8 -&gt; Đánh dấu 'Máy lạnh' Fail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2. Hệ thống tự động tạo Sự cố INC-202609-001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3. Manager nhận cảnh báo -&gt; Gán KTV Võ Minh Quân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4. Technician tiếp nhận, sửa chữa và nhập chi phí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5. Manager kiểm tra -&gt; Nghiệm thu &amp; Đóng sự cố
</a:t>
            </a:r>
            <a:pPr indent="0" marL="0">
              <a:lnSpc>
                <a:spcPct val="110000"/>
              </a:lnSpc>
              <a:buNone/>
            </a:pPr>
            <a:r>
              <a:rPr lang="en-US" sz="720" dirty="0">
                <a:solidFill>
                  <a:srgbClr val="334155"/>
                </a:solidFill>
                <a:latin typeface="Arial" pitchFamily="34" charset="0"/>
                <a:ea typeface="Arial" pitchFamily="34" charset="-122"/>
                <a:cs typeface="Arial" pitchFamily="34" charset="-120"/>
              </a:rPr>
              <a:t>• 6. Phòng 8 trở lại hoạt động bình thường!
</a:t>
            </a:r>
            <a:endParaRPr lang="en-US" sz="7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TỔNG KẾT ĐỒ ÁN</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24. ĐÁNH GIÁ ĐỒ ÁN &amp; 4 ĐIỂM SÁNG KỸ THUẬT</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3977640" cy="3611880"/>
          </a:xfrm>
          <a:prstGeom prst="roundRect">
            <a:avLst>
              <a:gd name="adj" fmla="val 3797"/>
            </a:avLst>
          </a:prstGeom>
          <a:solidFill>
            <a:srgbClr val="FFFFFF"/>
          </a:solidFill>
          <a:ln w="19050">
            <a:solidFill>
              <a:srgbClr val="F59E0B"/>
            </a:solidFill>
            <a:prstDash val="solid"/>
          </a:ln>
        </p:spPr>
      </p:sp>
      <p:sp>
        <p:nvSpPr>
          <p:cNvPr id="15" name="Shape 13"/>
          <p:cNvSpPr/>
          <p:nvPr/>
        </p:nvSpPr>
        <p:spPr>
          <a:xfrm>
            <a:off x="640080" y="1188720"/>
            <a:ext cx="3611880" cy="320040"/>
          </a:xfrm>
          <a:prstGeom prst="roundRect">
            <a:avLst>
              <a:gd name="adj" fmla="val 22857"/>
            </a:avLst>
          </a:prstGeom>
          <a:solidFill>
            <a:srgbClr val="FEF9C3"/>
          </a:solidFill>
          <a:ln w="12700">
            <a:solidFill>
              <a:srgbClr val="F59E0B"/>
            </a:solidFill>
            <a:prstDash val="solid"/>
          </a:ln>
        </p:spPr>
      </p:sp>
      <p:sp>
        <p:nvSpPr>
          <p:cNvPr id="16" name="Text 14"/>
          <p:cNvSpPr/>
          <p:nvPr/>
        </p:nvSpPr>
        <p:spPr>
          <a:xfrm>
            <a:off x="640080" y="1188720"/>
            <a:ext cx="3611880" cy="320040"/>
          </a:xfrm>
          <a:prstGeom prst="rect">
            <a:avLst/>
          </a:prstGeom>
          <a:noFill/>
          <a:ln/>
        </p:spPr>
        <p:txBody>
          <a:bodyPr wrap="square" rtlCol="0" anchor="ctr"/>
          <a:lstStyle/>
          <a:p>
            <a:pPr algn="ctr" indent="0" marL="0">
              <a:buNone/>
            </a:pPr>
            <a:r>
              <a:rPr lang="en-US" sz="880" b="1" dirty="0">
                <a:solidFill>
                  <a:srgbClr val="B45309"/>
                </a:solidFill>
                <a:latin typeface="Arial" pitchFamily="34" charset="0"/>
                <a:ea typeface="Arial" pitchFamily="34" charset="-122"/>
                <a:cs typeface="Arial" pitchFamily="34" charset="-120"/>
              </a:rPr>
              <a:t>⭐ 4 ĐIỂM SÁNG KỸ THUẬT NỔI BẬT</a:t>
            </a:r>
            <a:endParaRPr lang="en-US" sz="880" dirty="0"/>
          </a:p>
        </p:txBody>
      </p:sp>
      <p:sp>
        <p:nvSpPr>
          <p:cNvPr id="17" name="Text 15"/>
          <p:cNvSpPr/>
          <p:nvPr/>
        </p:nvSpPr>
        <p:spPr>
          <a:xfrm>
            <a:off x="640080" y="1600200"/>
            <a:ext cx="3611880" cy="2926080"/>
          </a:xfrm>
          <a:prstGeom prst="rect">
            <a:avLst/>
          </a:prstGeom>
          <a:noFill/>
          <a:ln/>
        </p:spPr>
        <p:txBody>
          <a:bodyPr wrap="square" rtlCol="0" anchor="ctr"/>
          <a:lstStyle/>
          <a:p>
            <a:pPr indent="0" marL="0">
              <a:lnSpc>
                <a:spcPct val="112000"/>
              </a:lnSpc>
              <a:buNone/>
            </a:pPr>
            <a:r>
              <a:rPr lang="en-US" sz="720" b="1" dirty="0">
                <a:solidFill>
                  <a:srgbClr val="0F172A"/>
                </a:solidFill>
                <a:latin typeface="Arial" pitchFamily="34" charset="0"/>
                <a:ea typeface="Arial" pitchFamily="34" charset="-122"/>
                <a:cs typeface="Arial" pitchFamily="34" charset="-120"/>
              </a:rPr>
              <a:t>1. Mô hình hóa OOAD toàn diện: </a:t>
            </a:r>
            <a:pPr indent="0" marL="0">
              <a:lnSpc>
                <a:spcPct val="112000"/>
              </a:lnSpc>
              <a:buNone/>
            </a:pPr>
            <a:r>
              <a:rPr lang="en-US" sz="720" dirty="0">
                <a:solidFill>
                  <a:srgbClr val="334155"/>
                </a:solidFill>
                <a:latin typeface="Arial" pitchFamily="34" charset="0"/>
                <a:ea typeface="Arial" pitchFamily="34" charset="-122"/>
                <a:cs typeface="Arial" pitchFamily="34" charset="-120"/>
              </a:rPr>
              <a:t>Đầy đủ 4 sơ đồ Use Case, 4 sơ đồ Hoạt động, 4 sơ đồ Tuần tự chi tiết và 22 lớp thực thể chuẩn UML 2.5.
</a:t>
            </a:r>
            <a:pPr indent="0" marL="0">
              <a:lnSpc>
                <a:spcPct val="112000"/>
              </a:lnSpc>
              <a:buNone/>
            </a:pPr>
            <a:r>
              <a:rPr lang="en-US" sz="720" b="1" dirty="0">
                <a:solidFill>
                  <a:srgbClr val="0F172A"/>
                </a:solidFill>
                <a:latin typeface="Arial" pitchFamily="34" charset="0"/>
                <a:ea typeface="Arial" pitchFamily="34" charset="-122"/>
                <a:cs typeface="Arial" pitchFamily="34" charset="-120"/>
              </a:rPr>
              <a:t>2. Chống trùng ghế Concurrency: </a:t>
            </a:r>
            <a:pPr indent="0" marL="0">
              <a:lnSpc>
                <a:spcPct val="112000"/>
              </a:lnSpc>
              <a:buNone/>
            </a:pPr>
            <a:r>
              <a:rPr lang="en-US" sz="720" dirty="0">
                <a:solidFill>
                  <a:srgbClr val="334155"/>
                </a:solidFill>
                <a:latin typeface="Arial" pitchFamily="34" charset="0"/>
                <a:ea typeface="Arial" pitchFamily="34" charset="-122"/>
                <a:cs typeface="Arial" pitchFamily="34" charset="-120"/>
              </a:rPr>
              <a:t>Dùng MySQL Transaction &amp; Row-Level Lock (SELECT FOR UPDATE) chặn triệt để Race Condition.
</a:t>
            </a:r>
            <a:pPr indent="0" marL="0">
              <a:lnSpc>
                <a:spcPct val="112000"/>
              </a:lnSpc>
              <a:buNone/>
            </a:pPr>
            <a:r>
              <a:rPr lang="en-US" sz="720" b="1" dirty="0">
                <a:solidFill>
                  <a:srgbClr val="0F172A"/>
                </a:solidFill>
                <a:latin typeface="Arial" pitchFamily="34" charset="0"/>
                <a:ea typeface="Arial" pitchFamily="34" charset="-122"/>
                <a:cs typeface="Arial" pitchFamily="34" charset="-120"/>
              </a:rPr>
              <a:t>3. Tự động giải phóng ghế (Hold Timeout): </a:t>
            </a:r>
            <a:pPr indent="0" marL="0">
              <a:lnSpc>
                <a:spcPct val="112000"/>
              </a:lnSpc>
              <a:buNone/>
            </a:pPr>
            <a:r>
              <a:rPr lang="en-US" sz="720" dirty="0">
                <a:solidFill>
                  <a:srgbClr val="334155"/>
                </a:solidFill>
                <a:latin typeface="Arial" pitchFamily="34" charset="0"/>
                <a:ea typeface="Arial" pitchFamily="34" charset="-122"/>
                <a:cs typeface="Arial" pitchFamily="34" charset="-120"/>
              </a:rPr>
              <a:t>Worker chạy ngầm định kỳ 30s giải phóng ghế hết hạn, tối đa hóa tỷ lệ lấp đầy phòng chiếu.
</a:t>
            </a:r>
            <a:pPr indent="0" marL="0">
              <a:lnSpc>
                <a:spcPct val="112000"/>
              </a:lnSpc>
              <a:buNone/>
            </a:pPr>
            <a:r>
              <a:rPr lang="en-US" sz="720" b="1" dirty="0">
                <a:solidFill>
                  <a:srgbClr val="0F172A"/>
                </a:solidFill>
                <a:latin typeface="Arial" pitchFamily="34" charset="0"/>
                <a:ea typeface="Arial" pitchFamily="34" charset="-122"/>
                <a:cs typeface="Arial" pitchFamily="34" charset="-120"/>
              </a:rPr>
              <a:t>4. 1-Click Fast Role Switcher: </a:t>
            </a:r>
            <a:pPr indent="0" marL="0">
              <a:lnSpc>
                <a:spcPct val="112000"/>
              </a:lnSpc>
              <a:buNone/>
            </a:pPr>
            <a:r>
              <a:rPr lang="en-US" sz="720" dirty="0">
                <a:solidFill>
                  <a:srgbClr val="334155"/>
                </a:solidFill>
                <a:latin typeface="Arial" pitchFamily="34" charset="0"/>
                <a:ea typeface="Arial" pitchFamily="34" charset="-122"/>
                <a:cs typeface="Arial" pitchFamily="34" charset="-120"/>
              </a:rPr>
              <a:t>Thanh chuyển đổi nhanh 5 Roles giúp hội đồng kiểm thử toàn bộ nghiệp vụ ngay lập tức.</a:t>
            </a:r>
            <a:endParaRPr lang="en-US" sz="720" dirty="0"/>
          </a:p>
        </p:txBody>
      </p:sp>
      <p:sp>
        <p:nvSpPr>
          <p:cNvPr id="18" name="Shape 16"/>
          <p:cNvSpPr/>
          <p:nvPr/>
        </p:nvSpPr>
        <p:spPr>
          <a:xfrm>
            <a:off x="4709160" y="1051560"/>
            <a:ext cx="3977640" cy="3611880"/>
          </a:xfrm>
          <a:prstGeom prst="roundRect">
            <a:avLst>
              <a:gd name="adj" fmla="val 3797"/>
            </a:avLst>
          </a:prstGeom>
          <a:solidFill>
            <a:srgbClr val="FFFFFF"/>
          </a:solidFill>
          <a:ln w="19050">
            <a:solidFill>
              <a:srgbClr val="0EA5E9"/>
            </a:solidFill>
            <a:prstDash val="solid"/>
          </a:ln>
        </p:spPr>
      </p:sp>
      <p:sp>
        <p:nvSpPr>
          <p:cNvPr id="19" name="Shape 17"/>
          <p:cNvSpPr/>
          <p:nvPr/>
        </p:nvSpPr>
        <p:spPr>
          <a:xfrm>
            <a:off x="4892040" y="1188720"/>
            <a:ext cx="3611880" cy="320040"/>
          </a:xfrm>
          <a:prstGeom prst="roundRect">
            <a:avLst>
              <a:gd name="adj" fmla="val 22857"/>
            </a:avLst>
          </a:prstGeom>
          <a:solidFill>
            <a:srgbClr val="E0F2FE"/>
          </a:solidFill>
          <a:ln w="12700">
            <a:solidFill>
              <a:srgbClr val="0EA5E9"/>
            </a:solidFill>
            <a:prstDash val="solid"/>
          </a:ln>
        </p:spPr>
      </p:sp>
      <p:sp>
        <p:nvSpPr>
          <p:cNvPr id="20" name="Text 18"/>
          <p:cNvSpPr/>
          <p:nvPr/>
        </p:nvSpPr>
        <p:spPr>
          <a:xfrm>
            <a:off x="4892040" y="1188720"/>
            <a:ext cx="3611880" cy="320040"/>
          </a:xfrm>
          <a:prstGeom prst="rect">
            <a:avLst/>
          </a:prstGeom>
          <a:noFill/>
          <a:ln/>
        </p:spPr>
        <p:txBody>
          <a:bodyPr wrap="square" rtlCol="0" anchor="ctr"/>
          <a:lstStyle/>
          <a:p>
            <a:pPr algn="ctr" indent="0" marL="0">
              <a:buNone/>
            </a:pPr>
            <a:r>
              <a:rPr lang="en-US" sz="880" b="1" dirty="0">
                <a:solidFill>
                  <a:srgbClr val="0EA5E9"/>
                </a:solidFill>
                <a:latin typeface="Arial" pitchFamily="34" charset="0"/>
                <a:ea typeface="Arial" pitchFamily="34" charset="-122"/>
                <a:cs typeface="Arial" pitchFamily="34" charset="-120"/>
              </a:rPr>
              <a:t>🏆 HIỆU NĂNG VẬN HÀNH &amp; BẢO MẬT</a:t>
            </a:r>
            <a:endParaRPr lang="en-US" sz="880" dirty="0"/>
          </a:p>
        </p:txBody>
      </p:sp>
      <p:sp>
        <p:nvSpPr>
          <p:cNvPr id="21" name="Text 19"/>
          <p:cNvSpPr/>
          <p:nvPr/>
        </p:nvSpPr>
        <p:spPr>
          <a:xfrm>
            <a:off x="4892040" y="1600200"/>
            <a:ext cx="3611880" cy="2926080"/>
          </a:xfrm>
          <a:prstGeom prst="rect">
            <a:avLst/>
          </a:prstGeom>
          <a:noFill/>
          <a:ln/>
        </p:spPr>
        <p:txBody>
          <a:bodyPr wrap="square" rtlCol="0" anchor="ctr"/>
          <a:lstStyle/>
          <a:p>
            <a:pPr indent="0" marL="0">
              <a:lnSpc>
                <a:spcPct val="112000"/>
              </a:lnSpc>
              <a:buNone/>
            </a:pPr>
            <a:r>
              <a:rPr lang="en-US" sz="720" b="1" dirty="0">
                <a:solidFill>
                  <a:srgbClr val="0F172A"/>
                </a:solidFill>
                <a:latin typeface="Arial" pitchFamily="34" charset="0"/>
                <a:ea typeface="Arial" pitchFamily="34" charset="-122"/>
                <a:cs typeface="Arial" pitchFamily="34" charset="-120"/>
              </a:rPr>
              <a:t>• Toàn vẹn dữ liệu tuyệt đối (100% ACID):
</a:t>
            </a:r>
            <a:pPr indent="0" marL="0">
              <a:lnSpc>
                <a:spcPct val="112000"/>
              </a:lnSpc>
              <a:buNone/>
            </a:pPr>
            <a:r>
              <a:rPr lang="en-US" sz="720" dirty="0">
                <a:solidFill>
                  <a:srgbClr val="334155"/>
                </a:solidFill>
                <a:latin typeface="Arial" pitchFamily="34" charset="0"/>
                <a:ea typeface="Arial" pitchFamily="34" charset="-122"/>
                <a:cs typeface="Arial" pitchFamily="34" charset="-120"/>
              </a:rPr>
              <a:t>  Cơ chế khóa hàng (Row-level Lock) đảm bảo không có bất kỳ xung đột vé nào dù hàng trăm người dùng bấm cùng lúc.
</a:t>
            </a:r>
            <a:pPr indent="0" marL="0">
              <a:lnSpc>
                <a:spcPct val="112000"/>
              </a:lnSpc>
              <a:buNone/>
            </a:pPr>
            <a:r>
              <a:rPr lang="en-US" sz="720" b="1" dirty="0">
                <a:solidFill>
                  <a:srgbClr val="0F172A"/>
                </a:solidFill>
                <a:latin typeface="Arial" pitchFamily="34" charset="0"/>
                <a:ea typeface="Arial" pitchFamily="34" charset="-122"/>
                <a:cs typeface="Arial" pitchFamily="34" charset="-120"/>
              </a:rPr>
              <a:t>• Tự động hóa vòng đời sự cố (Zero Human Delay):
</a:t>
            </a:r>
            <a:pPr indent="0" marL="0">
              <a:lnSpc>
                <a:spcPct val="112000"/>
              </a:lnSpc>
              <a:buNone/>
            </a:pPr>
            <a:r>
              <a:rPr lang="en-US" sz="720" dirty="0">
                <a:solidFill>
                  <a:srgbClr val="334155"/>
                </a:solidFill>
                <a:latin typeface="Arial" pitchFamily="34" charset="0"/>
                <a:ea typeface="Arial" pitchFamily="34" charset="-122"/>
                <a:cs typeface="Arial" pitchFamily="34" charset="-120"/>
              </a:rPr>
              <a:t>  Checklist 9 tiêu chí tự động sinh Incident, phân công KTV và theo dõi vật tư minh bạch.
</a:t>
            </a:r>
            <a:pPr indent="0" marL="0">
              <a:lnSpc>
                <a:spcPct val="112000"/>
              </a:lnSpc>
              <a:buNone/>
            </a:pPr>
            <a:r>
              <a:rPr lang="en-US" sz="720" b="1" dirty="0">
                <a:solidFill>
                  <a:srgbClr val="0F172A"/>
                </a:solidFill>
                <a:latin typeface="Arial" pitchFamily="34" charset="0"/>
                <a:ea typeface="Arial" pitchFamily="34" charset="-122"/>
                <a:cs typeface="Arial" pitchFamily="34" charset="-120"/>
              </a:rPr>
              <a:t>• Bảo mật phân quyền chặt chẽ (RBAC + JWT):
</a:t>
            </a:r>
            <a:pPr indent="0" marL="0">
              <a:lnSpc>
                <a:spcPct val="112000"/>
              </a:lnSpc>
              <a:buNone/>
            </a:pPr>
            <a:r>
              <a:rPr lang="en-US" sz="720" dirty="0">
                <a:solidFill>
                  <a:srgbClr val="334155"/>
                </a:solidFill>
                <a:latin typeface="Arial" pitchFamily="34" charset="0"/>
                <a:ea typeface="Arial" pitchFamily="34" charset="-122"/>
                <a:cs typeface="Arial" pitchFamily="34" charset="-120"/>
              </a:rPr>
              <a:t>  5 Actors được phân tách quyền hạn rõ ràng, chống truy cập trái phép API.</a:t>
            </a:r>
            <a:endParaRPr lang="en-US" sz="7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ĐỊNH HƯỚNG MỞ RỘNG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25. ĐỊNH HƯỚNG PHÁT TRIỂN: TRẢI NGHIỆM KHÁCH HÀNG &amp; DOANH THU</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4005072" cy="1783080"/>
          </a:xfrm>
          <a:prstGeom prst="roundRect">
            <a:avLst>
              <a:gd name="adj" fmla="val 6154"/>
            </a:avLst>
          </a:prstGeom>
          <a:solidFill>
            <a:srgbClr val="FFFFFF"/>
          </a:solidFill>
          <a:ln w="19050">
            <a:solidFill>
              <a:srgbClr val="0EA5E9"/>
            </a:solidFill>
            <a:prstDash val="solid"/>
          </a:ln>
        </p:spPr>
      </p:sp>
      <p:sp>
        <p:nvSpPr>
          <p:cNvPr id="15" name="Shape 13"/>
          <p:cNvSpPr/>
          <p:nvPr/>
        </p:nvSpPr>
        <p:spPr>
          <a:xfrm>
            <a:off x="548640" y="1143000"/>
            <a:ext cx="3822192" cy="292608"/>
          </a:xfrm>
          <a:prstGeom prst="roundRect">
            <a:avLst>
              <a:gd name="adj" fmla="val 25000"/>
            </a:avLst>
          </a:prstGeom>
          <a:solidFill>
            <a:srgbClr val="E0F2FE"/>
          </a:solidFill>
          <a:ln w="12700">
            <a:solidFill>
              <a:srgbClr val="0EA5E9"/>
            </a:solidFill>
            <a:prstDash val="solid"/>
          </a:ln>
        </p:spPr>
      </p:sp>
      <p:sp>
        <p:nvSpPr>
          <p:cNvPr id="16" name="Text 14"/>
          <p:cNvSpPr/>
          <p:nvPr/>
        </p:nvSpPr>
        <p:spPr>
          <a:xfrm>
            <a:off x="594360" y="1143000"/>
            <a:ext cx="3730752" cy="292608"/>
          </a:xfrm>
          <a:prstGeom prst="rect">
            <a:avLst/>
          </a:prstGeom>
          <a:noFill/>
          <a:ln/>
        </p:spPr>
        <p:txBody>
          <a:bodyPr wrap="square" rtlCol="0" anchor="ctr"/>
          <a:lstStyle/>
          <a:p>
            <a:pPr indent="0" marL="0">
              <a:buNone/>
            </a:pPr>
            <a:r>
              <a:rPr lang="en-US" sz="820" b="1" dirty="0">
                <a:solidFill>
                  <a:srgbClr val="0EA5E9"/>
                </a:solidFill>
                <a:latin typeface="Arial" pitchFamily="34" charset="0"/>
                <a:ea typeface="Arial" pitchFamily="34" charset="-122"/>
                <a:cs typeface="Arial" pitchFamily="34" charset="-120"/>
              </a:rPr>
              <a:t>👓 SƠ ĐỒ GHẾ GÓC NHÌN 3D (SEAT PREVIEW)</a:t>
            </a:r>
            <a:endParaRPr lang="en-US" sz="820" dirty="0"/>
          </a:p>
        </p:txBody>
      </p:sp>
      <p:sp>
        <p:nvSpPr>
          <p:cNvPr id="17" name="Text 15"/>
          <p:cNvSpPr/>
          <p:nvPr/>
        </p:nvSpPr>
        <p:spPr>
          <a:xfrm>
            <a:off x="594360" y="1490472"/>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Mô phỏng góc nhìn 3D/360° từ từng ghế tới màn chiếu (Three.js/WebGL).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Trực quan hóa độ dốc, khoảng cách và loại trừ điểm mù trước khi thanh toán.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Gia tăng tỷ lệ chốt đơn cho hàng ghế VIP, Sweetbox và phòng IMAX.
</a:t>
            </a:r>
            <a:endParaRPr lang="en-US" sz="720" dirty="0"/>
          </a:p>
        </p:txBody>
      </p:sp>
      <p:sp>
        <p:nvSpPr>
          <p:cNvPr id="18" name="Shape 16"/>
          <p:cNvSpPr/>
          <p:nvPr/>
        </p:nvSpPr>
        <p:spPr>
          <a:xfrm>
            <a:off x="4681728" y="1051560"/>
            <a:ext cx="4005072" cy="1783080"/>
          </a:xfrm>
          <a:prstGeom prst="roundRect">
            <a:avLst>
              <a:gd name="adj" fmla="val 6154"/>
            </a:avLst>
          </a:prstGeom>
          <a:solidFill>
            <a:srgbClr val="FFFFFF"/>
          </a:solidFill>
          <a:ln w="19050">
            <a:solidFill>
              <a:srgbClr val="F59E0B"/>
            </a:solidFill>
            <a:prstDash val="solid"/>
          </a:ln>
        </p:spPr>
      </p:sp>
      <p:sp>
        <p:nvSpPr>
          <p:cNvPr id="19" name="Shape 17"/>
          <p:cNvSpPr/>
          <p:nvPr/>
        </p:nvSpPr>
        <p:spPr>
          <a:xfrm>
            <a:off x="4773168" y="1143000"/>
            <a:ext cx="3822192" cy="292608"/>
          </a:xfrm>
          <a:prstGeom prst="roundRect">
            <a:avLst>
              <a:gd name="adj" fmla="val 25000"/>
            </a:avLst>
          </a:prstGeom>
          <a:solidFill>
            <a:srgbClr val="FEF9C3"/>
          </a:solidFill>
          <a:ln w="12700">
            <a:solidFill>
              <a:srgbClr val="F59E0B"/>
            </a:solidFill>
            <a:prstDash val="solid"/>
          </a:ln>
        </p:spPr>
      </p:sp>
      <p:sp>
        <p:nvSpPr>
          <p:cNvPr id="20" name="Text 18"/>
          <p:cNvSpPr/>
          <p:nvPr/>
        </p:nvSpPr>
        <p:spPr>
          <a:xfrm>
            <a:off x="4818888" y="1143000"/>
            <a:ext cx="3730752" cy="292608"/>
          </a:xfrm>
          <a:prstGeom prst="rect">
            <a:avLst/>
          </a:prstGeom>
          <a:noFill/>
          <a:ln/>
        </p:spPr>
        <p:txBody>
          <a:bodyPr wrap="square" rtlCol="0" anchor="ctr"/>
          <a:lstStyle/>
          <a:p>
            <a:pPr indent="0" marL="0">
              <a:buNone/>
            </a:pPr>
            <a:r>
              <a:rPr lang="en-US" sz="820" b="1" dirty="0">
                <a:solidFill>
                  <a:srgbClr val="F59E0B"/>
                </a:solidFill>
                <a:latin typeface="Arial" pitchFamily="34" charset="0"/>
                <a:ea typeface="Arial" pitchFamily="34" charset="-122"/>
                <a:cs typeface="Arial" pitchFamily="34" charset="-120"/>
              </a:rPr>
              <a:t>🍿 F&amp;B EXPRESS &amp; ĐẶT TRƯỚC BẮP NƯỚC</a:t>
            </a:r>
            <a:endParaRPr lang="en-US" sz="820" dirty="0"/>
          </a:p>
        </p:txBody>
      </p:sp>
      <p:sp>
        <p:nvSpPr>
          <p:cNvPr id="21" name="Text 19"/>
          <p:cNvSpPr/>
          <p:nvPr/>
        </p:nvSpPr>
        <p:spPr>
          <a:xfrm>
            <a:off x="4818888" y="1490472"/>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Tích hợp giỏ hàng combo bắp nước ngay trong luồng đặt vé xem phim.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Làn nhận Fast Track tại quầy bằng mã QR riêng, cắt giảm 70% thời gian chờ đợi.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Tự động trừ kho bắp/nước và thống kê doanh thu F&amp;B độc lập theo suất.
</a:t>
            </a:r>
            <a:endParaRPr lang="en-US" sz="720" dirty="0"/>
          </a:p>
        </p:txBody>
      </p:sp>
      <p:sp>
        <p:nvSpPr>
          <p:cNvPr id="22" name="Shape 20"/>
          <p:cNvSpPr/>
          <p:nvPr/>
        </p:nvSpPr>
        <p:spPr>
          <a:xfrm>
            <a:off x="457200" y="2944368"/>
            <a:ext cx="4005072" cy="1783080"/>
          </a:xfrm>
          <a:prstGeom prst="roundRect">
            <a:avLst>
              <a:gd name="adj" fmla="val 6154"/>
            </a:avLst>
          </a:prstGeom>
          <a:solidFill>
            <a:srgbClr val="FFFFFF"/>
          </a:solidFill>
          <a:ln w="19050">
            <a:solidFill>
              <a:srgbClr val="10B981"/>
            </a:solidFill>
            <a:prstDash val="solid"/>
          </a:ln>
        </p:spPr>
      </p:sp>
      <p:sp>
        <p:nvSpPr>
          <p:cNvPr id="23" name="Shape 21"/>
          <p:cNvSpPr/>
          <p:nvPr/>
        </p:nvSpPr>
        <p:spPr>
          <a:xfrm>
            <a:off x="548640" y="3035808"/>
            <a:ext cx="3822192" cy="292608"/>
          </a:xfrm>
          <a:prstGeom prst="roundRect">
            <a:avLst>
              <a:gd name="adj" fmla="val 25000"/>
            </a:avLst>
          </a:prstGeom>
          <a:solidFill>
            <a:srgbClr val="DCFCE7"/>
          </a:solidFill>
          <a:ln w="12700">
            <a:solidFill>
              <a:srgbClr val="10B981"/>
            </a:solidFill>
            <a:prstDash val="solid"/>
          </a:ln>
        </p:spPr>
      </p:sp>
      <p:sp>
        <p:nvSpPr>
          <p:cNvPr id="24" name="Text 22"/>
          <p:cNvSpPr/>
          <p:nvPr/>
        </p:nvSpPr>
        <p:spPr>
          <a:xfrm>
            <a:off x="594360" y="3035808"/>
            <a:ext cx="3730752" cy="292608"/>
          </a:xfrm>
          <a:prstGeom prst="rect">
            <a:avLst/>
          </a:prstGeom>
          <a:noFill/>
          <a:ln/>
        </p:spPr>
        <p:txBody>
          <a:bodyPr wrap="square" rtlCol="0" anchor="ctr"/>
          <a:lstStyle/>
          <a:p>
            <a:pPr indent="0" marL="0">
              <a:buNone/>
            </a:pPr>
            <a:r>
              <a:rPr lang="en-US" sz="820" b="1" dirty="0">
                <a:solidFill>
                  <a:srgbClr val="10B981"/>
                </a:solidFill>
                <a:latin typeface="Arial" pitchFamily="34" charset="0"/>
                <a:ea typeface="Arial" pitchFamily="34" charset="-122"/>
                <a:cs typeface="Arial" pitchFamily="34" charset="-120"/>
              </a:rPr>
              <a:t>📈 GIÁ VÉ ĐỘNG (DYNAMIC PRICING)</a:t>
            </a:r>
            <a:endParaRPr lang="en-US" sz="820" dirty="0"/>
          </a:p>
        </p:txBody>
      </p:sp>
      <p:sp>
        <p:nvSpPr>
          <p:cNvPr id="25" name="Text 23"/>
          <p:cNvSpPr/>
          <p:nvPr/>
        </p:nvSpPr>
        <p:spPr>
          <a:xfrm>
            <a:off x="594360" y="3383280"/>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Thuật toán điều chỉnh giá tự động theo giờ cao điểm, phim hot và vị trí ghế.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Giảm giá kích cầu vào suất khuya hoặc ngày thường để tối đa tỷ lệ lấp đầy.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Tích hợp gói vé thuê bao Cinema Pass (xem phim không giới hạn theo tháng).
</a:t>
            </a:r>
            <a:endParaRPr lang="en-US" sz="720" dirty="0"/>
          </a:p>
        </p:txBody>
      </p:sp>
      <p:sp>
        <p:nvSpPr>
          <p:cNvPr id="26" name="Shape 24"/>
          <p:cNvSpPr/>
          <p:nvPr/>
        </p:nvSpPr>
        <p:spPr>
          <a:xfrm>
            <a:off x="4681728" y="2944368"/>
            <a:ext cx="4005072" cy="1783080"/>
          </a:xfrm>
          <a:prstGeom prst="roundRect">
            <a:avLst>
              <a:gd name="adj" fmla="val 6154"/>
            </a:avLst>
          </a:prstGeom>
          <a:solidFill>
            <a:srgbClr val="FFFFFF"/>
          </a:solidFill>
          <a:ln w="19050">
            <a:solidFill>
              <a:srgbClr val="8B5CF6"/>
            </a:solidFill>
            <a:prstDash val="solid"/>
          </a:ln>
        </p:spPr>
      </p:sp>
      <p:sp>
        <p:nvSpPr>
          <p:cNvPr id="27" name="Shape 25"/>
          <p:cNvSpPr/>
          <p:nvPr/>
        </p:nvSpPr>
        <p:spPr>
          <a:xfrm>
            <a:off x="4773168" y="3035808"/>
            <a:ext cx="3822192" cy="292608"/>
          </a:xfrm>
          <a:prstGeom prst="roundRect">
            <a:avLst>
              <a:gd name="adj" fmla="val 25000"/>
            </a:avLst>
          </a:prstGeom>
          <a:solidFill>
            <a:srgbClr val="F3E8FF"/>
          </a:solidFill>
          <a:ln w="12700">
            <a:solidFill>
              <a:srgbClr val="8B5CF6"/>
            </a:solidFill>
            <a:prstDash val="solid"/>
          </a:ln>
        </p:spPr>
      </p:sp>
      <p:sp>
        <p:nvSpPr>
          <p:cNvPr id="28" name="Text 26"/>
          <p:cNvSpPr/>
          <p:nvPr/>
        </p:nvSpPr>
        <p:spPr>
          <a:xfrm>
            <a:off x="4818888" y="3035808"/>
            <a:ext cx="3730752" cy="292608"/>
          </a:xfrm>
          <a:prstGeom prst="rect">
            <a:avLst/>
          </a:prstGeom>
          <a:noFill/>
          <a:ln/>
        </p:spPr>
        <p:txBody>
          <a:bodyPr wrap="square" rtlCol="0" anchor="ctr"/>
          <a:lstStyle/>
          <a:p>
            <a:pPr indent="0" marL="0">
              <a:buNone/>
            </a:pPr>
            <a:r>
              <a:rPr lang="en-US" sz="820" b="1" dirty="0">
                <a:solidFill>
                  <a:srgbClr val="8B5CF6"/>
                </a:solidFill>
                <a:latin typeface="Arial" pitchFamily="34" charset="0"/>
                <a:ea typeface="Arial" pitchFamily="34" charset="-122"/>
                <a:cs typeface="Arial" pitchFamily="34" charset="-120"/>
              </a:rPr>
              <a:t>🛡️ VÉ ĐỘNG AN TOÀN &amp; CHIA TIỀN NHÓM</a:t>
            </a:r>
            <a:endParaRPr lang="en-US" sz="820" dirty="0"/>
          </a:p>
        </p:txBody>
      </p:sp>
      <p:sp>
        <p:nvSpPr>
          <p:cNvPr id="29" name="Text 27"/>
          <p:cNvSpPr/>
          <p:nvPr/>
        </p:nvSpPr>
        <p:spPr>
          <a:xfrm>
            <a:off x="4818888" y="3383280"/>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Lưu vé trực tiếp vào Apple Wallet / Google Wallet ngay sau khi thanh toán.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Mã QR động xoay vòng 30 giây (Dynamic QR) chống chụp màn hình bán vé lậu.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Tính năng Split-bill chia tiền tự động cho nhóm bạn cùng đi xem chung.
</a:t>
            </a:r>
            <a:endParaRPr lang="en-US" sz="7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ĐỊNH HƯỚNG MỞ RỘNG</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26. ĐỊNH HƯỚNG PHÁT TRIỂN: VẬN HÀNH THÔNG MINH, IOT &amp; AI</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4005072" cy="1783080"/>
          </a:xfrm>
          <a:prstGeom prst="roundRect">
            <a:avLst>
              <a:gd name="adj" fmla="val 6154"/>
            </a:avLst>
          </a:prstGeom>
          <a:solidFill>
            <a:srgbClr val="FFFFFF"/>
          </a:solidFill>
          <a:ln w="19050">
            <a:solidFill>
              <a:srgbClr val="10B981"/>
            </a:solidFill>
            <a:prstDash val="solid"/>
          </a:ln>
        </p:spPr>
      </p:sp>
      <p:sp>
        <p:nvSpPr>
          <p:cNvPr id="15" name="Shape 13"/>
          <p:cNvSpPr/>
          <p:nvPr/>
        </p:nvSpPr>
        <p:spPr>
          <a:xfrm>
            <a:off x="548640" y="1143000"/>
            <a:ext cx="3822192" cy="292608"/>
          </a:xfrm>
          <a:prstGeom prst="roundRect">
            <a:avLst>
              <a:gd name="adj" fmla="val 25000"/>
            </a:avLst>
          </a:prstGeom>
          <a:solidFill>
            <a:srgbClr val="DCFCE7"/>
          </a:solidFill>
          <a:ln w="12700">
            <a:solidFill>
              <a:srgbClr val="10B981"/>
            </a:solidFill>
            <a:prstDash val="solid"/>
          </a:ln>
        </p:spPr>
      </p:sp>
      <p:sp>
        <p:nvSpPr>
          <p:cNvPr id="16" name="Text 14"/>
          <p:cNvSpPr/>
          <p:nvPr/>
        </p:nvSpPr>
        <p:spPr>
          <a:xfrm>
            <a:off x="594360" y="1143000"/>
            <a:ext cx="3730752" cy="292608"/>
          </a:xfrm>
          <a:prstGeom prst="rect">
            <a:avLst/>
          </a:prstGeom>
          <a:noFill/>
          <a:ln/>
        </p:spPr>
        <p:txBody>
          <a:bodyPr wrap="square" rtlCol="0" anchor="ctr"/>
          <a:lstStyle/>
          <a:p>
            <a:pPr indent="0" marL="0">
              <a:buNone/>
            </a:pPr>
            <a:r>
              <a:rPr lang="en-US" sz="820" b="1" dirty="0">
                <a:solidFill>
                  <a:srgbClr val="10B981"/>
                </a:solidFill>
                <a:latin typeface="Arial" pitchFamily="34" charset="0"/>
                <a:ea typeface="Arial" pitchFamily="34" charset="-122"/>
                <a:cs typeface="Arial" pitchFamily="34" charset="-120"/>
              </a:rPr>
              <a:t>🌿 IOT &amp; GREEN CINEMA AUTOMATION</a:t>
            </a:r>
            <a:endParaRPr lang="en-US" sz="820" dirty="0"/>
          </a:p>
        </p:txBody>
      </p:sp>
      <p:sp>
        <p:nvSpPr>
          <p:cNvPr id="17" name="Text 15"/>
          <p:cNvSpPr/>
          <p:nvPr/>
        </p:nvSpPr>
        <p:spPr>
          <a:xfrm>
            <a:off x="594360" y="1490472"/>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Liên kết lịch chiếu với hệ thống IoT điều khiển nhiệt độ điều hòa trước 15p.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Tự động điều chỉnh độ sáng đèn khán phòng và âm thanh theo tiến trình suất chiếu.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Cắt giảm tới 25% điện năng tiêu thụ tại các phòng chiếu ngoài giờ hoạt động.
</a:t>
            </a:r>
            <a:endParaRPr lang="en-US" sz="720" dirty="0"/>
          </a:p>
        </p:txBody>
      </p:sp>
      <p:sp>
        <p:nvSpPr>
          <p:cNvPr id="18" name="Shape 16"/>
          <p:cNvSpPr/>
          <p:nvPr/>
        </p:nvSpPr>
        <p:spPr>
          <a:xfrm>
            <a:off x="4681728" y="1051560"/>
            <a:ext cx="4005072" cy="1783080"/>
          </a:xfrm>
          <a:prstGeom prst="roundRect">
            <a:avLst>
              <a:gd name="adj" fmla="val 6154"/>
            </a:avLst>
          </a:prstGeom>
          <a:solidFill>
            <a:srgbClr val="FFFFFF"/>
          </a:solidFill>
          <a:ln w="19050">
            <a:solidFill>
              <a:srgbClr val="FF4757"/>
            </a:solidFill>
            <a:prstDash val="solid"/>
          </a:ln>
        </p:spPr>
      </p:sp>
      <p:sp>
        <p:nvSpPr>
          <p:cNvPr id="19" name="Shape 17"/>
          <p:cNvSpPr/>
          <p:nvPr/>
        </p:nvSpPr>
        <p:spPr>
          <a:xfrm>
            <a:off x="4773168" y="1143000"/>
            <a:ext cx="3822192" cy="292608"/>
          </a:xfrm>
          <a:prstGeom prst="roundRect">
            <a:avLst>
              <a:gd name="adj" fmla="val 25000"/>
            </a:avLst>
          </a:prstGeom>
          <a:solidFill>
            <a:srgbClr val="FFE4E6"/>
          </a:solidFill>
          <a:ln w="12700">
            <a:solidFill>
              <a:srgbClr val="FF4757"/>
            </a:solidFill>
            <a:prstDash val="solid"/>
          </a:ln>
        </p:spPr>
      </p:sp>
      <p:sp>
        <p:nvSpPr>
          <p:cNvPr id="20" name="Text 18"/>
          <p:cNvSpPr/>
          <p:nvPr/>
        </p:nvSpPr>
        <p:spPr>
          <a:xfrm>
            <a:off x="4818888" y="1143000"/>
            <a:ext cx="3730752" cy="292608"/>
          </a:xfrm>
          <a:prstGeom prst="rect">
            <a:avLst/>
          </a:prstGeom>
          <a:noFill/>
          <a:ln/>
        </p:spPr>
        <p:txBody>
          <a:bodyPr wrap="square" rtlCol="0" anchor="ctr"/>
          <a:lstStyle/>
          <a:p>
            <a:pPr indent="0" marL="0">
              <a:buNone/>
            </a:pPr>
            <a:r>
              <a:rPr lang="en-US" sz="820" b="1" dirty="0">
                <a:solidFill>
                  <a:srgbClr val="FF4757"/>
                </a:solidFill>
                <a:latin typeface="Arial" pitchFamily="34" charset="0"/>
                <a:ea typeface="Arial" pitchFamily="34" charset="-122"/>
                <a:cs typeface="Arial" pitchFamily="34" charset="-120"/>
              </a:rPr>
              <a:t>🔍 BẢO TRÌ DỰ ĐOÁN (PREDICTIVE MAINTENANCE)</a:t>
            </a:r>
            <a:endParaRPr lang="en-US" sz="820" dirty="0"/>
          </a:p>
        </p:txBody>
      </p:sp>
      <p:sp>
        <p:nvSpPr>
          <p:cNvPr id="21" name="Text 19"/>
          <p:cNvSpPr/>
          <p:nvPr/>
        </p:nvSpPr>
        <p:spPr>
          <a:xfrm>
            <a:off x="4818888" y="1490472"/>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Theo dõi số giờ chiếu lũy kế của bóng đèn Laser, màng lọc HVAC, dàn loa âm thanh.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Cảnh báo chủ động lịch bảo trì định kỳ trước khi thiết bị gặp sự cố bất ngờ.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Loại bỏ 90% nguy cơ phải hủy suất chiếu hoặc bồi thường vé cho khách hàng.
</a:t>
            </a:r>
            <a:endParaRPr lang="en-US" sz="720" dirty="0"/>
          </a:p>
        </p:txBody>
      </p:sp>
      <p:sp>
        <p:nvSpPr>
          <p:cNvPr id="22" name="Shape 20"/>
          <p:cNvSpPr/>
          <p:nvPr/>
        </p:nvSpPr>
        <p:spPr>
          <a:xfrm>
            <a:off x="457200" y="2944368"/>
            <a:ext cx="4005072" cy="1783080"/>
          </a:xfrm>
          <a:prstGeom prst="roundRect">
            <a:avLst>
              <a:gd name="adj" fmla="val 6154"/>
            </a:avLst>
          </a:prstGeom>
          <a:solidFill>
            <a:srgbClr val="FFFFFF"/>
          </a:solidFill>
          <a:ln w="19050">
            <a:solidFill>
              <a:srgbClr val="0EA5E9"/>
            </a:solidFill>
            <a:prstDash val="solid"/>
          </a:ln>
        </p:spPr>
      </p:sp>
      <p:sp>
        <p:nvSpPr>
          <p:cNvPr id="23" name="Shape 21"/>
          <p:cNvSpPr/>
          <p:nvPr/>
        </p:nvSpPr>
        <p:spPr>
          <a:xfrm>
            <a:off x="548640" y="3035808"/>
            <a:ext cx="3822192" cy="292608"/>
          </a:xfrm>
          <a:prstGeom prst="roundRect">
            <a:avLst>
              <a:gd name="adj" fmla="val 25000"/>
            </a:avLst>
          </a:prstGeom>
          <a:solidFill>
            <a:srgbClr val="E0F2FE"/>
          </a:solidFill>
          <a:ln w="12700">
            <a:solidFill>
              <a:srgbClr val="0EA5E9"/>
            </a:solidFill>
            <a:prstDash val="solid"/>
          </a:ln>
        </p:spPr>
      </p:sp>
      <p:sp>
        <p:nvSpPr>
          <p:cNvPr id="24" name="Text 22"/>
          <p:cNvSpPr/>
          <p:nvPr/>
        </p:nvSpPr>
        <p:spPr>
          <a:xfrm>
            <a:off x="594360" y="3035808"/>
            <a:ext cx="3730752" cy="292608"/>
          </a:xfrm>
          <a:prstGeom prst="rect">
            <a:avLst/>
          </a:prstGeom>
          <a:noFill/>
          <a:ln/>
        </p:spPr>
        <p:txBody>
          <a:bodyPr wrap="square" rtlCol="0" anchor="ctr"/>
          <a:lstStyle/>
          <a:p>
            <a:pPr indent="0" marL="0">
              <a:buNone/>
            </a:pPr>
            <a:r>
              <a:rPr lang="en-US" sz="820" b="1" dirty="0">
                <a:solidFill>
                  <a:srgbClr val="0EA5E9"/>
                </a:solidFill>
                <a:latin typeface="Arial" pitchFamily="34" charset="0"/>
                <a:ea typeface="Arial" pitchFamily="34" charset="-122"/>
                <a:cs typeface="Arial" pitchFamily="34" charset="-120"/>
              </a:rPr>
              <a:t>🤖 TRỢ LÝ AI &amp; GỢI Ý PHIM CÁ NHÂN HÓA</a:t>
            </a:r>
            <a:endParaRPr lang="en-US" sz="820" dirty="0"/>
          </a:p>
        </p:txBody>
      </p:sp>
      <p:sp>
        <p:nvSpPr>
          <p:cNvPr id="25" name="Text 23"/>
          <p:cNvSpPr/>
          <p:nvPr/>
        </p:nvSpPr>
        <p:spPr>
          <a:xfrm>
            <a:off x="594360" y="3383280"/>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AI Movie Concierge: Chatbot ngôn ngữ tự nhiên tư vấn phim theo cảm xúc &amp; lịch rảnh.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Thuật toán Recommendation Engine gợi ý phim theo sở thích và lịch sử xem vé.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Sentiment Analysis phân tích cảm xúc từ review thực tế của khán giả sau khi xem.
</a:t>
            </a:r>
            <a:endParaRPr lang="en-US" sz="720" dirty="0"/>
          </a:p>
        </p:txBody>
      </p:sp>
      <p:sp>
        <p:nvSpPr>
          <p:cNvPr id="26" name="Shape 24"/>
          <p:cNvSpPr/>
          <p:nvPr/>
        </p:nvSpPr>
        <p:spPr>
          <a:xfrm>
            <a:off x="4681728" y="2944368"/>
            <a:ext cx="4005072" cy="1783080"/>
          </a:xfrm>
          <a:prstGeom prst="roundRect">
            <a:avLst>
              <a:gd name="adj" fmla="val 6154"/>
            </a:avLst>
          </a:prstGeom>
          <a:solidFill>
            <a:srgbClr val="FFFFFF"/>
          </a:solidFill>
          <a:ln w="19050">
            <a:solidFill>
              <a:srgbClr val="6366F1"/>
            </a:solidFill>
            <a:prstDash val="solid"/>
          </a:ln>
        </p:spPr>
      </p:sp>
      <p:sp>
        <p:nvSpPr>
          <p:cNvPr id="27" name="Shape 25"/>
          <p:cNvSpPr/>
          <p:nvPr/>
        </p:nvSpPr>
        <p:spPr>
          <a:xfrm>
            <a:off x="4773168" y="3035808"/>
            <a:ext cx="3822192" cy="292608"/>
          </a:xfrm>
          <a:prstGeom prst="roundRect">
            <a:avLst>
              <a:gd name="adj" fmla="val 25000"/>
            </a:avLst>
          </a:prstGeom>
          <a:solidFill>
            <a:srgbClr val="F1F5F9"/>
          </a:solidFill>
          <a:ln w="12700">
            <a:solidFill>
              <a:srgbClr val="6366F1"/>
            </a:solidFill>
            <a:prstDash val="solid"/>
          </a:ln>
        </p:spPr>
      </p:sp>
      <p:sp>
        <p:nvSpPr>
          <p:cNvPr id="28" name="Text 26"/>
          <p:cNvSpPr/>
          <p:nvPr/>
        </p:nvSpPr>
        <p:spPr>
          <a:xfrm>
            <a:off x="4818888" y="3035808"/>
            <a:ext cx="3730752" cy="292608"/>
          </a:xfrm>
          <a:prstGeom prst="rect">
            <a:avLst/>
          </a:prstGeom>
          <a:noFill/>
          <a:ln/>
        </p:spPr>
        <p:txBody>
          <a:bodyPr wrap="square" rtlCol="0" anchor="ctr"/>
          <a:lstStyle/>
          <a:p>
            <a:pPr indent="0" marL="0">
              <a:buNone/>
            </a:pPr>
            <a:r>
              <a:rPr lang="en-US" sz="820" b="1" dirty="0">
                <a:solidFill>
                  <a:srgbClr val="6366F1"/>
                </a:solidFill>
                <a:latin typeface="Arial" pitchFamily="34" charset="0"/>
                <a:ea typeface="Arial" pitchFamily="34" charset="-122"/>
                <a:cs typeface="Arial" pitchFamily="34" charset="-120"/>
              </a:rPr>
              <a:t>📺 DIGITAL SIGNAGE &amp; ĐẶT RẠP RIÊNG</a:t>
            </a:r>
            <a:endParaRPr lang="en-US" sz="820" dirty="0"/>
          </a:p>
        </p:txBody>
      </p:sp>
      <p:sp>
        <p:nvSpPr>
          <p:cNvPr id="29" name="Text 27"/>
          <p:cNvSpPr/>
          <p:nvPr/>
        </p:nvSpPr>
        <p:spPr>
          <a:xfrm>
            <a:off x="4818888" y="3383280"/>
            <a:ext cx="3730752" cy="1280160"/>
          </a:xfrm>
          <a:prstGeom prst="rect">
            <a:avLst/>
          </a:prstGeom>
          <a:noFill/>
          <a:ln/>
        </p:spPr>
        <p:txBody>
          <a:bodyPr wrap="square" rtlCol="0" anchor="ctr"/>
          <a:lstStyle/>
          <a:p>
            <a:pPr indent="0" marL="0">
              <a:lnSpc>
                <a:spcPct val="115000"/>
              </a:lnSpc>
              <a:buNone/>
            </a:pPr>
            <a:r>
              <a:rPr lang="en-US" sz="720" dirty="0">
                <a:solidFill>
                  <a:srgbClr val="334155"/>
                </a:solidFill>
                <a:latin typeface="Arial" pitchFamily="34" charset="0"/>
                <a:ea typeface="Arial" pitchFamily="34" charset="-122"/>
                <a:cs typeface="Arial" pitchFamily="34" charset="-120"/>
              </a:rPr>
              <a:t>• Màn hình sảnh (Signage) đồng bộ thời gian thực: Suất kế tiếp, vé còn/hết, gọi số F&amp;B.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Phân hệ Private Screening: Đặt trọn khán phòng tổ chức sinh nhật, hội thảo, giải E-Sports.
</a:t>
            </a:r>
            <a:pPr indent="0" marL="0">
              <a:lnSpc>
                <a:spcPct val="115000"/>
              </a:lnSpc>
              <a:buNone/>
            </a:pPr>
            <a:r>
              <a:rPr lang="en-US" sz="720" dirty="0">
                <a:solidFill>
                  <a:srgbClr val="334155"/>
                </a:solidFill>
                <a:latin typeface="Arial" pitchFamily="34" charset="0"/>
                <a:ea typeface="Arial" pitchFamily="34" charset="-122"/>
                <a:cs typeface="Arial" pitchFamily="34" charset="-120"/>
              </a:rPr>
              <a:t>• Tự động tính bảng giá trọn gói theo khung giờ, số lượng khách và dịch vụ đi kèm.
</a:t>
            </a:r>
            <a:endParaRPr lang="en-US" sz="7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FFFFFF"/>
          </a:solidFill>
          <a:ln w="12700">
            <a:solidFill>
              <a:srgbClr val="E2E8F0"/>
            </a:solidFill>
            <a:prstDash val="solid"/>
          </a:ln>
        </p:spPr>
      </p:sp>
      <p:sp>
        <p:nvSpPr>
          <p:cNvPr id="3" name="Shape 1"/>
          <p:cNvSpPr/>
          <p:nvPr/>
        </p:nvSpPr>
        <p:spPr>
          <a:xfrm>
            <a:off x="0" y="0"/>
            <a:ext cx="2286000" cy="54864"/>
          </a:xfrm>
          <a:prstGeom prst="rect">
            <a:avLst/>
          </a:prstGeom>
          <a:solidFill>
            <a:srgbClr val="FF4757"/>
          </a:solidFill>
          <a:ln/>
        </p:spPr>
      </p:sp>
      <p:sp>
        <p:nvSpPr>
          <p:cNvPr id="4" name="Shape 2"/>
          <p:cNvSpPr/>
          <p:nvPr/>
        </p:nvSpPr>
        <p:spPr>
          <a:xfrm>
            <a:off x="2286000" y="0"/>
            <a:ext cx="2286000" cy="54864"/>
          </a:xfrm>
          <a:prstGeom prst="rect">
            <a:avLst/>
          </a:prstGeom>
          <a:solidFill>
            <a:srgbClr val="F59E0B"/>
          </a:solidFill>
          <a:ln/>
        </p:spPr>
      </p:sp>
      <p:sp>
        <p:nvSpPr>
          <p:cNvPr id="5" name="Shape 3"/>
          <p:cNvSpPr/>
          <p:nvPr/>
        </p:nvSpPr>
        <p:spPr>
          <a:xfrm>
            <a:off x="4572000" y="0"/>
            <a:ext cx="2286000" cy="54864"/>
          </a:xfrm>
          <a:prstGeom prst="rect">
            <a:avLst/>
          </a:prstGeom>
          <a:solidFill>
            <a:srgbClr val="10B981"/>
          </a:solidFill>
          <a:ln/>
        </p:spPr>
      </p:sp>
      <p:sp>
        <p:nvSpPr>
          <p:cNvPr id="6" name="Shape 4"/>
          <p:cNvSpPr/>
          <p:nvPr/>
        </p:nvSpPr>
        <p:spPr>
          <a:xfrm>
            <a:off x="6858000" y="0"/>
            <a:ext cx="2286000" cy="54864"/>
          </a:xfrm>
          <a:prstGeom prst="rect">
            <a:avLst/>
          </a:prstGeom>
          <a:solidFill>
            <a:srgbClr val="0EA5E9"/>
          </a:solidFill>
          <a:ln/>
        </p:spPr>
      </p:sp>
      <p:sp>
        <p:nvSpPr>
          <p:cNvPr id="7" name="Shape 5"/>
          <p:cNvSpPr/>
          <p:nvPr/>
        </p:nvSpPr>
        <p:spPr>
          <a:xfrm>
            <a:off x="457200" y="137160"/>
            <a:ext cx="4389120" cy="237744"/>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457200" y="137160"/>
            <a:ext cx="4389120" cy="237744"/>
          </a:xfrm>
          <a:prstGeom prst="rect">
            <a:avLst/>
          </a:prstGeom>
          <a:noFill/>
          <a:ln/>
        </p:spPr>
        <p:txBody>
          <a:bodyPr wrap="square" rtlCol="0" anchor="ctr"/>
          <a:lstStyle/>
          <a:p>
            <a:pPr algn="ctr" indent="0" marL="0">
              <a:buNone/>
            </a:pPr>
            <a:r>
              <a:rPr lang="en-US" sz="780" b="1" dirty="0">
                <a:solidFill>
                  <a:srgbClr val="B45309"/>
                </a:solidFill>
                <a:latin typeface="Arial" pitchFamily="34" charset="0"/>
                <a:ea typeface="Arial" pitchFamily="34" charset="-122"/>
                <a:cs typeface="Arial" pitchFamily="34" charset="-120"/>
              </a:rPr>
              <a:t>TỔNG KẾT ĐỒ ÁN</a:t>
            </a:r>
            <a:endParaRPr lang="en-US" sz="780" dirty="0"/>
          </a:p>
        </p:txBody>
      </p:sp>
      <p:sp>
        <p:nvSpPr>
          <p:cNvPr id="9" name="Text 7"/>
          <p:cNvSpPr/>
          <p:nvPr/>
        </p:nvSpPr>
        <p:spPr>
          <a:xfrm>
            <a:off x="457200" y="402336"/>
            <a:ext cx="6583680" cy="502920"/>
          </a:xfrm>
          <a:prstGeom prst="rect">
            <a:avLst/>
          </a:prstGeom>
          <a:noFill/>
          <a:ln/>
        </p:spPr>
        <p:txBody>
          <a:bodyPr wrap="square" rtlCol="0" anchor="ctr"/>
          <a:lstStyle/>
          <a:p>
            <a:pPr indent="0" marL="0">
              <a:buNone/>
            </a:pPr>
            <a:r>
              <a:rPr lang="en-US" sz="1350" b="1" dirty="0">
                <a:solidFill>
                  <a:srgbClr val="0F172A"/>
                </a:solidFill>
                <a:latin typeface="Arial" pitchFamily="34" charset="0"/>
                <a:ea typeface="Arial" pitchFamily="34" charset="-122"/>
                <a:cs typeface="Arial" pitchFamily="34" charset="-120"/>
              </a:rPr>
              <a:t>27. KẾT LUẬN ĐỒ ÁN &amp; GIÁ TRỊ THỰC TIỄN</a:t>
            </a:r>
            <a:endParaRPr lang="en-US" sz="1350" dirty="0"/>
          </a:p>
        </p:txBody>
      </p:sp>
      <p:sp>
        <p:nvSpPr>
          <p:cNvPr id="10" name="Shape 8"/>
          <p:cNvSpPr/>
          <p:nvPr/>
        </p:nvSpPr>
        <p:spPr>
          <a:xfrm>
            <a:off x="7178040" y="164592"/>
            <a:ext cx="1508760" cy="530352"/>
          </a:xfrm>
          <a:prstGeom prst="roundRect">
            <a:avLst>
              <a:gd name="adj" fmla="val 20690"/>
            </a:avLst>
          </a:prstGeom>
          <a:solidFill>
            <a:srgbClr val="E0F2FE"/>
          </a:solidFill>
          <a:ln w="12700">
            <a:solidFill>
              <a:srgbClr val="0EA5E9"/>
            </a:solidFill>
            <a:prstDash val="solid"/>
          </a:ln>
        </p:spPr>
      </p:sp>
      <p:sp>
        <p:nvSpPr>
          <p:cNvPr id="11" name="Text 9"/>
          <p:cNvSpPr/>
          <p:nvPr/>
        </p:nvSpPr>
        <p:spPr>
          <a:xfrm>
            <a:off x="7178040" y="164592"/>
            <a:ext cx="1508760" cy="530352"/>
          </a:xfrm>
          <a:prstGeom prst="rect">
            <a:avLst/>
          </a:prstGeom>
          <a:noFill/>
          <a:ln/>
        </p:spPr>
        <p:txBody>
          <a:bodyPr wrap="square" rtlCol="0" anchor="ctr"/>
          <a:lstStyle/>
          <a:p>
            <a:pPr algn="ctr" indent="0" marL="0">
              <a:buNone/>
            </a:pPr>
            <a:r>
              <a:rPr lang="en-US" sz="750" b="1" dirty="0">
                <a:solidFill>
                  <a:srgbClr val="0EA5E9"/>
                </a:solidFill>
                <a:latin typeface="Arial" pitchFamily="34" charset="0"/>
                <a:ea typeface="Arial" pitchFamily="34" charset="-122"/>
                <a:cs typeface="Arial" pitchFamily="34" charset="-120"/>
              </a:rPr>
              <a:t>🍿 CINEMA OOAD</a:t>
            </a:r>
            <a:endParaRPr lang="en-US" sz="750" dirty="0"/>
          </a:p>
          <a:p>
            <a:pPr algn="ctr" indent="0" marL="0">
              <a:buNone/>
            </a:pPr>
            <a:r>
              <a:rPr lang="en-US" sz="750" b="1" dirty="0">
                <a:solidFill>
                  <a:srgbClr val="0EA5E9"/>
                </a:solidFill>
                <a:latin typeface="Arial" pitchFamily="34" charset="0"/>
                <a:ea typeface="Arial" pitchFamily="34" charset="-122"/>
                <a:cs typeface="Arial" pitchFamily="34" charset="-120"/>
              </a:rPr>
              <a:t>★ UML 2.5 PRO ★</a:t>
            </a:r>
            <a:endParaRPr lang="en-US" sz="750" dirty="0"/>
          </a:p>
        </p:txBody>
      </p:sp>
      <p:sp>
        <p:nvSpPr>
          <p:cNvPr id="12" name="Shape 10"/>
          <p:cNvSpPr/>
          <p:nvPr/>
        </p:nvSpPr>
        <p:spPr>
          <a:xfrm>
            <a:off x="457200" y="4800600"/>
            <a:ext cx="8229600" cy="0"/>
          </a:xfrm>
          <a:prstGeom prst="line">
            <a:avLst/>
          </a:prstGeom>
          <a:noFill/>
          <a:ln w="12700">
            <a:solidFill>
              <a:srgbClr val="CBD5E1"/>
            </a:solidFill>
            <a:prstDash val="solid"/>
          </a:ln>
        </p:spPr>
      </p:sp>
      <p:sp>
        <p:nvSpPr>
          <p:cNvPr id="13" name="Text 11"/>
          <p:cNvSpPr/>
          <p:nvPr/>
        </p:nvSpPr>
        <p:spPr>
          <a:xfrm>
            <a:off x="457200" y="4828032"/>
            <a:ext cx="8229600" cy="256032"/>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 Đồ Án OOAD: Hệ Thống Quản Lý Vận Hành &amp; Đặt Vé Rạp Chiếu Phim | Báo Cáo Bảo Vệ UML 2.5</a:t>
            </a:r>
            <a:endParaRPr lang="en-US" sz="750" dirty="0"/>
          </a:p>
        </p:txBody>
      </p:sp>
      <p:sp>
        <p:nvSpPr>
          <p:cNvPr id="14" name="Shape 12"/>
          <p:cNvSpPr/>
          <p:nvPr/>
        </p:nvSpPr>
        <p:spPr>
          <a:xfrm>
            <a:off x="457200" y="1051560"/>
            <a:ext cx="3977640" cy="3611880"/>
          </a:xfrm>
          <a:prstGeom prst="roundRect">
            <a:avLst>
              <a:gd name="adj" fmla="val 3797"/>
            </a:avLst>
          </a:prstGeom>
          <a:solidFill>
            <a:srgbClr val="FFFFFF"/>
          </a:solidFill>
          <a:ln w="19050">
            <a:solidFill>
              <a:srgbClr val="10B981"/>
            </a:solidFill>
            <a:prstDash val="solid"/>
          </a:ln>
        </p:spPr>
      </p:sp>
      <p:sp>
        <p:nvSpPr>
          <p:cNvPr id="15" name="Shape 13"/>
          <p:cNvSpPr/>
          <p:nvPr/>
        </p:nvSpPr>
        <p:spPr>
          <a:xfrm>
            <a:off x="640080" y="1188720"/>
            <a:ext cx="3611880" cy="320040"/>
          </a:xfrm>
          <a:prstGeom prst="roundRect">
            <a:avLst>
              <a:gd name="adj" fmla="val 22857"/>
            </a:avLst>
          </a:prstGeom>
          <a:solidFill>
            <a:srgbClr val="DCFCE7"/>
          </a:solidFill>
          <a:ln w="12700">
            <a:solidFill>
              <a:srgbClr val="10B981"/>
            </a:solidFill>
            <a:prstDash val="solid"/>
          </a:ln>
        </p:spPr>
      </p:sp>
      <p:sp>
        <p:nvSpPr>
          <p:cNvPr id="16" name="Text 14"/>
          <p:cNvSpPr/>
          <p:nvPr/>
        </p:nvSpPr>
        <p:spPr>
          <a:xfrm>
            <a:off x="640080" y="1188720"/>
            <a:ext cx="3611880" cy="320040"/>
          </a:xfrm>
          <a:prstGeom prst="rect">
            <a:avLst/>
          </a:prstGeom>
          <a:noFill/>
          <a:ln/>
        </p:spPr>
        <p:txBody>
          <a:bodyPr wrap="square" rtlCol="0" anchor="ctr"/>
          <a:lstStyle/>
          <a:p>
            <a:pPr algn="ctr" indent="0" marL="0">
              <a:buNone/>
            </a:pPr>
            <a:r>
              <a:rPr lang="en-US" sz="880" b="1" dirty="0">
                <a:solidFill>
                  <a:srgbClr val="10B981"/>
                </a:solidFill>
                <a:latin typeface="Arial" pitchFamily="34" charset="0"/>
                <a:ea typeface="Arial" pitchFamily="34" charset="-122"/>
                <a:cs typeface="Arial" pitchFamily="34" charset="-120"/>
              </a:rPr>
              <a:t>🎯 HOÀN THÀNH TOÀN DIỆN MỤC TIÊU OOAD</a:t>
            </a:r>
            <a:endParaRPr lang="en-US" sz="880" dirty="0"/>
          </a:p>
        </p:txBody>
      </p:sp>
      <p:sp>
        <p:nvSpPr>
          <p:cNvPr id="17" name="Text 15"/>
          <p:cNvSpPr/>
          <p:nvPr/>
        </p:nvSpPr>
        <p:spPr>
          <a:xfrm>
            <a:off x="640080" y="1600200"/>
            <a:ext cx="3611880" cy="2926080"/>
          </a:xfrm>
          <a:prstGeom prst="rect">
            <a:avLst/>
          </a:prstGeom>
          <a:noFill/>
          <a:ln/>
        </p:spPr>
        <p:txBody>
          <a:bodyPr wrap="square" rtlCol="0" anchor="ctr"/>
          <a:lstStyle/>
          <a:p>
            <a:pPr indent="0" marL="0">
              <a:lnSpc>
                <a:spcPct val="115000"/>
              </a:lnSpc>
              <a:buNone/>
            </a:pPr>
            <a:r>
              <a:rPr lang="en-US" sz="730" b="1" dirty="0">
                <a:solidFill>
                  <a:srgbClr val="0F172A"/>
                </a:solidFill>
                <a:latin typeface="Arial" pitchFamily="34" charset="0"/>
                <a:ea typeface="Arial" pitchFamily="34" charset="-122"/>
                <a:cs typeface="Arial" pitchFamily="34" charset="-120"/>
              </a:rPr>
              <a:t>• Chuẩn mực mô hình hóa hướng đối tượng: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Áp dụng chính xác quy trình OOAD từ Use Case, Activity, Sequence đến Class Diagram chuẩn UML 2.5.
</a:t>
            </a:r>
            <a:pPr indent="0" marL="0">
              <a:lnSpc>
                <a:spcPct val="115000"/>
              </a:lnSpc>
              <a:buNone/>
            </a:pPr>
            <a:r>
              <a:rPr lang="en-US" sz="730" b="1" dirty="0">
                <a:solidFill>
                  <a:srgbClr val="0F172A"/>
                </a:solidFill>
                <a:latin typeface="Arial" pitchFamily="34" charset="0"/>
                <a:ea typeface="Arial" pitchFamily="34" charset="-122"/>
                <a:cs typeface="Arial" pitchFamily="34" charset="-120"/>
              </a:rPr>
              <a:t>• Hiện thực hóa thành công sản phẩm thực tế: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Không chỉ dừng ở lý thuyết, toàn bộ kiến trúc đã được cài đặt hoàn chỉnh và vận hành mượt mà trên React 18 + Node.js + MySQL 8.0 InnoDB.
</a:t>
            </a:r>
            <a:pPr indent="0" marL="0">
              <a:lnSpc>
                <a:spcPct val="115000"/>
              </a:lnSpc>
              <a:buNone/>
            </a:pPr>
            <a:r>
              <a:rPr lang="en-US" sz="730" b="1" dirty="0">
                <a:solidFill>
                  <a:srgbClr val="0F172A"/>
                </a:solidFill>
                <a:latin typeface="Arial" pitchFamily="34" charset="0"/>
                <a:ea typeface="Arial" pitchFamily="34" charset="-122"/>
                <a:cs typeface="Arial" pitchFamily="34" charset="-120"/>
              </a:rPr>
              <a:t>• Khả năng chịu tải và bảo mật tin cậy: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Thuật toán khóa ghế Transaction khóa triệt để Race Condition; phân quyền 5 Roles RBAC chặt chẽ.</a:t>
            </a:r>
            <a:endParaRPr lang="en-US" sz="730" dirty="0"/>
          </a:p>
        </p:txBody>
      </p:sp>
      <p:sp>
        <p:nvSpPr>
          <p:cNvPr id="18" name="Shape 16"/>
          <p:cNvSpPr/>
          <p:nvPr/>
        </p:nvSpPr>
        <p:spPr>
          <a:xfrm>
            <a:off x="4709160" y="1051560"/>
            <a:ext cx="3977640" cy="3611880"/>
          </a:xfrm>
          <a:prstGeom prst="roundRect">
            <a:avLst>
              <a:gd name="adj" fmla="val 3797"/>
            </a:avLst>
          </a:prstGeom>
          <a:solidFill>
            <a:srgbClr val="FFFFFF"/>
          </a:solidFill>
          <a:ln w="19050">
            <a:solidFill>
              <a:srgbClr val="FF4757"/>
            </a:solidFill>
            <a:prstDash val="solid"/>
          </a:ln>
        </p:spPr>
      </p:sp>
      <p:sp>
        <p:nvSpPr>
          <p:cNvPr id="19" name="Shape 17"/>
          <p:cNvSpPr/>
          <p:nvPr/>
        </p:nvSpPr>
        <p:spPr>
          <a:xfrm>
            <a:off x="4892040" y="1188720"/>
            <a:ext cx="3611880" cy="320040"/>
          </a:xfrm>
          <a:prstGeom prst="roundRect">
            <a:avLst>
              <a:gd name="adj" fmla="val 22857"/>
            </a:avLst>
          </a:prstGeom>
          <a:solidFill>
            <a:srgbClr val="FFE4E6"/>
          </a:solidFill>
          <a:ln w="12700">
            <a:solidFill>
              <a:srgbClr val="FF4757"/>
            </a:solidFill>
            <a:prstDash val="solid"/>
          </a:ln>
        </p:spPr>
      </p:sp>
      <p:sp>
        <p:nvSpPr>
          <p:cNvPr id="20" name="Text 18"/>
          <p:cNvSpPr/>
          <p:nvPr/>
        </p:nvSpPr>
        <p:spPr>
          <a:xfrm>
            <a:off x="4892040" y="1188720"/>
            <a:ext cx="3611880" cy="320040"/>
          </a:xfrm>
          <a:prstGeom prst="rect">
            <a:avLst/>
          </a:prstGeom>
          <a:noFill/>
          <a:ln/>
        </p:spPr>
        <p:txBody>
          <a:bodyPr wrap="square" rtlCol="0" anchor="ctr"/>
          <a:lstStyle/>
          <a:p>
            <a:pPr algn="ctr" indent="0" marL="0">
              <a:buNone/>
            </a:pPr>
            <a:r>
              <a:rPr lang="en-US" sz="880" b="1" dirty="0">
                <a:solidFill>
                  <a:srgbClr val="FF4757"/>
                </a:solidFill>
                <a:latin typeface="Arial" pitchFamily="34" charset="0"/>
                <a:ea typeface="Arial" pitchFamily="34" charset="-122"/>
                <a:cs typeface="Arial" pitchFamily="34" charset="-120"/>
              </a:rPr>
              <a:t>🚀 GIÁ TRỊ ỨNG DỤNG &amp; THƯƠNG MẠI HÓA</a:t>
            </a:r>
            <a:endParaRPr lang="en-US" sz="880" dirty="0"/>
          </a:p>
        </p:txBody>
      </p:sp>
      <p:sp>
        <p:nvSpPr>
          <p:cNvPr id="21" name="Text 19"/>
          <p:cNvSpPr/>
          <p:nvPr/>
        </p:nvSpPr>
        <p:spPr>
          <a:xfrm>
            <a:off x="4892040" y="1600200"/>
            <a:ext cx="3611880" cy="2926080"/>
          </a:xfrm>
          <a:prstGeom prst="rect">
            <a:avLst/>
          </a:prstGeom>
          <a:noFill/>
          <a:ln/>
        </p:spPr>
        <p:txBody>
          <a:bodyPr wrap="square" rtlCol="0" anchor="ctr"/>
          <a:lstStyle/>
          <a:p>
            <a:pPr indent="0" marL="0">
              <a:lnSpc>
                <a:spcPct val="115000"/>
              </a:lnSpc>
              <a:buNone/>
            </a:pPr>
            <a:r>
              <a:rPr lang="en-US" sz="730" b="1" dirty="0">
                <a:solidFill>
                  <a:srgbClr val="0F172A"/>
                </a:solidFill>
                <a:latin typeface="Arial" pitchFamily="34" charset="0"/>
                <a:ea typeface="Arial" pitchFamily="34" charset="-122"/>
                <a:cs typeface="Arial" pitchFamily="34" charset="-120"/>
              </a:rPr>
              <a:t>• Giải quyết trọn vẹn 2 bài toán song hành: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Vừa tối ưu trải nghiệm khách hàng (đặt vé siêu tốc, giữ ghế công bằng) vừa quản lý cơ sở vật chất phòng máy chính xác.
</a:t>
            </a:r>
            <a:pPr indent="0" marL="0">
              <a:lnSpc>
                <a:spcPct val="115000"/>
              </a:lnSpc>
              <a:buNone/>
            </a:pPr>
            <a:r>
              <a:rPr lang="en-US" sz="730" b="1" dirty="0">
                <a:solidFill>
                  <a:srgbClr val="0F172A"/>
                </a:solidFill>
                <a:latin typeface="Arial" pitchFamily="34" charset="0"/>
                <a:ea typeface="Arial" pitchFamily="34" charset="-122"/>
                <a:cs typeface="Arial" pitchFamily="34" charset="-120"/>
              </a:rPr>
              <a:t>• Sẵn sàng tích hợp mở rộng hệ sinh thái: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Cấu trúc module hóa cao, dễ dàng kết nối cổng thanh toán thật (VNPay, MoMo), cổng IoT rạp và mô hình AI tư vấn.
</a:t>
            </a:r>
            <a:pPr indent="0" marL="0">
              <a:lnSpc>
                <a:spcPct val="115000"/>
              </a:lnSpc>
              <a:buNone/>
            </a:pPr>
            <a:r>
              <a:rPr lang="en-US" sz="730" b="1" dirty="0">
                <a:solidFill>
                  <a:srgbClr val="0F172A"/>
                </a:solidFill>
                <a:latin typeface="Arial" pitchFamily="34" charset="0"/>
                <a:ea typeface="Arial" pitchFamily="34" charset="-122"/>
                <a:cs typeface="Arial" pitchFamily="34" charset="-120"/>
              </a:rPr>
              <a:t>• Tính khả thi triển khai cao:
</a:t>
            </a:r>
            <a:pPr indent="0" marL="0">
              <a:lnSpc>
                <a:spcPct val="115000"/>
              </a:lnSpc>
              <a:buNone/>
            </a:pPr>
            <a:r>
              <a:rPr lang="en-US" sz="730" dirty="0">
                <a:solidFill>
                  <a:srgbClr val="334155"/>
                </a:solidFill>
                <a:latin typeface="Arial" pitchFamily="34" charset="0"/>
                <a:ea typeface="Arial" pitchFamily="34" charset="-122"/>
                <a:cs typeface="Arial" pitchFamily="34" charset="-120"/>
              </a:rPr>
              <a:t>  Có thể chuyển giao trực tiếp làm nền tảng quản lý cho các chuỗi rạp chiếu phim hiện đại.</a:t>
            </a:r>
            <a:endParaRPr lang="en-US" sz="7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286000" cy="73152"/>
          </a:xfrm>
          <a:prstGeom prst="rect">
            <a:avLst/>
          </a:prstGeom>
          <a:solidFill>
            <a:srgbClr val="FF4757"/>
          </a:solidFill>
          <a:ln/>
        </p:spPr>
      </p:sp>
      <p:sp>
        <p:nvSpPr>
          <p:cNvPr id="3" name="Shape 1"/>
          <p:cNvSpPr/>
          <p:nvPr/>
        </p:nvSpPr>
        <p:spPr>
          <a:xfrm>
            <a:off x="2286000" y="0"/>
            <a:ext cx="2286000" cy="73152"/>
          </a:xfrm>
          <a:prstGeom prst="rect">
            <a:avLst/>
          </a:prstGeom>
          <a:solidFill>
            <a:srgbClr val="F59E0B"/>
          </a:solidFill>
          <a:ln/>
        </p:spPr>
      </p:sp>
      <p:sp>
        <p:nvSpPr>
          <p:cNvPr id="4" name="Shape 2"/>
          <p:cNvSpPr/>
          <p:nvPr/>
        </p:nvSpPr>
        <p:spPr>
          <a:xfrm>
            <a:off x="4572000" y="0"/>
            <a:ext cx="2286000" cy="73152"/>
          </a:xfrm>
          <a:prstGeom prst="rect">
            <a:avLst/>
          </a:prstGeom>
          <a:solidFill>
            <a:srgbClr val="10B981"/>
          </a:solidFill>
          <a:ln/>
        </p:spPr>
      </p:sp>
      <p:sp>
        <p:nvSpPr>
          <p:cNvPr id="5" name="Shape 3"/>
          <p:cNvSpPr/>
          <p:nvPr/>
        </p:nvSpPr>
        <p:spPr>
          <a:xfrm>
            <a:off x="6858000" y="0"/>
            <a:ext cx="2286000" cy="73152"/>
          </a:xfrm>
          <a:prstGeom prst="rect">
            <a:avLst/>
          </a:prstGeom>
          <a:solidFill>
            <a:srgbClr val="0EA5E9"/>
          </a:solidFill>
          <a:ln/>
        </p:spPr>
      </p:sp>
      <p:sp>
        <p:nvSpPr>
          <p:cNvPr id="6" name="Shape 4"/>
          <p:cNvSpPr/>
          <p:nvPr/>
        </p:nvSpPr>
        <p:spPr>
          <a:xfrm>
            <a:off x="731520" y="502920"/>
            <a:ext cx="7680960" cy="4114800"/>
          </a:xfrm>
          <a:prstGeom prst="roundRect">
            <a:avLst>
              <a:gd name="adj" fmla="val 4444"/>
            </a:avLst>
          </a:prstGeom>
          <a:solidFill>
            <a:srgbClr val="FFFFFF"/>
          </a:solidFill>
          <a:ln w="19050">
            <a:solidFill>
              <a:srgbClr val="F59E0B"/>
            </a:solidFill>
            <a:prstDash val="solid"/>
          </a:ln>
        </p:spPr>
      </p:sp>
      <p:sp>
        <p:nvSpPr>
          <p:cNvPr id="7" name="Shape 5"/>
          <p:cNvSpPr/>
          <p:nvPr/>
        </p:nvSpPr>
        <p:spPr>
          <a:xfrm>
            <a:off x="2926080" y="777240"/>
            <a:ext cx="3291840" cy="347472"/>
          </a:xfrm>
          <a:prstGeom prst="roundRect">
            <a:avLst>
              <a:gd name="adj" fmla="val 50000"/>
            </a:avLst>
          </a:prstGeom>
          <a:solidFill>
            <a:srgbClr val="FEF9C3"/>
          </a:solidFill>
          <a:ln w="12700">
            <a:solidFill>
              <a:srgbClr val="F59E0B"/>
            </a:solidFill>
            <a:prstDash val="solid"/>
          </a:ln>
        </p:spPr>
      </p:sp>
      <p:sp>
        <p:nvSpPr>
          <p:cNvPr id="8" name="Text 6"/>
          <p:cNvSpPr/>
          <p:nvPr/>
        </p:nvSpPr>
        <p:spPr>
          <a:xfrm>
            <a:off x="2926080" y="777240"/>
            <a:ext cx="3291840" cy="347472"/>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 HOÀN THÀNH BÁO CÁO 🎉</a:t>
            </a:r>
            <a:endParaRPr lang="en-US" sz="950" dirty="0"/>
          </a:p>
        </p:txBody>
      </p:sp>
      <p:sp>
        <p:nvSpPr>
          <p:cNvPr id="9" name="Text 7"/>
          <p:cNvSpPr/>
          <p:nvPr/>
        </p:nvSpPr>
        <p:spPr>
          <a:xfrm>
            <a:off x="914400" y="1325880"/>
            <a:ext cx="7315200" cy="1097280"/>
          </a:xfrm>
          <a:prstGeom prst="rect">
            <a:avLst/>
          </a:prstGeom>
          <a:noFill/>
          <a:ln/>
        </p:spPr>
        <p:txBody>
          <a:bodyPr wrap="square" rtlCol="0" anchor="ctr"/>
          <a:lstStyle/>
          <a:p>
            <a:pPr algn="ctr" indent="0" marL="0">
              <a:lnSpc>
                <a:spcPct val="120000"/>
              </a:lnSpc>
              <a:buNone/>
            </a:pPr>
            <a:r>
              <a:rPr lang="en-US" sz="1800" b="1" dirty="0">
                <a:solidFill>
                  <a:srgbClr val="0F172A"/>
                </a:solidFill>
                <a:latin typeface="Arial" pitchFamily="34" charset="0"/>
                <a:ea typeface="Arial" pitchFamily="34" charset="-122"/>
                <a:cs typeface="Arial" pitchFamily="34" charset="-120"/>
              </a:rPr>
              <a:t>CẢM ƠN THẦY CÔ VÀ HỘI ĐỒNG</a:t>
            </a:r>
            <a:endParaRPr lang="en-US" sz="1800" dirty="0"/>
          </a:p>
          <a:p>
            <a:pPr algn="ctr" indent="0" marL="0">
              <a:lnSpc>
                <a:spcPct val="120000"/>
              </a:lnSpc>
              <a:buNone/>
            </a:pPr>
            <a:r>
              <a:rPr lang="en-US" sz="1800" b="1" dirty="0">
                <a:solidFill>
                  <a:srgbClr val="0F172A"/>
                </a:solidFill>
                <a:latin typeface="Arial" pitchFamily="34" charset="0"/>
                <a:ea typeface="Arial" pitchFamily="34" charset="-122"/>
                <a:cs typeface="Arial" pitchFamily="34" charset="-120"/>
              </a:rPr>
              <a:t>ĐÃ LẮNG NGHE BÀI THUYẾT TRÌNH!</a:t>
            </a:r>
            <a:endParaRPr lang="en-US" sz="1800" dirty="0"/>
          </a:p>
        </p:txBody>
      </p:sp>
      <p:sp>
        <p:nvSpPr>
          <p:cNvPr id="10" name="Text 8"/>
          <p:cNvSpPr/>
          <p:nvPr/>
        </p:nvSpPr>
        <p:spPr>
          <a:xfrm>
            <a:off x="914400" y="2560320"/>
            <a:ext cx="7315200" cy="502920"/>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HỆ THỐNG QUẢN LÝ VẬN HÀNH VÀ ĐẶT VÉ RẠP CHIẾU PHIM</a:t>
            </a:r>
            <a:endParaRPr lang="en-US" sz="950" dirty="0"/>
          </a:p>
          <a:p>
            <a:pPr algn="ctr" indent="0" marL="0">
              <a:buNone/>
            </a:pPr>
            <a:r>
              <a:rPr lang="en-US" sz="950" b="1" dirty="0">
                <a:solidFill>
                  <a:srgbClr val="0EA5E9"/>
                </a:solidFill>
                <a:latin typeface="Arial" pitchFamily="34" charset="0"/>
                <a:ea typeface="Arial" pitchFamily="34" charset="-122"/>
                <a:cs typeface="Arial" pitchFamily="34" charset="-120"/>
              </a:rPr>
              <a:t>Đồ Án Môn Học Phân Tích &amp; Thiết Kế Hướng Đối Tượng (OOAD)</a:t>
            </a:r>
            <a:endParaRPr lang="en-US" sz="950" dirty="0"/>
          </a:p>
        </p:txBody>
      </p:sp>
      <p:sp>
        <p:nvSpPr>
          <p:cNvPr id="11" name="Shape 9"/>
          <p:cNvSpPr/>
          <p:nvPr/>
        </p:nvSpPr>
        <p:spPr>
          <a:xfrm>
            <a:off x="2560320" y="3291840"/>
            <a:ext cx="4023360" cy="640080"/>
          </a:xfrm>
          <a:prstGeom prst="roundRect">
            <a:avLst>
              <a:gd name="adj" fmla="val 25714"/>
            </a:avLst>
          </a:prstGeom>
          <a:solidFill>
            <a:srgbClr val="FFE4E6"/>
          </a:solidFill>
          <a:ln w="19050">
            <a:solidFill>
              <a:srgbClr val="FF4757"/>
            </a:solidFill>
            <a:prstDash val="solid"/>
          </a:ln>
        </p:spPr>
      </p:sp>
      <p:sp>
        <p:nvSpPr>
          <p:cNvPr id="12" name="Text 10"/>
          <p:cNvSpPr/>
          <p:nvPr/>
        </p:nvSpPr>
        <p:spPr>
          <a:xfrm>
            <a:off x="2560320" y="3291840"/>
            <a:ext cx="4023360" cy="640080"/>
          </a:xfrm>
          <a:prstGeom prst="rect">
            <a:avLst/>
          </a:prstGeom>
          <a:noFill/>
          <a:ln/>
        </p:spPr>
        <p:txBody>
          <a:bodyPr wrap="square" rtlCol="0" anchor="ctr"/>
          <a:lstStyle/>
          <a:p>
            <a:pPr algn="ctr" indent="0" marL="0">
              <a:buNone/>
            </a:pPr>
            <a:r>
              <a:rPr lang="en-US" sz="950" b="1" dirty="0">
                <a:solidFill>
                  <a:srgbClr val="FF4757"/>
                </a:solidFill>
                <a:latin typeface="Arial" pitchFamily="34" charset="0"/>
                <a:ea typeface="Arial" pitchFamily="34" charset="-122"/>
                <a:cs typeface="Arial" pitchFamily="34" charset="-120"/>
              </a:rPr>
              <a:t>💬 HỎI &amp; ĐÁP (Q &amp; A)</a:t>
            </a:r>
            <a:endParaRPr lang="en-US" sz="950" dirty="0"/>
          </a:p>
          <a:p>
            <a:pPr algn="ctr" indent="0" marL="0">
              <a:buNone/>
            </a:pPr>
            <a:r>
              <a:rPr lang="en-US" sz="950" b="1" dirty="0">
                <a:solidFill>
                  <a:srgbClr val="FF4757"/>
                </a:solidFill>
                <a:latin typeface="Arial" pitchFamily="34" charset="0"/>
                <a:ea typeface="Arial" pitchFamily="34" charset="-122"/>
                <a:cs typeface="Arial" pitchFamily="34" charset="-120"/>
              </a:rPr>
              <a:t>Kính mời Quý Thầy/Cô đặt câu hỏi</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Khoa Công Nghệ Thông 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OOAD - Hệ Thống Quản Lý Vận Hành &amp; Đặt Vé Rạp Chiếu Phim</dc:title>
  <dc:subject>PptxGenJS Presentation</dc:subject>
  <dc:creator>Nhóm Đồ Án OOAD</dc:creator>
  <cp:lastModifiedBy>Nhóm Đồ Án OOAD</cp:lastModifiedBy>
  <cp:revision>1</cp:revision>
  <dcterms:created xsi:type="dcterms:W3CDTF">2026-10-29T04:00:42Z</dcterms:created>
  <dcterms:modified xsi:type="dcterms:W3CDTF">2026-10-29T04:00:42Z</dcterms:modified>
</cp:coreProperties>
</file>